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65" r:id="rId2"/>
    <p:sldId id="313" r:id="rId3"/>
    <p:sldId id="337" r:id="rId4"/>
    <p:sldId id="339" r:id="rId5"/>
    <p:sldId id="373" r:id="rId6"/>
    <p:sldId id="374" r:id="rId7"/>
    <p:sldId id="379" r:id="rId8"/>
    <p:sldId id="375" r:id="rId9"/>
    <p:sldId id="352" r:id="rId10"/>
    <p:sldId id="344" r:id="rId11"/>
    <p:sldId id="345" r:id="rId12"/>
    <p:sldId id="340" r:id="rId13"/>
    <p:sldId id="343" r:id="rId14"/>
    <p:sldId id="341" r:id="rId15"/>
    <p:sldId id="346" r:id="rId16"/>
    <p:sldId id="347" r:id="rId17"/>
    <p:sldId id="348" r:id="rId18"/>
    <p:sldId id="349" r:id="rId19"/>
    <p:sldId id="350" r:id="rId20"/>
    <p:sldId id="361" r:id="rId21"/>
    <p:sldId id="351" r:id="rId22"/>
    <p:sldId id="342" r:id="rId23"/>
    <p:sldId id="371" r:id="rId24"/>
    <p:sldId id="368" r:id="rId25"/>
    <p:sldId id="369" r:id="rId26"/>
    <p:sldId id="382" r:id="rId27"/>
    <p:sldId id="364" r:id="rId28"/>
    <p:sldId id="380" r:id="rId29"/>
    <p:sldId id="381" r:id="rId30"/>
  </p:sldIdLst>
  <p:sldSz cx="12192000" cy="6858000"/>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AF08E6-DAF7-4AB8-81FF-7DBD7CD19963}" v="108" dt="2025-09-17T05:44:26.444"/>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68" autoAdjust="0"/>
    <p:restoredTop sz="95345" autoAdjust="0"/>
  </p:normalViewPr>
  <p:slideViewPr>
    <p:cSldViewPr>
      <p:cViewPr varScale="1">
        <p:scale>
          <a:sx n="107" d="100"/>
          <a:sy n="107" d="100"/>
        </p:scale>
        <p:origin x="148" y="64"/>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 Jain_7A" userId="f0b24fa1-fa0a-4582-9181-6debb2f9acb0" providerId="ADAL" clId="{B207EF1E-3D4F-44DD-894B-4FA35443F958}"/>
    <pc:docChg chg="undo custSel addSld delSld modSld sldOrd">
      <pc:chgData name="Ravi Jain_7A" userId="f0b24fa1-fa0a-4582-9181-6debb2f9acb0" providerId="ADAL" clId="{B207EF1E-3D4F-44DD-894B-4FA35443F958}" dt="2025-09-17T05:44:46.938" v="1195" actId="14100"/>
      <pc:docMkLst>
        <pc:docMk/>
      </pc:docMkLst>
      <pc:sldChg chg="addSp modSp mod">
        <pc:chgData name="Ravi Jain_7A" userId="f0b24fa1-fa0a-4582-9181-6debb2f9acb0" providerId="ADAL" clId="{B207EF1E-3D4F-44DD-894B-4FA35443F958}" dt="2025-09-17T05:44:46.938" v="1195" actId="14100"/>
        <pc:sldMkLst>
          <pc:docMk/>
          <pc:sldMk cId="3811243656" sldId="313"/>
        </pc:sldMkLst>
        <pc:spChg chg="mod">
          <ac:chgData name="Ravi Jain_7A" userId="f0b24fa1-fa0a-4582-9181-6debb2f9acb0" providerId="ADAL" clId="{B207EF1E-3D4F-44DD-894B-4FA35443F958}" dt="2025-09-16T23:31:54.932" v="3" actId="20577"/>
          <ac:spMkLst>
            <pc:docMk/>
            <pc:sldMk cId="3811243656" sldId="313"/>
            <ac:spMk id="3" creationId="{20E46418-359A-8985-31F5-52486E6AA14E}"/>
          </ac:spMkLst>
        </pc:spChg>
        <pc:spChg chg="mod">
          <ac:chgData name="Ravi Jain_7A" userId="f0b24fa1-fa0a-4582-9181-6debb2f9acb0" providerId="ADAL" clId="{B207EF1E-3D4F-44DD-894B-4FA35443F958}" dt="2025-09-17T05:44:46.938" v="1195" actId="14100"/>
          <ac:spMkLst>
            <pc:docMk/>
            <pc:sldMk cId="3811243656" sldId="313"/>
            <ac:spMk id="4" creationId="{2C536655-3930-2329-AB7B-E75C3515CE3A}"/>
          </ac:spMkLst>
        </pc:spChg>
        <pc:spChg chg="add">
          <ac:chgData name="Ravi Jain_7A" userId="f0b24fa1-fa0a-4582-9181-6debb2f9acb0" providerId="ADAL" clId="{B207EF1E-3D4F-44DD-894B-4FA35443F958}" dt="2025-09-17T05:43:54.876" v="1186"/>
          <ac:spMkLst>
            <pc:docMk/>
            <pc:sldMk cId="3811243656" sldId="313"/>
            <ac:spMk id="6" creationId="{07C91525-3D57-AAFE-EEB5-A1DAFBDFEC2B}"/>
          </ac:spMkLst>
        </pc:spChg>
      </pc:sldChg>
      <pc:sldChg chg="modSp mod">
        <pc:chgData name="Ravi Jain_7A" userId="f0b24fa1-fa0a-4582-9181-6debb2f9acb0" providerId="ADAL" clId="{B207EF1E-3D4F-44DD-894B-4FA35443F958}" dt="2025-09-17T01:24:24.894" v="736" actId="6549"/>
        <pc:sldMkLst>
          <pc:docMk/>
          <pc:sldMk cId="3131597250" sldId="336"/>
        </pc:sldMkLst>
        <pc:spChg chg="mod">
          <ac:chgData name="Ravi Jain_7A" userId="f0b24fa1-fa0a-4582-9181-6debb2f9acb0" providerId="ADAL" clId="{B207EF1E-3D4F-44DD-894B-4FA35443F958}" dt="2025-09-17T01:24:24.894" v="736" actId="6549"/>
          <ac:spMkLst>
            <pc:docMk/>
            <pc:sldMk cId="3131597250" sldId="336"/>
            <ac:spMk id="4" creationId="{C2B41F3C-3E68-11B8-8784-5F0499323A9A}"/>
          </ac:spMkLst>
        </pc:spChg>
      </pc:sldChg>
      <pc:sldChg chg="modSp mod">
        <pc:chgData name="Ravi Jain_7A" userId="f0b24fa1-fa0a-4582-9181-6debb2f9acb0" providerId="ADAL" clId="{B207EF1E-3D4F-44DD-894B-4FA35443F958}" dt="2025-09-17T03:00:02.907" v="970" actId="20577"/>
        <pc:sldMkLst>
          <pc:docMk/>
          <pc:sldMk cId="1212703086" sldId="337"/>
        </pc:sldMkLst>
        <pc:spChg chg="mod">
          <ac:chgData name="Ravi Jain_7A" userId="f0b24fa1-fa0a-4582-9181-6debb2f9acb0" providerId="ADAL" clId="{B207EF1E-3D4F-44DD-894B-4FA35443F958}" dt="2025-09-17T03:00:02.907" v="970" actId="20577"/>
          <ac:spMkLst>
            <pc:docMk/>
            <pc:sldMk cId="1212703086" sldId="337"/>
            <ac:spMk id="6" creationId="{93DF2352-70D2-CA45-C5C5-E5C732B06346}"/>
          </ac:spMkLst>
        </pc:spChg>
      </pc:sldChg>
      <pc:sldChg chg="modSp mod">
        <pc:chgData name="Ravi Jain_7A" userId="f0b24fa1-fa0a-4582-9181-6debb2f9acb0" providerId="ADAL" clId="{B207EF1E-3D4F-44DD-894B-4FA35443F958}" dt="2025-09-17T03:00:23.064" v="973" actId="20577"/>
        <pc:sldMkLst>
          <pc:docMk/>
          <pc:sldMk cId="235460702" sldId="338"/>
        </pc:sldMkLst>
        <pc:spChg chg="mod">
          <ac:chgData name="Ravi Jain_7A" userId="f0b24fa1-fa0a-4582-9181-6debb2f9acb0" providerId="ADAL" clId="{B207EF1E-3D4F-44DD-894B-4FA35443F958}" dt="2025-09-17T03:00:23.064" v="973" actId="20577"/>
          <ac:spMkLst>
            <pc:docMk/>
            <pc:sldMk cId="235460702" sldId="338"/>
            <ac:spMk id="4" creationId="{E2BE5292-9D91-2E87-89AB-F060176F08A2}"/>
          </ac:spMkLst>
        </pc:spChg>
      </pc:sldChg>
      <pc:sldChg chg="addSp modSp mod">
        <pc:chgData name="Ravi Jain_7A" userId="f0b24fa1-fa0a-4582-9181-6debb2f9acb0" providerId="ADAL" clId="{B207EF1E-3D4F-44DD-894B-4FA35443F958}" dt="2025-09-17T01:36:43.210" v="782" actId="1076"/>
        <pc:sldMkLst>
          <pc:docMk/>
          <pc:sldMk cId="585705193" sldId="339"/>
        </pc:sldMkLst>
        <pc:spChg chg="mod">
          <ac:chgData name="Ravi Jain_7A" userId="f0b24fa1-fa0a-4582-9181-6debb2f9acb0" providerId="ADAL" clId="{B207EF1E-3D4F-44DD-894B-4FA35443F958}" dt="2025-09-17T00:15:24.260" v="463" actId="20577"/>
          <ac:spMkLst>
            <pc:docMk/>
            <pc:sldMk cId="585705193" sldId="339"/>
            <ac:spMk id="3" creationId="{7CFEC748-2FA7-F44F-B23B-2A7B0A729E24}"/>
          </ac:spMkLst>
        </pc:spChg>
        <pc:graphicFrameChg chg="add mod">
          <ac:chgData name="Ravi Jain_7A" userId="f0b24fa1-fa0a-4582-9181-6debb2f9acb0" providerId="ADAL" clId="{B207EF1E-3D4F-44DD-894B-4FA35443F958}" dt="2025-09-17T01:36:41.681" v="781" actId="1076"/>
          <ac:graphicFrameMkLst>
            <pc:docMk/>
            <pc:sldMk cId="585705193" sldId="339"/>
            <ac:graphicFrameMk id="4" creationId="{00351B08-3DD9-8EDB-C83D-B45F04838DBC}"/>
          </ac:graphicFrameMkLst>
        </pc:graphicFrameChg>
        <pc:graphicFrameChg chg="mod modGraphic">
          <ac:chgData name="Ravi Jain_7A" userId="f0b24fa1-fa0a-4582-9181-6debb2f9acb0" providerId="ADAL" clId="{B207EF1E-3D4F-44DD-894B-4FA35443F958}" dt="2025-09-17T01:36:43.210" v="782" actId="1076"/>
          <ac:graphicFrameMkLst>
            <pc:docMk/>
            <pc:sldMk cId="585705193" sldId="339"/>
            <ac:graphicFrameMk id="8" creationId="{81B2A28C-D311-A78A-4003-05E95623C7B9}"/>
          </ac:graphicFrameMkLst>
        </pc:graphicFrameChg>
      </pc:sldChg>
      <pc:sldChg chg="modSp mod">
        <pc:chgData name="Ravi Jain_7A" userId="f0b24fa1-fa0a-4582-9181-6debb2f9acb0" providerId="ADAL" clId="{B207EF1E-3D4F-44DD-894B-4FA35443F958}" dt="2025-09-17T05:15:32.461" v="1005" actId="113"/>
        <pc:sldMkLst>
          <pc:docMk/>
          <pc:sldMk cId="1423599557" sldId="340"/>
        </pc:sldMkLst>
        <pc:spChg chg="mod">
          <ac:chgData name="Ravi Jain_7A" userId="f0b24fa1-fa0a-4582-9181-6debb2f9acb0" providerId="ADAL" clId="{B207EF1E-3D4F-44DD-894B-4FA35443F958}" dt="2025-09-17T05:15:32.461" v="1005" actId="113"/>
          <ac:spMkLst>
            <pc:docMk/>
            <pc:sldMk cId="1423599557" sldId="340"/>
            <ac:spMk id="4" creationId="{921F02EA-DAAB-C75A-0093-172BC0C52120}"/>
          </ac:spMkLst>
        </pc:spChg>
      </pc:sldChg>
      <pc:sldChg chg="addSp modSp mod ord">
        <pc:chgData name="Ravi Jain_7A" userId="f0b24fa1-fa0a-4582-9181-6debb2f9acb0" providerId="ADAL" clId="{B207EF1E-3D4F-44DD-894B-4FA35443F958}" dt="2025-09-17T05:36:59.237" v="1108" actId="20577"/>
        <pc:sldMkLst>
          <pc:docMk/>
          <pc:sldMk cId="1303034875" sldId="342"/>
        </pc:sldMkLst>
        <pc:spChg chg="mod">
          <ac:chgData name="Ravi Jain_7A" userId="f0b24fa1-fa0a-4582-9181-6debb2f9acb0" providerId="ADAL" clId="{B207EF1E-3D4F-44DD-894B-4FA35443F958}" dt="2025-09-17T05:36:59.237" v="1108" actId="20577"/>
          <ac:spMkLst>
            <pc:docMk/>
            <pc:sldMk cId="1303034875" sldId="342"/>
            <ac:spMk id="4" creationId="{D9FEC2DE-5D90-3FF8-B065-0D8588A7A9F0}"/>
          </ac:spMkLst>
        </pc:spChg>
        <pc:spChg chg="add">
          <ac:chgData name="Ravi Jain_7A" userId="f0b24fa1-fa0a-4582-9181-6debb2f9acb0" providerId="ADAL" clId="{B207EF1E-3D4F-44DD-894B-4FA35443F958}" dt="2025-09-17T00:39:04.553" v="488"/>
          <ac:spMkLst>
            <pc:docMk/>
            <pc:sldMk cId="1303034875" sldId="342"/>
            <ac:spMk id="6" creationId="{F927E570-2792-1DED-CC6F-12C686ED7BCE}"/>
          </ac:spMkLst>
        </pc:spChg>
      </pc:sldChg>
      <pc:sldChg chg="modSp mod">
        <pc:chgData name="Ravi Jain_7A" userId="f0b24fa1-fa0a-4582-9181-6debb2f9acb0" providerId="ADAL" clId="{B207EF1E-3D4F-44DD-894B-4FA35443F958}" dt="2025-09-17T05:16:13.285" v="1008" actId="113"/>
        <pc:sldMkLst>
          <pc:docMk/>
          <pc:sldMk cId="3926325634" sldId="343"/>
        </pc:sldMkLst>
        <pc:spChg chg="mod">
          <ac:chgData name="Ravi Jain_7A" userId="f0b24fa1-fa0a-4582-9181-6debb2f9acb0" providerId="ADAL" clId="{B207EF1E-3D4F-44DD-894B-4FA35443F958}" dt="2025-09-17T05:16:13.285" v="1008" actId="113"/>
          <ac:spMkLst>
            <pc:docMk/>
            <pc:sldMk cId="3926325634" sldId="343"/>
            <ac:spMk id="4" creationId="{0FF47AE8-7829-A860-633E-D9798273F405}"/>
          </ac:spMkLst>
        </pc:spChg>
      </pc:sldChg>
      <pc:sldChg chg="modSp mod">
        <pc:chgData name="Ravi Jain_7A" userId="f0b24fa1-fa0a-4582-9181-6debb2f9acb0" providerId="ADAL" clId="{B207EF1E-3D4F-44DD-894B-4FA35443F958}" dt="2025-09-17T05:12:05.447" v="996" actId="113"/>
        <pc:sldMkLst>
          <pc:docMk/>
          <pc:sldMk cId="917584223" sldId="344"/>
        </pc:sldMkLst>
        <pc:spChg chg="mod">
          <ac:chgData name="Ravi Jain_7A" userId="f0b24fa1-fa0a-4582-9181-6debb2f9acb0" providerId="ADAL" clId="{B207EF1E-3D4F-44DD-894B-4FA35443F958}" dt="2025-09-17T05:12:05.447" v="996" actId="113"/>
          <ac:spMkLst>
            <pc:docMk/>
            <pc:sldMk cId="917584223" sldId="344"/>
            <ac:spMk id="4" creationId="{1C90059F-66DA-7FC0-B439-B00234030421}"/>
          </ac:spMkLst>
        </pc:spChg>
      </pc:sldChg>
      <pc:sldChg chg="modSp mod">
        <pc:chgData name="Ravi Jain_7A" userId="f0b24fa1-fa0a-4582-9181-6debb2f9acb0" providerId="ADAL" clId="{B207EF1E-3D4F-44DD-894B-4FA35443F958}" dt="2025-09-17T05:13:10.799" v="998" actId="113"/>
        <pc:sldMkLst>
          <pc:docMk/>
          <pc:sldMk cId="3533076922" sldId="345"/>
        </pc:sldMkLst>
        <pc:spChg chg="mod">
          <ac:chgData name="Ravi Jain_7A" userId="f0b24fa1-fa0a-4582-9181-6debb2f9acb0" providerId="ADAL" clId="{B207EF1E-3D4F-44DD-894B-4FA35443F958}" dt="2025-09-17T05:13:10.799" v="998" actId="113"/>
          <ac:spMkLst>
            <pc:docMk/>
            <pc:sldMk cId="3533076922" sldId="345"/>
            <ac:spMk id="4" creationId="{F1956317-96B7-CD03-08A1-8D6EE0F2381D}"/>
          </ac:spMkLst>
        </pc:spChg>
      </pc:sldChg>
      <pc:sldChg chg="modSp mod">
        <pc:chgData name="Ravi Jain_7A" userId="f0b24fa1-fa0a-4582-9181-6debb2f9acb0" providerId="ADAL" clId="{B207EF1E-3D4F-44DD-894B-4FA35443F958}" dt="2025-09-17T05:24:53.010" v="1038" actId="20577"/>
        <pc:sldMkLst>
          <pc:docMk/>
          <pc:sldMk cId="2662386940" sldId="349"/>
        </pc:sldMkLst>
        <pc:spChg chg="mod">
          <ac:chgData name="Ravi Jain_7A" userId="f0b24fa1-fa0a-4582-9181-6debb2f9acb0" providerId="ADAL" clId="{B207EF1E-3D4F-44DD-894B-4FA35443F958}" dt="2025-09-17T05:24:53.010" v="1038" actId="20577"/>
          <ac:spMkLst>
            <pc:docMk/>
            <pc:sldMk cId="2662386940" sldId="349"/>
            <ac:spMk id="3" creationId="{F8500BAC-C017-1305-FA00-7434CE6780B8}"/>
          </ac:spMkLst>
        </pc:spChg>
      </pc:sldChg>
      <pc:sldChg chg="addSp delSp modSp mod">
        <pc:chgData name="Ravi Jain_7A" userId="f0b24fa1-fa0a-4582-9181-6debb2f9acb0" providerId="ADAL" clId="{B207EF1E-3D4F-44DD-894B-4FA35443F958}" dt="2025-09-17T05:25:32.818" v="1065" actId="12385"/>
        <pc:sldMkLst>
          <pc:docMk/>
          <pc:sldMk cId="1242164476" sldId="350"/>
        </pc:sldMkLst>
        <pc:spChg chg="mod">
          <ac:chgData name="Ravi Jain_7A" userId="f0b24fa1-fa0a-4582-9181-6debb2f9acb0" providerId="ADAL" clId="{B207EF1E-3D4F-44DD-894B-4FA35443F958}" dt="2025-09-17T00:56:26.366" v="684" actId="113"/>
          <ac:spMkLst>
            <pc:docMk/>
            <pc:sldMk cId="1242164476" sldId="350"/>
            <ac:spMk id="3" creationId="{CCCB6781-35F7-2FE4-C3F8-35481A9B5B4A}"/>
          </ac:spMkLst>
        </pc:spChg>
        <pc:spChg chg="add mod">
          <ac:chgData name="Ravi Jain_7A" userId="f0b24fa1-fa0a-4582-9181-6debb2f9acb0" providerId="ADAL" clId="{B207EF1E-3D4F-44DD-894B-4FA35443F958}" dt="2025-09-17T00:56:50.378" v="692" actId="14"/>
          <ac:spMkLst>
            <pc:docMk/>
            <pc:sldMk cId="1242164476" sldId="350"/>
            <ac:spMk id="4" creationId="{D3603B74-D18E-9889-E508-0FDA79147307}"/>
          </ac:spMkLst>
        </pc:spChg>
        <pc:spChg chg="add">
          <ac:chgData name="Ravi Jain_7A" userId="f0b24fa1-fa0a-4582-9181-6debb2f9acb0" providerId="ADAL" clId="{B207EF1E-3D4F-44DD-894B-4FA35443F958}" dt="2025-09-17T00:51:08.928" v="621"/>
          <ac:spMkLst>
            <pc:docMk/>
            <pc:sldMk cId="1242164476" sldId="350"/>
            <ac:spMk id="7" creationId="{6BFA5069-669A-394F-FECC-B1B133560A3A}"/>
          </ac:spMkLst>
        </pc:spChg>
        <pc:graphicFrameChg chg="del mod modGraphic">
          <ac:chgData name="Ravi Jain_7A" userId="f0b24fa1-fa0a-4582-9181-6debb2f9acb0" providerId="ADAL" clId="{B207EF1E-3D4F-44DD-894B-4FA35443F958}" dt="2025-09-17T00:50:15.206" v="587" actId="478"/>
          <ac:graphicFrameMkLst>
            <pc:docMk/>
            <pc:sldMk cId="1242164476" sldId="350"/>
            <ac:graphicFrameMk id="6" creationId="{3837222F-1B79-01A4-1A7E-5B4C92F7B153}"/>
          </ac:graphicFrameMkLst>
        </pc:graphicFrameChg>
        <pc:graphicFrameChg chg="add mod modGraphic">
          <ac:chgData name="Ravi Jain_7A" userId="f0b24fa1-fa0a-4582-9181-6debb2f9acb0" providerId="ADAL" clId="{B207EF1E-3D4F-44DD-894B-4FA35443F958}" dt="2025-09-17T05:25:32.818" v="1065" actId="12385"/>
          <ac:graphicFrameMkLst>
            <pc:docMk/>
            <pc:sldMk cId="1242164476" sldId="350"/>
            <ac:graphicFrameMk id="8" creationId="{E7E9099B-FEF1-03EF-5454-2617F29337C1}"/>
          </ac:graphicFrameMkLst>
        </pc:graphicFrameChg>
      </pc:sldChg>
      <pc:sldChg chg="modSp mod">
        <pc:chgData name="Ravi Jain_7A" userId="f0b24fa1-fa0a-4582-9181-6debb2f9acb0" providerId="ADAL" clId="{B207EF1E-3D4F-44DD-894B-4FA35443F958}" dt="2025-09-17T05:25:48.236" v="1080" actId="20577"/>
        <pc:sldMkLst>
          <pc:docMk/>
          <pc:sldMk cId="1046847488" sldId="351"/>
        </pc:sldMkLst>
        <pc:spChg chg="mod">
          <ac:chgData name="Ravi Jain_7A" userId="f0b24fa1-fa0a-4582-9181-6debb2f9acb0" providerId="ADAL" clId="{B207EF1E-3D4F-44DD-894B-4FA35443F958}" dt="2025-09-17T05:25:48.236" v="1080" actId="20577"/>
          <ac:spMkLst>
            <pc:docMk/>
            <pc:sldMk cId="1046847488" sldId="351"/>
            <ac:spMk id="3" creationId="{B07896A0-E0C4-B1B0-01C2-2192F013FAB2}"/>
          </ac:spMkLst>
        </pc:spChg>
        <pc:graphicFrameChg chg="mod modGraphic">
          <ac:chgData name="Ravi Jain_7A" userId="f0b24fa1-fa0a-4582-9181-6debb2f9acb0" providerId="ADAL" clId="{B207EF1E-3D4F-44DD-894B-4FA35443F958}" dt="2025-09-17T00:47:23.696" v="585" actId="403"/>
          <ac:graphicFrameMkLst>
            <pc:docMk/>
            <pc:sldMk cId="1046847488" sldId="351"/>
            <ac:graphicFrameMk id="4" creationId="{3F267EB3-D33D-7113-A439-BFFDB61D555A}"/>
          </ac:graphicFrameMkLst>
        </pc:graphicFrameChg>
      </pc:sldChg>
      <pc:sldChg chg="modSp mod">
        <pc:chgData name="Ravi Jain_7A" userId="f0b24fa1-fa0a-4582-9181-6debb2f9acb0" providerId="ADAL" clId="{B207EF1E-3D4F-44DD-894B-4FA35443F958}" dt="2025-09-17T00:15:48.720" v="469" actId="20577"/>
        <pc:sldMkLst>
          <pc:docMk/>
          <pc:sldMk cId="1751633356" sldId="352"/>
        </pc:sldMkLst>
        <pc:spChg chg="mod">
          <ac:chgData name="Ravi Jain_7A" userId="f0b24fa1-fa0a-4582-9181-6debb2f9acb0" providerId="ADAL" clId="{B207EF1E-3D4F-44DD-894B-4FA35443F958}" dt="2025-09-17T00:15:48.720" v="469" actId="20577"/>
          <ac:spMkLst>
            <pc:docMk/>
            <pc:sldMk cId="1751633356" sldId="352"/>
            <ac:spMk id="3" creationId="{A097DA69-756D-BD15-66C9-EB8DF39CCDA7}"/>
          </ac:spMkLst>
        </pc:spChg>
      </pc:sldChg>
      <pc:sldChg chg="modSp mod">
        <pc:chgData name="Ravi Jain_7A" userId="f0b24fa1-fa0a-4582-9181-6debb2f9acb0" providerId="ADAL" clId="{B207EF1E-3D4F-44DD-894B-4FA35443F958}" dt="2025-09-17T00:16:20.783" v="476" actId="14734"/>
        <pc:sldMkLst>
          <pc:docMk/>
          <pc:sldMk cId="3882538729" sldId="354"/>
        </pc:sldMkLst>
        <pc:spChg chg="mod">
          <ac:chgData name="Ravi Jain_7A" userId="f0b24fa1-fa0a-4582-9181-6debb2f9acb0" providerId="ADAL" clId="{B207EF1E-3D4F-44DD-894B-4FA35443F958}" dt="2025-09-17T00:16:11.007" v="473" actId="20577"/>
          <ac:spMkLst>
            <pc:docMk/>
            <pc:sldMk cId="3882538729" sldId="354"/>
            <ac:spMk id="3" creationId="{1BDC6C18-6DA4-C0EF-9AEC-458470FE078B}"/>
          </ac:spMkLst>
        </pc:spChg>
        <pc:graphicFrameChg chg="modGraphic">
          <ac:chgData name="Ravi Jain_7A" userId="f0b24fa1-fa0a-4582-9181-6debb2f9acb0" providerId="ADAL" clId="{B207EF1E-3D4F-44DD-894B-4FA35443F958}" dt="2025-09-17T00:16:20.783" v="476" actId="14734"/>
          <ac:graphicFrameMkLst>
            <pc:docMk/>
            <pc:sldMk cId="3882538729" sldId="354"/>
            <ac:graphicFrameMk id="8" creationId="{C6FC74A4-EBE5-0C44-37DB-2FA941A86C95}"/>
          </ac:graphicFrameMkLst>
        </pc:graphicFrameChg>
      </pc:sldChg>
      <pc:sldChg chg="modSp mod">
        <pc:chgData name="Ravi Jain_7A" userId="f0b24fa1-fa0a-4582-9181-6debb2f9acb0" providerId="ADAL" clId="{B207EF1E-3D4F-44DD-894B-4FA35443F958}" dt="2025-09-17T00:17:54.959" v="478" actId="20577"/>
        <pc:sldMkLst>
          <pc:docMk/>
          <pc:sldMk cId="96872751" sldId="355"/>
        </pc:sldMkLst>
        <pc:spChg chg="mod">
          <ac:chgData name="Ravi Jain_7A" userId="f0b24fa1-fa0a-4582-9181-6debb2f9acb0" providerId="ADAL" clId="{B207EF1E-3D4F-44DD-894B-4FA35443F958}" dt="2025-09-17T00:17:54.959" v="478" actId="20577"/>
          <ac:spMkLst>
            <pc:docMk/>
            <pc:sldMk cId="96872751" sldId="355"/>
            <ac:spMk id="3" creationId="{B635B809-58E4-B450-5FC2-443E9173FA25}"/>
          </ac:spMkLst>
        </pc:spChg>
      </pc:sldChg>
      <pc:sldChg chg="del">
        <pc:chgData name="Ravi Jain_7A" userId="f0b24fa1-fa0a-4582-9181-6debb2f9acb0" providerId="ADAL" clId="{B207EF1E-3D4F-44DD-894B-4FA35443F958}" dt="2025-09-17T00:13:41.678" v="449" actId="47"/>
        <pc:sldMkLst>
          <pc:docMk/>
          <pc:sldMk cId="1144419942" sldId="357"/>
        </pc:sldMkLst>
      </pc:sldChg>
      <pc:sldChg chg="modSp mod">
        <pc:chgData name="Ravi Jain_7A" userId="f0b24fa1-fa0a-4582-9181-6debb2f9acb0" providerId="ADAL" clId="{B207EF1E-3D4F-44DD-894B-4FA35443F958}" dt="2025-09-17T05:23:54.079" v="1029" actId="14734"/>
        <pc:sldMkLst>
          <pc:docMk/>
          <pc:sldMk cId="2381512127" sldId="358"/>
        </pc:sldMkLst>
        <pc:spChg chg="mod">
          <ac:chgData name="Ravi Jain_7A" userId="f0b24fa1-fa0a-4582-9181-6debb2f9acb0" providerId="ADAL" clId="{B207EF1E-3D4F-44DD-894B-4FA35443F958}" dt="2025-09-17T00:20:00.462" v="481" actId="20577"/>
          <ac:spMkLst>
            <pc:docMk/>
            <pc:sldMk cId="2381512127" sldId="358"/>
            <ac:spMk id="3" creationId="{0630AE28-8DAE-4C42-9276-981DB1EC40CF}"/>
          </ac:spMkLst>
        </pc:spChg>
        <pc:graphicFrameChg chg="modGraphic">
          <ac:chgData name="Ravi Jain_7A" userId="f0b24fa1-fa0a-4582-9181-6debb2f9acb0" providerId="ADAL" clId="{B207EF1E-3D4F-44DD-894B-4FA35443F958}" dt="2025-09-17T05:23:54.079" v="1029" actId="14734"/>
          <ac:graphicFrameMkLst>
            <pc:docMk/>
            <pc:sldMk cId="2381512127" sldId="358"/>
            <ac:graphicFrameMk id="6" creationId="{4AA08935-881C-5ECE-9F68-131DFEAFDD4E}"/>
          </ac:graphicFrameMkLst>
        </pc:graphicFrameChg>
      </pc:sldChg>
      <pc:sldChg chg="modSp mod">
        <pc:chgData name="Ravi Jain_7A" userId="f0b24fa1-fa0a-4582-9181-6debb2f9acb0" providerId="ADAL" clId="{B207EF1E-3D4F-44DD-894B-4FA35443F958}" dt="2025-09-17T00:20:11.574" v="484" actId="20577"/>
        <pc:sldMkLst>
          <pc:docMk/>
          <pc:sldMk cId="3203565649" sldId="359"/>
        </pc:sldMkLst>
        <pc:spChg chg="mod">
          <ac:chgData name="Ravi Jain_7A" userId="f0b24fa1-fa0a-4582-9181-6debb2f9acb0" providerId="ADAL" clId="{B207EF1E-3D4F-44DD-894B-4FA35443F958}" dt="2025-09-17T00:20:11.574" v="484" actId="20577"/>
          <ac:spMkLst>
            <pc:docMk/>
            <pc:sldMk cId="3203565649" sldId="359"/>
            <ac:spMk id="3" creationId="{BAC5DEA5-2B63-81B1-B66F-AF53BCD0AB98}"/>
          </ac:spMkLst>
        </pc:spChg>
      </pc:sldChg>
      <pc:sldChg chg="addSp modSp add mod ord">
        <pc:chgData name="Ravi Jain_7A" userId="f0b24fa1-fa0a-4582-9181-6debb2f9acb0" providerId="ADAL" clId="{B207EF1E-3D4F-44DD-894B-4FA35443F958}" dt="2025-09-17T05:37:47.198" v="1118" actId="20577"/>
        <pc:sldMkLst>
          <pc:docMk/>
          <pc:sldMk cId="632859343" sldId="360"/>
        </pc:sldMkLst>
        <pc:spChg chg="mod">
          <ac:chgData name="Ravi Jain_7A" userId="f0b24fa1-fa0a-4582-9181-6debb2f9acb0" providerId="ADAL" clId="{B207EF1E-3D4F-44DD-894B-4FA35443F958}" dt="2025-09-17T05:37:47.198" v="1118" actId="20577"/>
          <ac:spMkLst>
            <pc:docMk/>
            <pc:sldMk cId="632859343" sldId="360"/>
            <ac:spMk id="4" creationId="{8B9B2857-7031-B240-F941-847DF1898C27}"/>
          </ac:spMkLst>
        </pc:spChg>
        <pc:spChg chg="add mod">
          <ac:chgData name="Ravi Jain_7A" userId="f0b24fa1-fa0a-4582-9181-6debb2f9acb0" providerId="ADAL" clId="{B207EF1E-3D4F-44DD-894B-4FA35443F958}" dt="2025-09-16T23:45:43.001" v="424" actId="164"/>
          <ac:spMkLst>
            <pc:docMk/>
            <pc:sldMk cId="632859343" sldId="360"/>
            <ac:spMk id="6" creationId="{B3E8DE37-66D9-99B6-2F84-4645071AC076}"/>
          </ac:spMkLst>
        </pc:spChg>
        <pc:spChg chg="add">
          <ac:chgData name="Ravi Jain_7A" userId="f0b24fa1-fa0a-4582-9181-6debb2f9acb0" providerId="ADAL" clId="{B207EF1E-3D4F-44DD-894B-4FA35443F958}" dt="2025-09-16T23:37:30.031" v="36"/>
          <ac:spMkLst>
            <pc:docMk/>
            <pc:sldMk cId="632859343" sldId="360"/>
            <ac:spMk id="7" creationId="{0D7D5C89-6DA2-26A1-B3F0-BC99B0547BE4}"/>
          </ac:spMkLst>
        </pc:spChg>
        <pc:spChg chg="add">
          <ac:chgData name="Ravi Jain_7A" userId="f0b24fa1-fa0a-4582-9181-6debb2f9acb0" providerId="ADAL" clId="{B207EF1E-3D4F-44DD-894B-4FA35443F958}" dt="2025-09-16T23:38:28.432" v="45"/>
          <ac:spMkLst>
            <pc:docMk/>
            <pc:sldMk cId="632859343" sldId="360"/>
            <ac:spMk id="8" creationId="{A12014CA-7475-67FC-AF6D-E6983F5AD855}"/>
          </ac:spMkLst>
        </pc:spChg>
        <pc:spChg chg="add mod">
          <ac:chgData name="Ravi Jain_7A" userId="f0b24fa1-fa0a-4582-9181-6debb2f9acb0" providerId="ADAL" clId="{B207EF1E-3D4F-44DD-894B-4FA35443F958}" dt="2025-09-16T23:45:43.001" v="424" actId="164"/>
          <ac:spMkLst>
            <pc:docMk/>
            <pc:sldMk cId="632859343" sldId="360"/>
            <ac:spMk id="9" creationId="{B28AC635-CBBE-B388-6EDF-A84C64BAA1DE}"/>
          </ac:spMkLst>
        </pc:spChg>
        <pc:spChg chg="add mod">
          <ac:chgData name="Ravi Jain_7A" userId="f0b24fa1-fa0a-4582-9181-6debb2f9acb0" providerId="ADAL" clId="{B207EF1E-3D4F-44DD-894B-4FA35443F958}" dt="2025-09-16T23:45:43.001" v="424" actId="164"/>
          <ac:spMkLst>
            <pc:docMk/>
            <pc:sldMk cId="632859343" sldId="360"/>
            <ac:spMk id="10" creationId="{A9B591E7-7829-EDF1-89CE-16848A2138EA}"/>
          </ac:spMkLst>
        </pc:spChg>
        <pc:spChg chg="add mod">
          <ac:chgData name="Ravi Jain_7A" userId="f0b24fa1-fa0a-4582-9181-6debb2f9acb0" providerId="ADAL" clId="{B207EF1E-3D4F-44DD-894B-4FA35443F958}" dt="2025-09-16T23:45:43.001" v="424" actId="164"/>
          <ac:spMkLst>
            <pc:docMk/>
            <pc:sldMk cId="632859343" sldId="360"/>
            <ac:spMk id="11" creationId="{CBCD2D4D-E164-1C75-DE6F-A3181DD72F00}"/>
          </ac:spMkLst>
        </pc:spChg>
        <pc:grpChg chg="add mod">
          <ac:chgData name="Ravi Jain_7A" userId="f0b24fa1-fa0a-4582-9181-6debb2f9acb0" providerId="ADAL" clId="{B207EF1E-3D4F-44DD-894B-4FA35443F958}" dt="2025-09-17T00:11:25.270" v="442" actId="1076"/>
          <ac:grpSpMkLst>
            <pc:docMk/>
            <pc:sldMk cId="632859343" sldId="360"/>
            <ac:grpSpMk id="12" creationId="{0643B107-6856-2A7B-BC17-A0D5C7D6BA0B}"/>
          </ac:grpSpMkLst>
        </pc:grpChg>
      </pc:sldChg>
      <pc:sldChg chg="modSp add mod">
        <pc:chgData name="Ravi Jain_7A" userId="f0b24fa1-fa0a-4582-9181-6debb2f9acb0" providerId="ADAL" clId="{B207EF1E-3D4F-44DD-894B-4FA35443F958}" dt="2025-09-17T05:25:03.208" v="1047" actId="20577"/>
        <pc:sldMkLst>
          <pc:docMk/>
          <pc:sldMk cId="3214068298" sldId="361"/>
        </pc:sldMkLst>
        <pc:spChg chg="mod">
          <ac:chgData name="Ravi Jain_7A" userId="f0b24fa1-fa0a-4582-9181-6debb2f9acb0" providerId="ADAL" clId="{B207EF1E-3D4F-44DD-894B-4FA35443F958}" dt="2025-09-17T05:25:03.208" v="1047" actId="20577"/>
          <ac:spMkLst>
            <pc:docMk/>
            <pc:sldMk cId="3214068298" sldId="361"/>
            <ac:spMk id="3" creationId="{A26B41B5-444A-B234-AF56-A4827841F229}"/>
          </ac:spMkLst>
        </pc:spChg>
      </pc:sldChg>
      <pc:sldChg chg="modSp add mod">
        <pc:chgData name="Ravi Jain_7A" userId="f0b24fa1-fa0a-4582-9181-6debb2f9acb0" providerId="ADAL" clId="{B207EF1E-3D4F-44DD-894B-4FA35443F958}" dt="2025-09-17T01:24:44.473" v="738" actId="6549"/>
        <pc:sldMkLst>
          <pc:docMk/>
          <pc:sldMk cId="130218609" sldId="362"/>
        </pc:sldMkLst>
        <pc:spChg chg="mod">
          <ac:chgData name="Ravi Jain_7A" userId="f0b24fa1-fa0a-4582-9181-6debb2f9acb0" providerId="ADAL" clId="{B207EF1E-3D4F-44DD-894B-4FA35443F958}" dt="2025-09-17T01:24:44.473" v="738" actId="6549"/>
          <ac:spMkLst>
            <pc:docMk/>
            <pc:sldMk cId="130218609" sldId="362"/>
            <ac:spMk id="4" creationId="{F51B89FE-3D25-ABD1-8ABE-85AB607E5167}"/>
          </ac:spMkLst>
        </pc:spChg>
      </pc:sldChg>
      <pc:sldChg chg="add del">
        <pc:chgData name="Ravi Jain_7A" userId="f0b24fa1-fa0a-4582-9181-6debb2f9acb0" providerId="ADAL" clId="{B207EF1E-3D4F-44DD-894B-4FA35443F958}" dt="2025-09-17T01:23:54.844" v="729" actId="47"/>
        <pc:sldMkLst>
          <pc:docMk/>
          <pc:sldMk cId="1868937114" sldId="362"/>
        </pc:sldMkLst>
      </pc:sldChg>
      <pc:sldChg chg="add del">
        <pc:chgData name="Ravi Jain_7A" userId="f0b24fa1-fa0a-4582-9181-6debb2f9acb0" providerId="ADAL" clId="{B207EF1E-3D4F-44DD-894B-4FA35443F958}" dt="2025-09-17T01:23:54.844" v="729" actId="47"/>
        <pc:sldMkLst>
          <pc:docMk/>
          <pc:sldMk cId="1118069171" sldId="363"/>
        </pc:sldMkLst>
      </pc:sldChg>
      <pc:sldChg chg="modSp add mod">
        <pc:chgData name="Ravi Jain_7A" userId="f0b24fa1-fa0a-4582-9181-6debb2f9acb0" providerId="ADAL" clId="{B207EF1E-3D4F-44DD-894B-4FA35443F958}" dt="2025-09-17T01:25:06.595" v="741" actId="6549"/>
        <pc:sldMkLst>
          <pc:docMk/>
          <pc:sldMk cId="3903500327" sldId="363"/>
        </pc:sldMkLst>
        <pc:spChg chg="mod">
          <ac:chgData name="Ravi Jain_7A" userId="f0b24fa1-fa0a-4582-9181-6debb2f9acb0" providerId="ADAL" clId="{B207EF1E-3D4F-44DD-894B-4FA35443F958}" dt="2025-09-17T01:25:06.595" v="741" actId="6549"/>
          <ac:spMkLst>
            <pc:docMk/>
            <pc:sldMk cId="3903500327" sldId="363"/>
            <ac:spMk id="4" creationId="{E3A9D5CC-AB79-9CD7-3A55-08562CDCFB50}"/>
          </ac:spMkLst>
        </pc:spChg>
      </pc:sldChg>
      <pc:sldChg chg="modSp add mod">
        <pc:chgData name="Ravi Jain_7A" userId="f0b24fa1-fa0a-4582-9181-6debb2f9acb0" providerId="ADAL" clId="{B207EF1E-3D4F-44DD-894B-4FA35443F958}" dt="2025-09-17T01:26:18.355" v="749" actId="6549"/>
        <pc:sldMkLst>
          <pc:docMk/>
          <pc:sldMk cId="629426170" sldId="364"/>
        </pc:sldMkLst>
        <pc:spChg chg="mod">
          <ac:chgData name="Ravi Jain_7A" userId="f0b24fa1-fa0a-4582-9181-6debb2f9acb0" providerId="ADAL" clId="{B207EF1E-3D4F-44DD-894B-4FA35443F958}" dt="2025-09-17T01:26:18.355" v="749" actId="6549"/>
          <ac:spMkLst>
            <pc:docMk/>
            <pc:sldMk cId="629426170" sldId="364"/>
            <ac:spMk id="4" creationId="{04269116-C66C-CDFC-ABA9-5C0B5C417D56}"/>
          </ac:spMkLst>
        </pc:spChg>
      </pc:sldChg>
      <pc:sldChg chg="add del">
        <pc:chgData name="Ravi Jain_7A" userId="f0b24fa1-fa0a-4582-9181-6debb2f9acb0" providerId="ADAL" clId="{B207EF1E-3D4F-44DD-894B-4FA35443F958}" dt="2025-09-17T01:23:54.844" v="729" actId="47"/>
        <pc:sldMkLst>
          <pc:docMk/>
          <pc:sldMk cId="1577345499" sldId="364"/>
        </pc:sldMkLst>
      </pc:sldChg>
      <pc:sldChg chg="add del">
        <pc:chgData name="Ravi Jain_7A" userId="f0b24fa1-fa0a-4582-9181-6debb2f9acb0" providerId="ADAL" clId="{B207EF1E-3D4F-44DD-894B-4FA35443F958}" dt="2025-09-17T01:23:54.844" v="729" actId="47"/>
        <pc:sldMkLst>
          <pc:docMk/>
          <pc:sldMk cId="524445249" sldId="365"/>
        </pc:sldMkLst>
      </pc:sldChg>
      <pc:sldChg chg="modSp add mod">
        <pc:chgData name="Ravi Jain_7A" userId="f0b24fa1-fa0a-4582-9181-6debb2f9acb0" providerId="ADAL" clId="{B207EF1E-3D4F-44DD-894B-4FA35443F958}" dt="2025-09-17T01:26:44.704" v="754" actId="6549"/>
        <pc:sldMkLst>
          <pc:docMk/>
          <pc:sldMk cId="1219264196" sldId="365"/>
        </pc:sldMkLst>
        <pc:spChg chg="mod">
          <ac:chgData name="Ravi Jain_7A" userId="f0b24fa1-fa0a-4582-9181-6debb2f9acb0" providerId="ADAL" clId="{B207EF1E-3D4F-44DD-894B-4FA35443F958}" dt="2025-09-17T01:26:44.704" v="754" actId="6549"/>
          <ac:spMkLst>
            <pc:docMk/>
            <pc:sldMk cId="1219264196" sldId="365"/>
            <ac:spMk id="4" creationId="{1F9E8D45-FAED-4702-31D3-4BB290B3703B}"/>
          </ac:spMkLst>
        </pc:spChg>
      </pc:sldChg>
      <pc:sldChg chg="add del">
        <pc:chgData name="Ravi Jain_7A" userId="f0b24fa1-fa0a-4582-9181-6debb2f9acb0" providerId="ADAL" clId="{B207EF1E-3D4F-44DD-894B-4FA35443F958}" dt="2025-09-17T01:26:03.339" v="747" actId="47"/>
        <pc:sldMkLst>
          <pc:docMk/>
          <pc:sldMk cId="2048892613" sldId="365"/>
        </pc:sldMkLst>
      </pc:sldChg>
      <pc:sldChg chg="add del">
        <pc:chgData name="Ravi Jain_7A" userId="f0b24fa1-fa0a-4582-9181-6debb2f9acb0" providerId="ADAL" clId="{B207EF1E-3D4F-44DD-894B-4FA35443F958}" dt="2025-09-17T01:23:54.844" v="729" actId="47"/>
        <pc:sldMkLst>
          <pc:docMk/>
          <pc:sldMk cId="221404412" sldId="366"/>
        </pc:sldMkLst>
      </pc:sldChg>
      <pc:sldChg chg="add del">
        <pc:chgData name="Ravi Jain_7A" userId="f0b24fa1-fa0a-4582-9181-6debb2f9acb0" providerId="ADAL" clId="{B207EF1E-3D4F-44DD-894B-4FA35443F958}" dt="2025-09-17T01:26:03.339" v="747" actId="47"/>
        <pc:sldMkLst>
          <pc:docMk/>
          <pc:sldMk cId="1785876574" sldId="366"/>
        </pc:sldMkLst>
      </pc:sldChg>
      <pc:sldChg chg="modSp add mod">
        <pc:chgData name="Ravi Jain_7A" userId="f0b24fa1-fa0a-4582-9181-6debb2f9acb0" providerId="ADAL" clId="{B207EF1E-3D4F-44DD-894B-4FA35443F958}" dt="2025-09-17T01:26:54.598" v="763" actId="20577"/>
        <pc:sldMkLst>
          <pc:docMk/>
          <pc:sldMk cId="3737805665" sldId="366"/>
        </pc:sldMkLst>
        <pc:spChg chg="mod">
          <ac:chgData name="Ravi Jain_7A" userId="f0b24fa1-fa0a-4582-9181-6debb2f9acb0" providerId="ADAL" clId="{B207EF1E-3D4F-44DD-894B-4FA35443F958}" dt="2025-09-17T01:26:54.598" v="763" actId="20577"/>
          <ac:spMkLst>
            <pc:docMk/>
            <pc:sldMk cId="3737805665" sldId="366"/>
            <ac:spMk id="4" creationId="{4F2B9DFA-A5B1-9BCD-1D90-FA4942843D47}"/>
          </ac:spMkLst>
        </pc:spChg>
      </pc:sldChg>
      <pc:sldChg chg="add del">
        <pc:chgData name="Ravi Jain_7A" userId="f0b24fa1-fa0a-4582-9181-6debb2f9acb0" providerId="ADAL" clId="{B207EF1E-3D4F-44DD-894B-4FA35443F958}" dt="2025-09-17T01:26:03.339" v="747" actId="47"/>
        <pc:sldMkLst>
          <pc:docMk/>
          <pc:sldMk cId="2628907353" sldId="367"/>
        </pc:sldMkLst>
      </pc:sldChg>
      <pc:sldChg chg="addSp delSp modSp new del mod">
        <pc:chgData name="Ravi Jain_7A" userId="f0b24fa1-fa0a-4582-9181-6debb2f9acb0" providerId="ADAL" clId="{B207EF1E-3D4F-44DD-894B-4FA35443F958}" dt="2025-09-17T01:45:05.907" v="813" actId="47"/>
        <pc:sldMkLst>
          <pc:docMk/>
          <pc:sldMk cId="2916000240" sldId="367"/>
        </pc:sldMkLst>
        <pc:graphicFrameChg chg="add del mod modGraphic">
          <ac:chgData name="Ravi Jain_7A" userId="f0b24fa1-fa0a-4582-9181-6debb2f9acb0" providerId="ADAL" clId="{B207EF1E-3D4F-44DD-894B-4FA35443F958}" dt="2025-09-17T01:37:04.073" v="786" actId="21"/>
          <ac:graphicFrameMkLst>
            <pc:docMk/>
            <pc:sldMk cId="2916000240" sldId="367"/>
            <ac:graphicFrameMk id="6" creationId="{FC73E0C0-B898-444E-744D-EE0719EE5721}"/>
          </ac:graphicFrameMkLst>
        </pc:graphicFrameChg>
        <pc:graphicFrameChg chg="add del mod modGraphic">
          <ac:chgData name="Ravi Jain_7A" userId="f0b24fa1-fa0a-4582-9181-6debb2f9acb0" providerId="ADAL" clId="{B207EF1E-3D4F-44DD-894B-4FA35443F958}" dt="2025-09-17T01:44:48.952" v="810" actId="21"/>
          <ac:graphicFrameMkLst>
            <pc:docMk/>
            <pc:sldMk cId="2916000240" sldId="367"/>
            <ac:graphicFrameMk id="7" creationId="{52C9D68C-261C-4D02-16A9-374519A81FAD}"/>
          </ac:graphicFrameMkLst>
        </pc:graphicFrameChg>
      </pc:sldChg>
      <pc:sldChg chg="add del">
        <pc:chgData name="Ravi Jain_7A" userId="f0b24fa1-fa0a-4582-9181-6debb2f9acb0" providerId="ADAL" clId="{B207EF1E-3D4F-44DD-894B-4FA35443F958}" dt="2025-09-17T01:23:54.844" v="729" actId="47"/>
        <pc:sldMkLst>
          <pc:docMk/>
          <pc:sldMk cId="4261177265" sldId="367"/>
        </pc:sldMkLst>
      </pc:sldChg>
      <pc:sldChg chg="addSp delSp modSp add mod ord">
        <pc:chgData name="Ravi Jain_7A" userId="f0b24fa1-fa0a-4582-9181-6debb2f9acb0" providerId="ADAL" clId="{B207EF1E-3D4F-44DD-894B-4FA35443F958}" dt="2025-09-17T03:01:43.228" v="990" actId="20577"/>
        <pc:sldMkLst>
          <pc:docMk/>
          <pc:sldMk cId="2089860765" sldId="368"/>
        </pc:sldMkLst>
        <pc:spChg chg="mod">
          <ac:chgData name="Ravi Jain_7A" userId="f0b24fa1-fa0a-4582-9181-6debb2f9acb0" providerId="ADAL" clId="{B207EF1E-3D4F-44DD-894B-4FA35443F958}" dt="2025-09-17T03:01:43.228" v="990" actId="20577"/>
          <ac:spMkLst>
            <pc:docMk/>
            <pc:sldMk cId="2089860765" sldId="368"/>
            <ac:spMk id="3" creationId="{1747A79B-2809-BF86-DF26-8212E73D2371}"/>
          </ac:spMkLst>
        </pc:spChg>
        <pc:graphicFrameChg chg="add mod">
          <ac:chgData name="Ravi Jain_7A" userId="f0b24fa1-fa0a-4582-9181-6debb2f9acb0" providerId="ADAL" clId="{B207EF1E-3D4F-44DD-894B-4FA35443F958}" dt="2025-09-17T01:37:59.323" v="792" actId="20577"/>
          <ac:graphicFrameMkLst>
            <pc:docMk/>
            <pc:sldMk cId="2089860765" sldId="368"/>
            <ac:graphicFrameMk id="6" creationId="{FC73E0C0-B898-444E-744D-EE0719EE5721}"/>
          </ac:graphicFrameMkLst>
        </pc:graphicFrameChg>
        <pc:graphicFrameChg chg="del modGraphic">
          <ac:chgData name="Ravi Jain_7A" userId="f0b24fa1-fa0a-4582-9181-6debb2f9acb0" providerId="ADAL" clId="{B207EF1E-3D4F-44DD-894B-4FA35443F958}" dt="2025-09-17T01:36:58.645" v="785" actId="478"/>
          <ac:graphicFrameMkLst>
            <pc:docMk/>
            <pc:sldMk cId="2089860765" sldId="368"/>
            <ac:graphicFrameMk id="8" creationId="{3218248B-5606-529A-7567-6788485A001E}"/>
          </ac:graphicFrameMkLst>
        </pc:graphicFrameChg>
      </pc:sldChg>
      <pc:sldChg chg="addSp delSp modSp add del mod">
        <pc:chgData name="Ravi Jain_7A" userId="f0b24fa1-fa0a-4582-9181-6debb2f9acb0" providerId="ADAL" clId="{B207EF1E-3D4F-44DD-894B-4FA35443F958}" dt="2025-09-17T03:02:09.228" v="991" actId="2696"/>
        <pc:sldMkLst>
          <pc:docMk/>
          <pc:sldMk cId="343906924" sldId="369"/>
        </pc:sldMkLst>
        <pc:graphicFrameChg chg="add mod">
          <ac:chgData name="Ravi Jain_7A" userId="f0b24fa1-fa0a-4582-9181-6debb2f9acb0" providerId="ADAL" clId="{B207EF1E-3D4F-44DD-894B-4FA35443F958}" dt="2025-09-17T01:45:02.112" v="812" actId="1076"/>
          <ac:graphicFrameMkLst>
            <pc:docMk/>
            <pc:sldMk cId="343906924" sldId="369"/>
            <ac:graphicFrameMk id="7" creationId="{52C9D68C-261C-4D02-16A9-374519A81FAD}"/>
          </ac:graphicFrameMkLst>
        </pc:graphicFrameChg>
        <pc:graphicFrameChg chg="del">
          <ac:chgData name="Ravi Jain_7A" userId="f0b24fa1-fa0a-4582-9181-6debb2f9acb0" providerId="ADAL" clId="{B207EF1E-3D4F-44DD-894B-4FA35443F958}" dt="2025-09-17T01:44:43.410" v="809" actId="478"/>
          <ac:graphicFrameMkLst>
            <pc:docMk/>
            <pc:sldMk cId="343906924" sldId="369"/>
            <ac:graphicFrameMk id="8" creationId="{C8340750-950D-BF55-FF50-81490D1073C1}"/>
          </ac:graphicFrameMkLst>
        </pc:graphicFrameChg>
      </pc:sldChg>
      <pc:sldChg chg="add">
        <pc:chgData name="Ravi Jain_7A" userId="f0b24fa1-fa0a-4582-9181-6debb2f9acb0" providerId="ADAL" clId="{B207EF1E-3D4F-44DD-894B-4FA35443F958}" dt="2025-09-17T03:02:16.045" v="992"/>
        <pc:sldMkLst>
          <pc:docMk/>
          <pc:sldMk cId="607029446" sldId="369"/>
        </pc:sldMkLst>
      </pc:sldChg>
      <pc:sldChg chg="addSp delSp modSp add del mod">
        <pc:chgData name="Ravi Jain_7A" userId="f0b24fa1-fa0a-4582-9181-6debb2f9acb0" providerId="ADAL" clId="{B207EF1E-3D4F-44DD-894B-4FA35443F958}" dt="2025-09-17T03:02:09.228" v="991" actId="2696"/>
        <pc:sldMkLst>
          <pc:docMk/>
          <pc:sldMk cId="773342212" sldId="370"/>
        </pc:sldMkLst>
        <pc:graphicFrameChg chg="add del mod modGraphic">
          <ac:chgData name="Ravi Jain_7A" userId="f0b24fa1-fa0a-4582-9181-6debb2f9acb0" providerId="ADAL" clId="{B207EF1E-3D4F-44DD-894B-4FA35443F958}" dt="2025-09-17T02:01:14.513" v="821" actId="478"/>
          <ac:graphicFrameMkLst>
            <pc:docMk/>
            <pc:sldMk cId="773342212" sldId="370"/>
            <ac:graphicFrameMk id="4" creationId="{3E55F5D9-FC86-C093-09A6-277AFACE44B6}"/>
          </ac:graphicFrameMkLst>
        </pc:graphicFrameChg>
        <pc:graphicFrameChg chg="add del mod modGraphic">
          <ac:chgData name="Ravi Jain_7A" userId="f0b24fa1-fa0a-4582-9181-6debb2f9acb0" providerId="ADAL" clId="{B207EF1E-3D4F-44DD-894B-4FA35443F958}" dt="2025-09-17T02:02:49.546" v="836" actId="478"/>
          <ac:graphicFrameMkLst>
            <pc:docMk/>
            <pc:sldMk cId="773342212" sldId="370"/>
            <ac:graphicFrameMk id="6" creationId="{4476E408-D2C9-AF1C-3E79-B2C88D008902}"/>
          </ac:graphicFrameMkLst>
        </pc:graphicFrameChg>
        <pc:graphicFrameChg chg="add del mod modGraphic">
          <ac:chgData name="Ravi Jain_7A" userId="f0b24fa1-fa0a-4582-9181-6debb2f9acb0" providerId="ADAL" clId="{B207EF1E-3D4F-44DD-894B-4FA35443F958}" dt="2025-09-17T02:11:54.477" v="852" actId="478"/>
          <ac:graphicFrameMkLst>
            <pc:docMk/>
            <pc:sldMk cId="773342212" sldId="370"/>
            <ac:graphicFrameMk id="7" creationId="{78926FA3-FDDB-55F2-4B40-EA4A405884C3}"/>
          </ac:graphicFrameMkLst>
        </pc:graphicFrameChg>
        <pc:graphicFrameChg chg="del">
          <ac:chgData name="Ravi Jain_7A" userId="f0b24fa1-fa0a-4582-9181-6debb2f9acb0" providerId="ADAL" clId="{B207EF1E-3D4F-44DD-894B-4FA35443F958}" dt="2025-09-17T01:58:25.168" v="815" actId="478"/>
          <ac:graphicFrameMkLst>
            <pc:docMk/>
            <pc:sldMk cId="773342212" sldId="370"/>
            <ac:graphicFrameMk id="8" creationId="{D53175F3-89A0-CDB1-50BB-A6B8F1D65BC7}"/>
          </ac:graphicFrameMkLst>
        </pc:graphicFrameChg>
        <pc:graphicFrameChg chg="add mod modGraphic">
          <ac:chgData name="Ravi Jain_7A" userId="f0b24fa1-fa0a-4582-9181-6debb2f9acb0" providerId="ADAL" clId="{B207EF1E-3D4F-44DD-894B-4FA35443F958}" dt="2025-09-17T02:21:25.422" v="860" actId="12385"/>
          <ac:graphicFrameMkLst>
            <pc:docMk/>
            <pc:sldMk cId="773342212" sldId="370"/>
            <ac:graphicFrameMk id="9" creationId="{E6EF0837-1F83-AC6A-E35F-210FFE5E1EEF}"/>
          </ac:graphicFrameMkLst>
        </pc:graphicFrameChg>
      </pc:sldChg>
      <pc:sldChg chg="add del">
        <pc:chgData name="Ravi Jain_7A" userId="f0b24fa1-fa0a-4582-9181-6debb2f9acb0" providerId="ADAL" clId="{B207EF1E-3D4F-44DD-894B-4FA35443F958}" dt="2025-09-17T05:37:15.577" v="1109" actId="47"/>
        <pc:sldMkLst>
          <pc:docMk/>
          <pc:sldMk cId="3862821240" sldId="370"/>
        </pc:sldMkLst>
      </pc:sldChg>
      <pc:sldChg chg="addSp delSp modSp add mod">
        <pc:chgData name="Ravi Jain_7A" userId="f0b24fa1-fa0a-4582-9181-6debb2f9acb0" providerId="ADAL" clId="{B207EF1E-3D4F-44DD-894B-4FA35443F958}" dt="2025-09-17T03:01:33.170" v="989" actId="478"/>
        <pc:sldMkLst>
          <pc:docMk/>
          <pc:sldMk cId="2157086747" sldId="371"/>
        </pc:sldMkLst>
        <pc:spChg chg="mod">
          <ac:chgData name="Ravi Jain_7A" userId="f0b24fa1-fa0a-4582-9181-6debb2f9acb0" providerId="ADAL" clId="{B207EF1E-3D4F-44DD-894B-4FA35443F958}" dt="2025-09-17T03:01:21.510" v="986" actId="20577"/>
          <ac:spMkLst>
            <pc:docMk/>
            <pc:sldMk cId="2157086747" sldId="371"/>
            <ac:spMk id="2" creationId="{ED9026CB-5A22-53A5-DBBF-98CC9710A940}"/>
          </ac:spMkLst>
        </pc:spChg>
        <pc:spChg chg="del">
          <ac:chgData name="Ravi Jain_7A" userId="f0b24fa1-fa0a-4582-9181-6debb2f9acb0" providerId="ADAL" clId="{B207EF1E-3D4F-44DD-894B-4FA35443F958}" dt="2025-09-17T03:01:29.206" v="988" actId="478"/>
          <ac:spMkLst>
            <pc:docMk/>
            <pc:sldMk cId="2157086747" sldId="371"/>
            <ac:spMk id="3" creationId="{7A52B42E-F5F7-E126-2DB0-D787AA836882}"/>
          </ac:spMkLst>
        </pc:spChg>
        <pc:spChg chg="del">
          <ac:chgData name="Ravi Jain_7A" userId="f0b24fa1-fa0a-4582-9181-6debb2f9acb0" providerId="ADAL" clId="{B207EF1E-3D4F-44DD-894B-4FA35443F958}" dt="2025-09-17T03:01:23.836" v="987" actId="478"/>
          <ac:spMkLst>
            <pc:docMk/>
            <pc:sldMk cId="2157086747" sldId="371"/>
            <ac:spMk id="4" creationId="{282F1427-4C20-F83E-85DB-9C93F8CB44AD}"/>
          </ac:spMkLst>
        </pc:spChg>
        <pc:spChg chg="add del mod">
          <ac:chgData name="Ravi Jain_7A" userId="f0b24fa1-fa0a-4582-9181-6debb2f9acb0" providerId="ADAL" clId="{B207EF1E-3D4F-44DD-894B-4FA35443F958}" dt="2025-09-17T03:01:33.170" v="989" actId="478"/>
          <ac:spMkLst>
            <pc:docMk/>
            <pc:sldMk cId="2157086747" sldId="371"/>
            <ac:spMk id="6" creationId="{249F9587-CB2E-F640-2E4B-73B944CAF12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Machine learning</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03F3-4A22-A1EB-51BA6752E584}"/>
                </c:ext>
              </c:extLst>
            </c:dLbl>
            <c:dLbl>
              <c:idx val="1"/>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03F3-4A22-A1EB-51BA6752E584}"/>
                </c:ext>
              </c:extLst>
            </c:dLbl>
            <c:dLbl>
              <c:idx val="2"/>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03F3-4A22-A1EB-51BA6752E584}"/>
                </c:ext>
              </c:extLst>
            </c:dLbl>
            <c:dLbl>
              <c:idx val="3"/>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03F3-4A22-A1EB-51BA6752E584}"/>
                </c:ext>
              </c:extLst>
            </c:dLbl>
            <c:dLbl>
              <c:idx val="4"/>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03F3-4A22-A1EB-51BA6752E584}"/>
                </c:ext>
              </c:extLst>
            </c:dLbl>
            <c:spPr>
              <a:noFill/>
              <a:ln>
                <a:noFill/>
              </a:ln>
              <a:effectLst/>
            </c:spPr>
            <c:txPr>
              <a:bodyPr/>
              <a:lstStyle/>
              <a:p>
                <a:pPr>
                  <a:defRPr sz="1100" b="0" smtId="4294967295">
                    <a:solidFill>
                      <a:srgbClr val="0F2741"/>
                    </a:solidFill>
                    <a:latin typeface="Open Sans"/>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Almost never</c:v>
                </c:pt>
                <c:pt idx="1">
                  <c:v>Rarely</c:v>
                </c:pt>
                <c:pt idx="2">
                  <c:v>Sometimes</c:v>
                </c:pt>
                <c:pt idx="3">
                  <c:v>Often</c:v>
                </c:pt>
                <c:pt idx="4">
                  <c:v>Almost always</c:v>
                </c:pt>
              </c:strCache>
            </c:strRef>
          </c:cat>
          <c:val>
            <c:numRef>
              <c:f>Sheet1!$B$2:$B$6</c:f>
              <c:numCache>
                <c:formatCode>General</c:formatCode>
                <c:ptCount val="5"/>
                <c:pt idx="0">
                  <c:v>0</c:v>
                </c:pt>
                <c:pt idx="1">
                  <c:v>0.25</c:v>
                </c:pt>
                <c:pt idx="2">
                  <c:v>0.4</c:v>
                </c:pt>
                <c:pt idx="3">
                  <c:v>0.2</c:v>
                </c:pt>
                <c:pt idx="4">
                  <c:v>0.15</c:v>
                </c:pt>
              </c:numCache>
            </c:numRef>
          </c:val>
          <c:extLst>
            <c:ext xmlns:c16="http://schemas.microsoft.com/office/drawing/2014/chart" uri="{C3380CC4-5D6E-409C-BE32-E72D297353CC}">
              <c16:uniqueId val="{00000005-03F3-4A22-A1EB-51BA6752E584}"/>
            </c:ext>
          </c:extLst>
        </c:ser>
        <c:ser>
          <c:idx val="1"/>
          <c:order val="1"/>
          <c:tx>
            <c:strRef>
              <c:f>Sheet1!$C$1</c:f>
              <c:strCache>
                <c:ptCount val="1"/>
                <c:pt idx="0">
                  <c:v>Gen AI</c:v>
                </c:pt>
              </c:strCache>
            </c:strRef>
          </c:tx>
          <c:spPr>
            <a:solidFill>
              <a:srgbClr val="0F283E"/>
            </a:solidFill>
            <a:ln>
              <a:solidFill>
                <a:srgbClr val="0F283E"/>
              </a:solidFill>
            </a:ln>
          </c:spPr>
          <c:invertIfNegative val="0"/>
          <c:dLbls>
            <c:dLbl>
              <c:idx val="0"/>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03F3-4A22-A1EB-51BA6752E584}"/>
                </c:ext>
              </c:extLst>
            </c:dLbl>
            <c:dLbl>
              <c:idx val="1"/>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03F3-4A22-A1EB-51BA6752E584}"/>
                </c:ext>
              </c:extLst>
            </c:dLbl>
            <c:dLbl>
              <c:idx val="2"/>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03F3-4A22-A1EB-51BA6752E584}"/>
                </c:ext>
              </c:extLst>
            </c:dLbl>
            <c:dLbl>
              <c:idx val="3"/>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03F3-4A22-A1EB-51BA6752E584}"/>
                </c:ext>
              </c:extLst>
            </c:dLbl>
            <c:dLbl>
              <c:idx val="4"/>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03F3-4A22-A1EB-51BA6752E584}"/>
                </c:ext>
              </c:extLst>
            </c:dLbl>
            <c:spPr>
              <a:noFill/>
              <a:ln>
                <a:noFill/>
              </a:ln>
              <a:effectLst/>
            </c:spPr>
            <c:txPr>
              <a:bodyPr/>
              <a:lstStyle/>
              <a:p>
                <a:pPr>
                  <a:defRPr sz="1100" b="0" smtId="4294967295">
                    <a:solidFill>
                      <a:srgbClr val="0F2741"/>
                    </a:solidFill>
                    <a:latin typeface="Open Sans"/>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Almost never</c:v>
                </c:pt>
                <c:pt idx="1">
                  <c:v>Rarely</c:v>
                </c:pt>
                <c:pt idx="2">
                  <c:v>Sometimes</c:v>
                </c:pt>
                <c:pt idx="3">
                  <c:v>Often</c:v>
                </c:pt>
                <c:pt idx="4">
                  <c:v>Almost always</c:v>
                </c:pt>
              </c:strCache>
            </c:strRef>
          </c:cat>
          <c:val>
            <c:numRef>
              <c:f>Sheet1!$C$2:$C$6</c:f>
              <c:numCache>
                <c:formatCode>General</c:formatCode>
                <c:ptCount val="5"/>
                <c:pt idx="0">
                  <c:v>0.05</c:v>
                </c:pt>
                <c:pt idx="1">
                  <c:v>0.55000000000000004</c:v>
                </c:pt>
                <c:pt idx="2">
                  <c:v>0.2</c:v>
                </c:pt>
                <c:pt idx="3">
                  <c:v>0.2</c:v>
                </c:pt>
                <c:pt idx="4">
                  <c:v>0</c:v>
                </c:pt>
              </c:numCache>
            </c:numRef>
          </c:val>
          <c:extLst>
            <c:ext xmlns:c16="http://schemas.microsoft.com/office/drawing/2014/chart" uri="{C3380CC4-5D6E-409C-BE32-E72D297353CC}">
              <c16:uniqueId val="{0000000B-03F3-4A22-A1EB-51BA6752E584}"/>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en-US"/>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lang="en-IN"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en-US"/>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en-US"/>
        </a:p>
      </c:txPr>
    </c:legend>
    <c:plotVisOnly val="1"/>
    <c:dispBlanksAs val="gap"/>
    <c:showDLblsOverMax val="1"/>
  </c:chart>
  <c:txPr>
    <a:bodyPr/>
    <a:lstStyle/>
    <a:p>
      <a:pPr>
        <a:defRPr sz="1800" smtId="4294967295"/>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Machine learning</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03F3-4A22-A1EB-51BA6752E584}"/>
                </c:ext>
              </c:extLst>
            </c:dLbl>
            <c:dLbl>
              <c:idx val="1"/>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03F3-4A22-A1EB-51BA6752E584}"/>
                </c:ext>
              </c:extLst>
            </c:dLbl>
            <c:dLbl>
              <c:idx val="2"/>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03F3-4A22-A1EB-51BA6752E584}"/>
                </c:ext>
              </c:extLst>
            </c:dLbl>
            <c:dLbl>
              <c:idx val="3"/>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03F3-4A22-A1EB-51BA6752E584}"/>
                </c:ext>
              </c:extLst>
            </c:dLbl>
            <c:dLbl>
              <c:idx val="4"/>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03F3-4A22-A1EB-51BA6752E584}"/>
                </c:ext>
              </c:extLst>
            </c:dLbl>
            <c:spPr>
              <a:noFill/>
              <a:ln>
                <a:noFill/>
              </a:ln>
              <a:effectLst/>
            </c:spPr>
            <c:txPr>
              <a:bodyPr/>
              <a:lstStyle/>
              <a:p>
                <a:pPr>
                  <a:defRPr sz="1100" b="0" smtId="4294967295">
                    <a:solidFill>
                      <a:srgbClr val="0F2741"/>
                    </a:solidFill>
                    <a:latin typeface="Open Sans"/>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Almost never</c:v>
                </c:pt>
                <c:pt idx="1">
                  <c:v>Rarely</c:v>
                </c:pt>
                <c:pt idx="2">
                  <c:v>Sometimes</c:v>
                </c:pt>
                <c:pt idx="3">
                  <c:v>Often</c:v>
                </c:pt>
                <c:pt idx="4">
                  <c:v>Almost always</c:v>
                </c:pt>
              </c:strCache>
            </c:strRef>
          </c:cat>
          <c:val>
            <c:numRef>
              <c:f>Sheet1!$B$2:$B$6</c:f>
              <c:numCache>
                <c:formatCode>General</c:formatCode>
                <c:ptCount val="5"/>
                <c:pt idx="0">
                  <c:v>0</c:v>
                </c:pt>
                <c:pt idx="1">
                  <c:v>0.25</c:v>
                </c:pt>
                <c:pt idx="2">
                  <c:v>0.4</c:v>
                </c:pt>
                <c:pt idx="3">
                  <c:v>0.2</c:v>
                </c:pt>
                <c:pt idx="4">
                  <c:v>0.15</c:v>
                </c:pt>
              </c:numCache>
            </c:numRef>
          </c:val>
          <c:extLst>
            <c:ext xmlns:c16="http://schemas.microsoft.com/office/drawing/2014/chart" uri="{C3380CC4-5D6E-409C-BE32-E72D297353CC}">
              <c16:uniqueId val="{00000005-03F3-4A22-A1EB-51BA6752E584}"/>
            </c:ext>
          </c:extLst>
        </c:ser>
        <c:ser>
          <c:idx val="1"/>
          <c:order val="1"/>
          <c:tx>
            <c:strRef>
              <c:f>Sheet1!$C$1</c:f>
              <c:strCache>
                <c:ptCount val="1"/>
                <c:pt idx="0">
                  <c:v>Gen AI</c:v>
                </c:pt>
              </c:strCache>
            </c:strRef>
          </c:tx>
          <c:spPr>
            <a:solidFill>
              <a:srgbClr val="0F283E"/>
            </a:solidFill>
            <a:ln>
              <a:solidFill>
                <a:srgbClr val="0F283E"/>
              </a:solidFill>
            </a:ln>
          </c:spPr>
          <c:invertIfNegative val="0"/>
          <c:dLbls>
            <c:dLbl>
              <c:idx val="0"/>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03F3-4A22-A1EB-51BA6752E584}"/>
                </c:ext>
              </c:extLst>
            </c:dLbl>
            <c:dLbl>
              <c:idx val="1"/>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03F3-4A22-A1EB-51BA6752E584}"/>
                </c:ext>
              </c:extLst>
            </c:dLbl>
            <c:dLbl>
              <c:idx val="2"/>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03F3-4A22-A1EB-51BA6752E584}"/>
                </c:ext>
              </c:extLst>
            </c:dLbl>
            <c:dLbl>
              <c:idx val="3"/>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03F3-4A22-A1EB-51BA6752E584}"/>
                </c:ext>
              </c:extLst>
            </c:dLbl>
            <c:dLbl>
              <c:idx val="4"/>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03F3-4A22-A1EB-51BA6752E584}"/>
                </c:ext>
              </c:extLst>
            </c:dLbl>
            <c:spPr>
              <a:noFill/>
              <a:ln>
                <a:noFill/>
              </a:ln>
              <a:effectLst/>
            </c:spPr>
            <c:txPr>
              <a:bodyPr/>
              <a:lstStyle/>
              <a:p>
                <a:pPr>
                  <a:defRPr sz="1100" b="0" smtId="4294967295">
                    <a:solidFill>
                      <a:srgbClr val="0F2741"/>
                    </a:solidFill>
                    <a:latin typeface="Open Sans"/>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Almost never</c:v>
                </c:pt>
                <c:pt idx="1">
                  <c:v>Rarely</c:v>
                </c:pt>
                <c:pt idx="2">
                  <c:v>Sometimes</c:v>
                </c:pt>
                <c:pt idx="3">
                  <c:v>Often</c:v>
                </c:pt>
                <c:pt idx="4">
                  <c:v>Almost always</c:v>
                </c:pt>
              </c:strCache>
            </c:strRef>
          </c:cat>
          <c:val>
            <c:numRef>
              <c:f>Sheet1!$C$2:$C$6</c:f>
              <c:numCache>
                <c:formatCode>General</c:formatCode>
                <c:ptCount val="5"/>
                <c:pt idx="0">
                  <c:v>0.05</c:v>
                </c:pt>
                <c:pt idx="1">
                  <c:v>0.55000000000000004</c:v>
                </c:pt>
                <c:pt idx="2">
                  <c:v>0.2</c:v>
                </c:pt>
                <c:pt idx="3">
                  <c:v>0.2</c:v>
                </c:pt>
                <c:pt idx="4">
                  <c:v>0</c:v>
                </c:pt>
              </c:numCache>
            </c:numRef>
          </c:val>
          <c:extLst>
            <c:ext xmlns:c16="http://schemas.microsoft.com/office/drawing/2014/chart" uri="{C3380CC4-5D6E-409C-BE32-E72D297353CC}">
              <c16:uniqueId val="{0000000B-03F3-4A22-A1EB-51BA6752E584}"/>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en-US"/>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lang="en-IN"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en-US"/>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en-US"/>
        </a:p>
      </c:txPr>
    </c:legend>
    <c:plotVisOnly val="1"/>
    <c:dispBlanksAs val="gap"/>
    <c:showDLblsOverMax val="1"/>
  </c:chart>
  <c:txPr>
    <a:bodyPr/>
    <a:lstStyle/>
    <a:p>
      <a:pPr>
        <a:defRPr sz="1800" smtId="4294967295"/>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Machine learning</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2D2B-4A49-A318-FF0670CF3FD8}"/>
                </c:ext>
              </c:extLst>
            </c:dLbl>
            <c:dLbl>
              <c:idx val="1"/>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D2B-4A49-A318-FF0670CF3FD8}"/>
                </c:ext>
              </c:extLst>
            </c:dLbl>
            <c:dLbl>
              <c:idx val="2"/>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2D2B-4A49-A318-FF0670CF3FD8}"/>
                </c:ext>
              </c:extLst>
            </c:dLbl>
            <c:dLbl>
              <c:idx val="3"/>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2D2B-4A49-A318-FF0670CF3FD8}"/>
                </c:ext>
              </c:extLst>
            </c:dLbl>
            <c:dLbl>
              <c:idx val="4"/>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2D2B-4A49-A318-FF0670CF3FD8}"/>
                </c:ext>
              </c:extLst>
            </c:dLbl>
            <c:spPr>
              <a:noFill/>
              <a:ln>
                <a:noFill/>
              </a:ln>
              <a:effectLst/>
            </c:spPr>
            <c:txPr>
              <a:bodyPr/>
              <a:lstStyle/>
              <a:p>
                <a:pPr>
                  <a:defRPr sz="1100" b="0" smtId="4294967295">
                    <a:solidFill>
                      <a:srgbClr val="0F2741"/>
                    </a:solidFill>
                    <a:latin typeface="Open Sans"/>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Almost never</c:v>
                </c:pt>
                <c:pt idx="1">
                  <c:v>Rarely</c:v>
                </c:pt>
                <c:pt idx="2">
                  <c:v>Sometimes</c:v>
                </c:pt>
                <c:pt idx="3">
                  <c:v>Often</c:v>
                </c:pt>
                <c:pt idx="4">
                  <c:v>Almost always</c:v>
                </c:pt>
              </c:strCache>
            </c:strRef>
          </c:cat>
          <c:val>
            <c:numRef>
              <c:f>Sheet1!$B$2:$B$6</c:f>
              <c:numCache>
                <c:formatCode>General</c:formatCode>
                <c:ptCount val="5"/>
                <c:pt idx="0">
                  <c:v>0</c:v>
                </c:pt>
                <c:pt idx="1">
                  <c:v>0.25</c:v>
                </c:pt>
                <c:pt idx="2">
                  <c:v>0.4</c:v>
                </c:pt>
                <c:pt idx="3">
                  <c:v>0.2</c:v>
                </c:pt>
                <c:pt idx="4">
                  <c:v>0.15</c:v>
                </c:pt>
              </c:numCache>
            </c:numRef>
          </c:val>
          <c:extLst>
            <c:ext xmlns:c16="http://schemas.microsoft.com/office/drawing/2014/chart" uri="{C3380CC4-5D6E-409C-BE32-E72D297353CC}">
              <c16:uniqueId val="{00000005-2D2B-4A49-A318-FF0670CF3FD8}"/>
            </c:ext>
          </c:extLst>
        </c:ser>
        <c:ser>
          <c:idx val="1"/>
          <c:order val="1"/>
          <c:tx>
            <c:strRef>
              <c:f>Sheet1!$C$1</c:f>
              <c:strCache>
                <c:ptCount val="1"/>
                <c:pt idx="0">
                  <c:v>Gen AI</c:v>
                </c:pt>
              </c:strCache>
            </c:strRef>
          </c:tx>
          <c:spPr>
            <a:solidFill>
              <a:srgbClr val="0F283E"/>
            </a:solidFill>
            <a:ln>
              <a:solidFill>
                <a:srgbClr val="0F283E"/>
              </a:solidFill>
            </a:ln>
          </c:spPr>
          <c:invertIfNegative val="0"/>
          <c:dLbls>
            <c:dLbl>
              <c:idx val="0"/>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2D2B-4A49-A318-FF0670CF3FD8}"/>
                </c:ext>
              </c:extLst>
            </c:dLbl>
            <c:dLbl>
              <c:idx val="1"/>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2D2B-4A49-A318-FF0670CF3FD8}"/>
                </c:ext>
              </c:extLst>
            </c:dLbl>
            <c:dLbl>
              <c:idx val="2"/>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2D2B-4A49-A318-FF0670CF3FD8}"/>
                </c:ext>
              </c:extLst>
            </c:dLbl>
            <c:dLbl>
              <c:idx val="3"/>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2D2B-4A49-A318-FF0670CF3FD8}"/>
                </c:ext>
              </c:extLst>
            </c:dLbl>
            <c:dLbl>
              <c:idx val="4"/>
              <c:numFmt formatCode="#,##0%" sourceLinked="0"/>
              <c:spPr/>
              <c:txPr>
                <a:bodyPr/>
                <a:lstStyle/>
                <a:p>
                  <a:pPr>
                    <a:defRPr sz="1100" b="0" smtId="4294967295">
                      <a:solidFill>
                        <a:srgbClr val="0F2741"/>
                      </a:solidFill>
                      <a:latin typeface="Open Sans"/>
                    </a:defRPr>
                  </a:pPr>
                  <a:endParaRPr lang="en-US"/>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2D2B-4A49-A318-FF0670CF3FD8}"/>
                </c:ext>
              </c:extLst>
            </c:dLbl>
            <c:spPr>
              <a:noFill/>
              <a:ln>
                <a:noFill/>
              </a:ln>
              <a:effectLst/>
            </c:spPr>
            <c:txPr>
              <a:bodyPr/>
              <a:lstStyle/>
              <a:p>
                <a:pPr>
                  <a:defRPr sz="1100" b="0" smtId="4294967295">
                    <a:solidFill>
                      <a:srgbClr val="0F2741"/>
                    </a:solidFill>
                    <a:latin typeface="Open Sans"/>
                  </a:defRPr>
                </a:pPr>
                <a:endParaRPr lang="en-US"/>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Almost never</c:v>
                </c:pt>
                <c:pt idx="1">
                  <c:v>Rarely</c:v>
                </c:pt>
                <c:pt idx="2">
                  <c:v>Sometimes</c:v>
                </c:pt>
                <c:pt idx="3">
                  <c:v>Often</c:v>
                </c:pt>
                <c:pt idx="4">
                  <c:v>Almost always</c:v>
                </c:pt>
              </c:strCache>
            </c:strRef>
          </c:cat>
          <c:val>
            <c:numRef>
              <c:f>Sheet1!$C$2:$C$6</c:f>
              <c:numCache>
                <c:formatCode>General</c:formatCode>
                <c:ptCount val="5"/>
                <c:pt idx="0">
                  <c:v>0.05</c:v>
                </c:pt>
                <c:pt idx="1">
                  <c:v>0.55000000000000004</c:v>
                </c:pt>
                <c:pt idx="2">
                  <c:v>0.2</c:v>
                </c:pt>
                <c:pt idx="3">
                  <c:v>0.2</c:v>
                </c:pt>
                <c:pt idx="4">
                  <c:v>0</c:v>
                </c:pt>
              </c:numCache>
            </c:numRef>
          </c:val>
          <c:extLst>
            <c:ext xmlns:c16="http://schemas.microsoft.com/office/drawing/2014/chart" uri="{C3380CC4-5D6E-409C-BE32-E72D297353CC}">
              <c16:uniqueId val="{0000000B-2D2B-4A49-A318-FF0670CF3FD8}"/>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en-US"/>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lang="en-IN"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en-US"/>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en-US"/>
        </a:p>
      </c:txPr>
    </c:legend>
    <c:plotVisOnly val="1"/>
    <c:dispBlanksAs val="gap"/>
    <c:showDLblsOverMax val="1"/>
  </c:chart>
  <c:txPr>
    <a:bodyPr/>
    <a:lstStyle/>
    <a:p>
      <a:pPr>
        <a:defRPr sz="1800" smtId="4294967295"/>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803ED3-46C9-48BD-B349-CA99F6AFFFEC}" type="doc">
      <dgm:prSet loTypeId="urn:microsoft.com/office/officeart/2005/8/layout/process1" loCatId="process" qsTypeId="urn:microsoft.com/office/officeart/2005/8/quickstyle/simple1" qsCatId="simple" csTypeId="urn:microsoft.com/office/officeart/2005/8/colors/accent0_1" csCatId="mainScheme" phldr="1"/>
      <dgm:spPr/>
    </dgm:pt>
    <dgm:pt modelId="{7B464BA7-C3CB-4654-AE2F-E7432E8B579A}">
      <dgm:prSet phldrT="[Text]" custT="1"/>
      <dgm:spPr/>
      <dgm:t>
        <a:bodyPr/>
        <a:lstStyle/>
        <a:p>
          <a:pPr>
            <a:buNone/>
          </a:pPr>
          <a:r>
            <a:rPr lang="en-US" sz="1100" b="1" dirty="0">
              <a:latin typeface="Times New Roman" panose="02020603050405020304" pitchFamily="18" charset="0"/>
              <a:cs typeface="Times New Roman" panose="02020603050405020304" pitchFamily="18" charset="0"/>
            </a:rPr>
            <a:t>1968 / 1994</a:t>
          </a:r>
          <a:br>
            <a:rPr lang="en-US" sz="1100" dirty="0">
              <a:latin typeface="Times New Roman" panose="02020603050405020304" pitchFamily="18" charset="0"/>
              <a:cs typeface="Times New Roman" panose="02020603050405020304" pitchFamily="18" charset="0"/>
            </a:rPr>
          </a:br>
          <a:r>
            <a:rPr lang="en-US" sz="1100" i="1" dirty="0">
              <a:latin typeface="Times New Roman" panose="02020603050405020304" pitchFamily="18" charset="0"/>
              <a:cs typeface="Times New Roman" panose="02020603050405020304" pitchFamily="18" charset="0"/>
            </a:rPr>
            <a:t>Foundations: Statistical methods (Altman)</a:t>
          </a:r>
          <a:endParaRPr lang="en-IN" sz="1100" dirty="0">
            <a:latin typeface="Times New Roman" panose="02020603050405020304" pitchFamily="18" charset="0"/>
            <a:cs typeface="Times New Roman" panose="02020603050405020304" pitchFamily="18" charset="0"/>
          </a:endParaRPr>
        </a:p>
      </dgm:t>
    </dgm:pt>
    <dgm:pt modelId="{2C8D4B32-F126-4F0C-BC23-6B05AEF22ECF}" type="parTrans" cxnId="{E0956F3C-A655-4737-BB3F-17DDEF374A7D}">
      <dgm:prSet/>
      <dgm:spPr/>
      <dgm:t>
        <a:bodyPr/>
        <a:lstStyle/>
        <a:p>
          <a:endParaRPr lang="en-IN" sz="1400">
            <a:latin typeface="Times New Roman" panose="02020603050405020304" pitchFamily="18" charset="0"/>
            <a:cs typeface="Times New Roman" panose="02020603050405020304" pitchFamily="18" charset="0"/>
          </a:endParaRPr>
        </a:p>
      </dgm:t>
    </dgm:pt>
    <dgm:pt modelId="{9D7309C2-7897-4C6B-9A99-843156C44883}" type="sibTrans" cxnId="{E0956F3C-A655-4737-BB3F-17DDEF374A7D}">
      <dgm:prSet custT="1"/>
      <dgm:spPr/>
      <dgm:t>
        <a:bodyPr/>
        <a:lstStyle/>
        <a:p>
          <a:endParaRPr lang="en-IN" sz="1000">
            <a:latin typeface="Times New Roman" panose="02020603050405020304" pitchFamily="18" charset="0"/>
            <a:cs typeface="Times New Roman" panose="02020603050405020304" pitchFamily="18" charset="0"/>
          </a:endParaRPr>
        </a:p>
      </dgm:t>
    </dgm:pt>
    <dgm:pt modelId="{95983D5B-B27D-4E48-ADEC-2980ABBCEBEE}">
      <dgm:prSet custT="1"/>
      <dgm:spPr/>
      <dgm:t>
        <a:bodyPr/>
        <a:lstStyle/>
        <a:p>
          <a:pPr>
            <a:buNone/>
          </a:pPr>
          <a:r>
            <a:rPr lang="en-US" sz="1100" b="1" dirty="0">
              <a:latin typeface="Times New Roman" panose="02020603050405020304" pitchFamily="18" charset="0"/>
              <a:cs typeface="Times New Roman" panose="02020603050405020304" pitchFamily="18" charset="0"/>
            </a:rPr>
            <a:t>2003 / 2009</a:t>
          </a:r>
          <a:br>
            <a:rPr lang="en-US" sz="1100" dirty="0">
              <a:latin typeface="Times New Roman" panose="02020603050405020304" pitchFamily="18" charset="0"/>
              <a:cs typeface="Times New Roman" panose="02020603050405020304" pitchFamily="18" charset="0"/>
            </a:rPr>
          </a:br>
          <a:r>
            <a:rPr lang="en-US" sz="1100" i="1" dirty="0">
              <a:latin typeface="Times New Roman" panose="02020603050405020304" pitchFamily="18" charset="0"/>
              <a:cs typeface="Times New Roman" panose="02020603050405020304" pitchFamily="18" charset="0"/>
            </a:rPr>
            <a:t>Early ML: SVM, RF (</a:t>
          </a:r>
          <a:r>
            <a:rPr lang="en-US" sz="1100" i="1" dirty="0" err="1">
              <a:latin typeface="Times New Roman" panose="02020603050405020304" pitchFamily="18" charset="0"/>
              <a:cs typeface="Times New Roman" panose="02020603050405020304" pitchFamily="18" charset="0"/>
            </a:rPr>
            <a:t>Baesens</a:t>
          </a:r>
          <a:r>
            <a:rPr lang="en-US" sz="1100" i="1" dirty="0">
              <a:latin typeface="Times New Roman" panose="02020603050405020304" pitchFamily="18" charset="0"/>
              <a:cs typeface="Times New Roman" panose="02020603050405020304" pitchFamily="18" charset="0"/>
            </a:rPr>
            <a:t>; Bellotti &amp; Crook)</a:t>
          </a:r>
          <a:endParaRPr lang="en-US" sz="1100" dirty="0">
            <a:latin typeface="Times New Roman" panose="02020603050405020304" pitchFamily="18" charset="0"/>
            <a:cs typeface="Times New Roman" panose="02020603050405020304" pitchFamily="18" charset="0"/>
          </a:endParaRPr>
        </a:p>
      </dgm:t>
    </dgm:pt>
    <dgm:pt modelId="{261A40F2-A3C6-45A9-876B-BDDA0C5D323C}" type="parTrans" cxnId="{7CA66551-041D-4C92-AB52-2A19A2B85127}">
      <dgm:prSet/>
      <dgm:spPr/>
      <dgm:t>
        <a:bodyPr/>
        <a:lstStyle/>
        <a:p>
          <a:endParaRPr lang="en-IN" sz="1400">
            <a:latin typeface="Times New Roman" panose="02020603050405020304" pitchFamily="18" charset="0"/>
            <a:cs typeface="Times New Roman" panose="02020603050405020304" pitchFamily="18" charset="0"/>
          </a:endParaRPr>
        </a:p>
      </dgm:t>
    </dgm:pt>
    <dgm:pt modelId="{0A6FED62-E31A-41FF-9AAA-8FCF69FA4767}" type="sibTrans" cxnId="{7CA66551-041D-4C92-AB52-2A19A2B85127}">
      <dgm:prSet custT="1"/>
      <dgm:spPr/>
      <dgm:t>
        <a:bodyPr/>
        <a:lstStyle/>
        <a:p>
          <a:endParaRPr lang="en-IN" sz="1000">
            <a:latin typeface="Times New Roman" panose="02020603050405020304" pitchFamily="18" charset="0"/>
            <a:cs typeface="Times New Roman" panose="02020603050405020304" pitchFamily="18" charset="0"/>
          </a:endParaRPr>
        </a:p>
      </dgm:t>
    </dgm:pt>
    <dgm:pt modelId="{B3EB64BC-83EA-4169-AD1F-81FA1F5FB1CD}">
      <dgm:prSet custT="1"/>
      <dgm:spPr/>
      <dgm:t>
        <a:bodyPr/>
        <a:lstStyle/>
        <a:p>
          <a:pPr>
            <a:buNone/>
          </a:pPr>
          <a:r>
            <a:rPr lang="en-US" sz="1100" b="1" dirty="0">
              <a:latin typeface="Times New Roman" panose="02020603050405020304" pitchFamily="18" charset="0"/>
              <a:cs typeface="Times New Roman" panose="02020603050405020304" pitchFamily="18" charset="0"/>
            </a:rPr>
            <a:t>2010 / 2015</a:t>
          </a:r>
          <a:br>
            <a:rPr lang="en-US" sz="1100" dirty="0">
              <a:latin typeface="Times New Roman" panose="02020603050405020304" pitchFamily="18" charset="0"/>
              <a:cs typeface="Times New Roman" panose="02020603050405020304" pitchFamily="18" charset="0"/>
            </a:rPr>
          </a:br>
          <a:r>
            <a:rPr lang="en-US" sz="1100" i="1" dirty="0">
              <a:latin typeface="Times New Roman" panose="02020603050405020304" pitchFamily="18" charset="0"/>
              <a:cs typeface="Times New Roman" panose="02020603050405020304" pitchFamily="18" charset="0"/>
            </a:rPr>
            <a:t>Ensembles &amp; Benchmarks: Decision trees (</a:t>
          </a:r>
          <a:r>
            <a:rPr lang="en-US" sz="1100" i="1" dirty="0" err="1">
              <a:latin typeface="Times New Roman" panose="02020603050405020304" pitchFamily="18" charset="0"/>
              <a:cs typeface="Times New Roman" panose="02020603050405020304" pitchFamily="18" charset="0"/>
            </a:rPr>
            <a:t>Khandani</a:t>
          </a:r>
          <a:r>
            <a:rPr lang="en-US" sz="1100" i="1" dirty="0">
              <a:latin typeface="Times New Roman" panose="02020603050405020304" pitchFamily="18" charset="0"/>
              <a:cs typeface="Times New Roman" panose="02020603050405020304" pitchFamily="18" charset="0"/>
            </a:rPr>
            <a:t>; Lessmann)</a:t>
          </a:r>
          <a:endParaRPr lang="en-US" sz="1100" dirty="0">
            <a:latin typeface="Times New Roman" panose="02020603050405020304" pitchFamily="18" charset="0"/>
            <a:cs typeface="Times New Roman" panose="02020603050405020304" pitchFamily="18" charset="0"/>
          </a:endParaRPr>
        </a:p>
      </dgm:t>
    </dgm:pt>
    <dgm:pt modelId="{F7747549-8F75-4AB4-80A4-6A93822C815C}" type="parTrans" cxnId="{3A9ADCDE-F299-412B-98F8-FE0654627296}">
      <dgm:prSet/>
      <dgm:spPr/>
      <dgm:t>
        <a:bodyPr/>
        <a:lstStyle/>
        <a:p>
          <a:endParaRPr lang="en-IN" sz="1400">
            <a:latin typeface="Times New Roman" panose="02020603050405020304" pitchFamily="18" charset="0"/>
            <a:cs typeface="Times New Roman" panose="02020603050405020304" pitchFamily="18" charset="0"/>
          </a:endParaRPr>
        </a:p>
      </dgm:t>
    </dgm:pt>
    <dgm:pt modelId="{E6CDC40F-FA71-4127-B3C2-79895CC325A8}" type="sibTrans" cxnId="{3A9ADCDE-F299-412B-98F8-FE0654627296}">
      <dgm:prSet custT="1"/>
      <dgm:spPr/>
      <dgm:t>
        <a:bodyPr/>
        <a:lstStyle/>
        <a:p>
          <a:endParaRPr lang="en-IN" sz="1000">
            <a:latin typeface="Times New Roman" panose="02020603050405020304" pitchFamily="18" charset="0"/>
            <a:cs typeface="Times New Roman" panose="02020603050405020304" pitchFamily="18" charset="0"/>
          </a:endParaRPr>
        </a:p>
      </dgm:t>
    </dgm:pt>
    <dgm:pt modelId="{DE7ADADC-E3A8-4A91-87A1-F3306E05F398}">
      <dgm:prSet custT="1"/>
      <dgm:spPr/>
      <dgm:t>
        <a:bodyPr/>
        <a:lstStyle/>
        <a:p>
          <a:pPr>
            <a:buNone/>
          </a:pPr>
          <a:r>
            <a:rPr lang="en-IN" sz="1100" b="1">
              <a:latin typeface="Times New Roman" panose="02020603050405020304" pitchFamily="18" charset="0"/>
              <a:cs typeface="Times New Roman" panose="02020603050405020304" pitchFamily="18" charset="0"/>
            </a:rPr>
            <a:t>2016 / 2022</a:t>
          </a:r>
          <a:br>
            <a:rPr lang="en-IN" sz="1100">
              <a:latin typeface="Times New Roman" panose="02020603050405020304" pitchFamily="18" charset="0"/>
              <a:cs typeface="Times New Roman" panose="02020603050405020304" pitchFamily="18" charset="0"/>
            </a:rPr>
          </a:br>
          <a:r>
            <a:rPr lang="en-IN" sz="1100" i="1">
              <a:latin typeface="Times New Roman" panose="02020603050405020304" pitchFamily="18" charset="0"/>
              <a:cs typeface="Times New Roman" panose="02020603050405020304" pitchFamily="18" charset="0"/>
            </a:rPr>
            <a:t>Hybrid &amp; Fairness: Logit + Trees, Gradient boosting + fairness (Louzada; Kozodoi)</a:t>
          </a:r>
          <a:endParaRPr lang="en-IN" sz="1100">
            <a:latin typeface="Times New Roman" panose="02020603050405020304" pitchFamily="18" charset="0"/>
            <a:cs typeface="Times New Roman" panose="02020603050405020304" pitchFamily="18" charset="0"/>
          </a:endParaRPr>
        </a:p>
      </dgm:t>
    </dgm:pt>
    <dgm:pt modelId="{5C143E2B-E876-4308-8B26-DDA7AF81AA65}" type="parTrans" cxnId="{8AB4EAB1-97A2-4C10-B14E-0EF135A9925D}">
      <dgm:prSet/>
      <dgm:spPr/>
      <dgm:t>
        <a:bodyPr/>
        <a:lstStyle/>
        <a:p>
          <a:endParaRPr lang="en-IN" sz="1400">
            <a:latin typeface="Times New Roman" panose="02020603050405020304" pitchFamily="18" charset="0"/>
            <a:cs typeface="Times New Roman" panose="02020603050405020304" pitchFamily="18" charset="0"/>
          </a:endParaRPr>
        </a:p>
      </dgm:t>
    </dgm:pt>
    <dgm:pt modelId="{54675446-BFBE-4AF3-82DD-3B2F1922CF74}" type="sibTrans" cxnId="{8AB4EAB1-97A2-4C10-B14E-0EF135A9925D}">
      <dgm:prSet custT="1"/>
      <dgm:spPr/>
      <dgm:t>
        <a:bodyPr/>
        <a:lstStyle/>
        <a:p>
          <a:endParaRPr lang="en-IN" sz="1000">
            <a:latin typeface="Times New Roman" panose="02020603050405020304" pitchFamily="18" charset="0"/>
            <a:cs typeface="Times New Roman" panose="02020603050405020304" pitchFamily="18" charset="0"/>
          </a:endParaRPr>
        </a:p>
      </dgm:t>
    </dgm:pt>
    <dgm:pt modelId="{946AB93D-D196-4A61-AA32-E6DC26EAC846}">
      <dgm:prSet custT="1"/>
      <dgm:spPr/>
      <dgm:t>
        <a:bodyPr/>
        <a:lstStyle/>
        <a:p>
          <a:pPr>
            <a:buNone/>
          </a:pPr>
          <a:r>
            <a:rPr lang="en-US" sz="1100" b="1" dirty="0">
              <a:latin typeface="Times New Roman" panose="02020603050405020304" pitchFamily="18" charset="0"/>
              <a:cs typeface="Times New Roman" panose="02020603050405020304" pitchFamily="18" charset="0"/>
            </a:rPr>
            <a:t>2023 / 2024</a:t>
          </a:r>
          <a:br>
            <a:rPr lang="en-US" sz="1100" dirty="0">
              <a:latin typeface="Times New Roman" panose="02020603050405020304" pitchFamily="18" charset="0"/>
              <a:cs typeface="Times New Roman" panose="02020603050405020304" pitchFamily="18" charset="0"/>
            </a:rPr>
          </a:br>
          <a:r>
            <a:rPr lang="en-US" sz="1100" i="1" dirty="0">
              <a:latin typeface="Times New Roman" panose="02020603050405020304" pitchFamily="18" charset="0"/>
              <a:cs typeface="Times New Roman" panose="02020603050405020304" pitchFamily="18" charset="0"/>
            </a:rPr>
            <a:t>Deep Learning &amp; Transformers: DL frameworks (</a:t>
          </a:r>
          <a:r>
            <a:rPr lang="en-US" sz="1100" i="1" dirty="0" err="1">
              <a:latin typeface="Times New Roman" panose="02020603050405020304" pitchFamily="18" charset="0"/>
              <a:cs typeface="Times New Roman" panose="02020603050405020304" pitchFamily="18" charset="0"/>
            </a:rPr>
            <a:t>DeRisk</a:t>
          </a:r>
          <a:r>
            <a:rPr lang="en-US" sz="1100" i="1" dirty="0">
              <a:latin typeface="Times New Roman" panose="02020603050405020304" pitchFamily="18" charset="0"/>
              <a:cs typeface="Times New Roman" panose="02020603050405020304" pitchFamily="18" charset="0"/>
            </a:rPr>
            <a:t>; Transformer Study)</a:t>
          </a:r>
          <a:endParaRPr lang="en-US" sz="1100" dirty="0">
            <a:latin typeface="Times New Roman" panose="02020603050405020304" pitchFamily="18" charset="0"/>
            <a:cs typeface="Times New Roman" panose="02020603050405020304" pitchFamily="18" charset="0"/>
          </a:endParaRPr>
        </a:p>
      </dgm:t>
    </dgm:pt>
    <dgm:pt modelId="{589D694C-FB7C-4915-B3E7-73D1411EDAE5}" type="parTrans" cxnId="{3BA57F3B-CF09-4C5E-A7F0-6A7A31DCC6B1}">
      <dgm:prSet/>
      <dgm:spPr/>
      <dgm:t>
        <a:bodyPr/>
        <a:lstStyle/>
        <a:p>
          <a:endParaRPr lang="en-IN" sz="1400">
            <a:latin typeface="Times New Roman" panose="02020603050405020304" pitchFamily="18" charset="0"/>
            <a:cs typeface="Times New Roman" panose="02020603050405020304" pitchFamily="18" charset="0"/>
          </a:endParaRPr>
        </a:p>
      </dgm:t>
    </dgm:pt>
    <dgm:pt modelId="{DC1FA520-50C9-4CBA-B13D-5D7568BF785B}" type="sibTrans" cxnId="{3BA57F3B-CF09-4C5E-A7F0-6A7A31DCC6B1}">
      <dgm:prSet/>
      <dgm:spPr/>
      <dgm:t>
        <a:bodyPr/>
        <a:lstStyle/>
        <a:p>
          <a:endParaRPr lang="en-IN" sz="1400">
            <a:latin typeface="Times New Roman" panose="02020603050405020304" pitchFamily="18" charset="0"/>
            <a:cs typeface="Times New Roman" panose="02020603050405020304" pitchFamily="18" charset="0"/>
          </a:endParaRPr>
        </a:p>
      </dgm:t>
    </dgm:pt>
    <dgm:pt modelId="{B3BFB9BD-FF19-47DB-8334-0882577F231D}" type="pres">
      <dgm:prSet presAssocID="{7D803ED3-46C9-48BD-B349-CA99F6AFFFEC}" presName="Name0" presStyleCnt="0">
        <dgm:presLayoutVars>
          <dgm:dir/>
          <dgm:resizeHandles val="exact"/>
        </dgm:presLayoutVars>
      </dgm:prSet>
      <dgm:spPr/>
    </dgm:pt>
    <dgm:pt modelId="{0F45DEEB-0C29-4CBD-961E-9EBA0C0424BE}" type="pres">
      <dgm:prSet presAssocID="{7B464BA7-C3CB-4654-AE2F-E7432E8B579A}" presName="node" presStyleLbl="node1" presStyleIdx="0" presStyleCnt="5">
        <dgm:presLayoutVars>
          <dgm:bulletEnabled val="1"/>
        </dgm:presLayoutVars>
      </dgm:prSet>
      <dgm:spPr/>
    </dgm:pt>
    <dgm:pt modelId="{438F872D-AD47-49A0-B949-30B87BAB4579}" type="pres">
      <dgm:prSet presAssocID="{9D7309C2-7897-4C6B-9A99-843156C44883}" presName="sibTrans" presStyleLbl="sibTrans2D1" presStyleIdx="0" presStyleCnt="4"/>
      <dgm:spPr/>
    </dgm:pt>
    <dgm:pt modelId="{827306CE-D5D5-4679-B72F-0026BAEB58C7}" type="pres">
      <dgm:prSet presAssocID="{9D7309C2-7897-4C6B-9A99-843156C44883}" presName="connectorText" presStyleLbl="sibTrans2D1" presStyleIdx="0" presStyleCnt="4"/>
      <dgm:spPr/>
    </dgm:pt>
    <dgm:pt modelId="{ACD2D603-3B45-4168-990D-D3581BE1A501}" type="pres">
      <dgm:prSet presAssocID="{95983D5B-B27D-4E48-ADEC-2980ABBCEBEE}" presName="node" presStyleLbl="node1" presStyleIdx="1" presStyleCnt="5">
        <dgm:presLayoutVars>
          <dgm:bulletEnabled val="1"/>
        </dgm:presLayoutVars>
      </dgm:prSet>
      <dgm:spPr/>
    </dgm:pt>
    <dgm:pt modelId="{63829D19-D5B5-4077-9892-1F68E87F26A2}" type="pres">
      <dgm:prSet presAssocID="{0A6FED62-E31A-41FF-9AAA-8FCF69FA4767}" presName="sibTrans" presStyleLbl="sibTrans2D1" presStyleIdx="1" presStyleCnt="4"/>
      <dgm:spPr/>
    </dgm:pt>
    <dgm:pt modelId="{22845295-9A41-46D6-9584-5EB6F98E11CB}" type="pres">
      <dgm:prSet presAssocID="{0A6FED62-E31A-41FF-9AAA-8FCF69FA4767}" presName="connectorText" presStyleLbl="sibTrans2D1" presStyleIdx="1" presStyleCnt="4"/>
      <dgm:spPr/>
    </dgm:pt>
    <dgm:pt modelId="{EFD87209-0493-4705-9607-B2D182D96513}" type="pres">
      <dgm:prSet presAssocID="{B3EB64BC-83EA-4169-AD1F-81FA1F5FB1CD}" presName="node" presStyleLbl="node1" presStyleIdx="2" presStyleCnt="5">
        <dgm:presLayoutVars>
          <dgm:bulletEnabled val="1"/>
        </dgm:presLayoutVars>
      </dgm:prSet>
      <dgm:spPr/>
    </dgm:pt>
    <dgm:pt modelId="{1A6132DC-4C9F-4171-9E4E-8F5DD6051C2A}" type="pres">
      <dgm:prSet presAssocID="{E6CDC40F-FA71-4127-B3C2-79895CC325A8}" presName="sibTrans" presStyleLbl="sibTrans2D1" presStyleIdx="2" presStyleCnt="4"/>
      <dgm:spPr/>
    </dgm:pt>
    <dgm:pt modelId="{435A8FB6-A088-4399-B44F-AD1E3818E7AC}" type="pres">
      <dgm:prSet presAssocID="{E6CDC40F-FA71-4127-B3C2-79895CC325A8}" presName="connectorText" presStyleLbl="sibTrans2D1" presStyleIdx="2" presStyleCnt="4"/>
      <dgm:spPr/>
    </dgm:pt>
    <dgm:pt modelId="{8B816202-8654-4B6F-A43E-45DFCFCE921F}" type="pres">
      <dgm:prSet presAssocID="{DE7ADADC-E3A8-4A91-87A1-F3306E05F398}" presName="node" presStyleLbl="node1" presStyleIdx="3" presStyleCnt="5">
        <dgm:presLayoutVars>
          <dgm:bulletEnabled val="1"/>
        </dgm:presLayoutVars>
      </dgm:prSet>
      <dgm:spPr/>
    </dgm:pt>
    <dgm:pt modelId="{2AF7FC2D-B7A3-4323-AE68-521A73E42442}" type="pres">
      <dgm:prSet presAssocID="{54675446-BFBE-4AF3-82DD-3B2F1922CF74}" presName="sibTrans" presStyleLbl="sibTrans2D1" presStyleIdx="3" presStyleCnt="4"/>
      <dgm:spPr/>
    </dgm:pt>
    <dgm:pt modelId="{7E99A44C-832A-4A66-B70A-9BD3F93FB9D5}" type="pres">
      <dgm:prSet presAssocID="{54675446-BFBE-4AF3-82DD-3B2F1922CF74}" presName="connectorText" presStyleLbl="sibTrans2D1" presStyleIdx="3" presStyleCnt="4"/>
      <dgm:spPr/>
    </dgm:pt>
    <dgm:pt modelId="{F993DC42-AD7B-42F4-8602-A8E89AD54439}" type="pres">
      <dgm:prSet presAssocID="{946AB93D-D196-4A61-AA32-E6DC26EAC846}" presName="node" presStyleLbl="node1" presStyleIdx="4" presStyleCnt="5">
        <dgm:presLayoutVars>
          <dgm:bulletEnabled val="1"/>
        </dgm:presLayoutVars>
      </dgm:prSet>
      <dgm:spPr/>
    </dgm:pt>
  </dgm:ptLst>
  <dgm:cxnLst>
    <dgm:cxn modelId="{790B0D2F-5F1F-4962-AC96-31818E1D17DC}" type="presOf" srcId="{E6CDC40F-FA71-4127-B3C2-79895CC325A8}" destId="{435A8FB6-A088-4399-B44F-AD1E3818E7AC}" srcOrd="1" destOrd="0" presId="urn:microsoft.com/office/officeart/2005/8/layout/process1"/>
    <dgm:cxn modelId="{661CED36-F5AF-4E80-BE4C-01F47F7A40FB}" type="presOf" srcId="{7D803ED3-46C9-48BD-B349-CA99F6AFFFEC}" destId="{B3BFB9BD-FF19-47DB-8334-0882577F231D}" srcOrd="0" destOrd="0" presId="urn:microsoft.com/office/officeart/2005/8/layout/process1"/>
    <dgm:cxn modelId="{B140FC36-27E0-4D9D-B41B-35CFA9F919BC}" type="presOf" srcId="{0A6FED62-E31A-41FF-9AAA-8FCF69FA4767}" destId="{22845295-9A41-46D6-9584-5EB6F98E11CB}" srcOrd="1" destOrd="0" presId="urn:microsoft.com/office/officeart/2005/8/layout/process1"/>
    <dgm:cxn modelId="{3BA57F3B-CF09-4C5E-A7F0-6A7A31DCC6B1}" srcId="{7D803ED3-46C9-48BD-B349-CA99F6AFFFEC}" destId="{946AB93D-D196-4A61-AA32-E6DC26EAC846}" srcOrd="4" destOrd="0" parTransId="{589D694C-FB7C-4915-B3E7-73D1411EDAE5}" sibTransId="{DC1FA520-50C9-4CBA-B13D-5D7568BF785B}"/>
    <dgm:cxn modelId="{E0956F3C-A655-4737-BB3F-17DDEF374A7D}" srcId="{7D803ED3-46C9-48BD-B349-CA99F6AFFFEC}" destId="{7B464BA7-C3CB-4654-AE2F-E7432E8B579A}" srcOrd="0" destOrd="0" parTransId="{2C8D4B32-F126-4F0C-BC23-6B05AEF22ECF}" sibTransId="{9D7309C2-7897-4C6B-9A99-843156C44883}"/>
    <dgm:cxn modelId="{F58C0968-7979-40B6-9245-9E2142E44992}" type="presOf" srcId="{7B464BA7-C3CB-4654-AE2F-E7432E8B579A}" destId="{0F45DEEB-0C29-4CBD-961E-9EBA0C0424BE}" srcOrd="0" destOrd="0" presId="urn:microsoft.com/office/officeart/2005/8/layout/process1"/>
    <dgm:cxn modelId="{E4FD014C-80DF-4F7A-8EA8-50D3F1C5A9DB}" type="presOf" srcId="{0A6FED62-E31A-41FF-9AAA-8FCF69FA4767}" destId="{63829D19-D5B5-4077-9892-1F68E87F26A2}" srcOrd="0" destOrd="0" presId="urn:microsoft.com/office/officeart/2005/8/layout/process1"/>
    <dgm:cxn modelId="{7CA66551-041D-4C92-AB52-2A19A2B85127}" srcId="{7D803ED3-46C9-48BD-B349-CA99F6AFFFEC}" destId="{95983D5B-B27D-4E48-ADEC-2980ABBCEBEE}" srcOrd="1" destOrd="0" parTransId="{261A40F2-A3C6-45A9-876B-BDDA0C5D323C}" sibTransId="{0A6FED62-E31A-41FF-9AAA-8FCF69FA4767}"/>
    <dgm:cxn modelId="{FE69AE7C-E72F-41BA-8E55-56879569316D}" type="presOf" srcId="{9D7309C2-7897-4C6B-9A99-843156C44883}" destId="{438F872D-AD47-49A0-B949-30B87BAB4579}" srcOrd="0" destOrd="0" presId="urn:microsoft.com/office/officeart/2005/8/layout/process1"/>
    <dgm:cxn modelId="{BB59D57C-983B-4B93-995C-8472DBAFE517}" type="presOf" srcId="{54675446-BFBE-4AF3-82DD-3B2F1922CF74}" destId="{7E99A44C-832A-4A66-B70A-9BD3F93FB9D5}" srcOrd="1" destOrd="0" presId="urn:microsoft.com/office/officeart/2005/8/layout/process1"/>
    <dgm:cxn modelId="{21D4A981-449C-4C98-BBB1-834EE68912EB}" type="presOf" srcId="{95983D5B-B27D-4E48-ADEC-2980ABBCEBEE}" destId="{ACD2D603-3B45-4168-990D-D3581BE1A501}" srcOrd="0" destOrd="0" presId="urn:microsoft.com/office/officeart/2005/8/layout/process1"/>
    <dgm:cxn modelId="{529EC293-D56A-46C3-B9B3-A0A9FCE13C36}" type="presOf" srcId="{9D7309C2-7897-4C6B-9A99-843156C44883}" destId="{827306CE-D5D5-4679-B72F-0026BAEB58C7}" srcOrd="1" destOrd="0" presId="urn:microsoft.com/office/officeart/2005/8/layout/process1"/>
    <dgm:cxn modelId="{990CAD94-F324-4DE0-9AED-1275C5CEA251}" type="presOf" srcId="{B3EB64BC-83EA-4169-AD1F-81FA1F5FB1CD}" destId="{EFD87209-0493-4705-9607-B2D182D96513}" srcOrd="0" destOrd="0" presId="urn:microsoft.com/office/officeart/2005/8/layout/process1"/>
    <dgm:cxn modelId="{7094D4A9-4301-4B8D-A9F7-B7788B92D8F0}" type="presOf" srcId="{DE7ADADC-E3A8-4A91-87A1-F3306E05F398}" destId="{8B816202-8654-4B6F-A43E-45DFCFCE921F}" srcOrd="0" destOrd="0" presId="urn:microsoft.com/office/officeart/2005/8/layout/process1"/>
    <dgm:cxn modelId="{292DCFAF-57AD-40EC-A0E4-AB5385DB1D59}" type="presOf" srcId="{54675446-BFBE-4AF3-82DD-3B2F1922CF74}" destId="{2AF7FC2D-B7A3-4323-AE68-521A73E42442}" srcOrd="0" destOrd="0" presId="urn:microsoft.com/office/officeart/2005/8/layout/process1"/>
    <dgm:cxn modelId="{8AB4EAB1-97A2-4C10-B14E-0EF135A9925D}" srcId="{7D803ED3-46C9-48BD-B349-CA99F6AFFFEC}" destId="{DE7ADADC-E3A8-4A91-87A1-F3306E05F398}" srcOrd="3" destOrd="0" parTransId="{5C143E2B-E876-4308-8B26-DDA7AF81AA65}" sibTransId="{54675446-BFBE-4AF3-82DD-3B2F1922CF74}"/>
    <dgm:cxn modelId="{C2F226C5-EE9F-4810-A0A2-B8128AB87D59}" type="presOf" srcId="{946AB93D-D196-4A61-AA32-E6DC26EAC846}" destId="{F993DC42-AD7B-42F4-8602-A8E89AD54439}" srcOrd="0" destOrd="0" presId="urn:microsoft.com/office/officeart/2005/8/layout/process1"/>
    <dgm:cxn modelId="{8FFA36D4-00B9-4551-9B6C-B0FDD584D698}" type="presOf" srcId="{E6CDC40F-FA71-4127-B3C2-79895CC325A8}" destId="{1A6132DC-4C9F-4171-9E4E-8F5DD6051C2A}" srcOrd="0" destOrd="0" presId="urn:microsoft.com/office/officeart/2005/8/layout/process1"/>
    <dgm:cxn modelId="{3A9ADCDE-F299-412B-98F8-FE0654627296}" srcId="{7D803ED3-46C9-48BD-B349-CA99F6AFFFEC}" destId="{B3EB64BC-83EA-4169-AD1F-81FA1F5FB1CD}" srcOrd="2" destOrd="0" parTransId="{F7747549-8F75-4AB4-80A4-6A93822C815C}" sibTransId="{E6CDC40F-FA71-4127-B3C2-79895CC325A8}"/>
    <dgm:cxn modelId="{F56E39FE-48A7-4652-AF9E-3A3D6F33FFC1}" type="presParOf" srcId="{B3BFB9BD-FF19-47DB-8334-0882577F231D}" destId="{0F45DEEB-0C29-4CBD-961E-9EBA0C0424BE}" srcOrd="0" destOrd="0" presId="urn:microsoft.com/office/officeart/2005/8/layout/process1"/>
    <dgm:cxn modelId="{0A2EAC9D-EC40-475B-B504-63C9259900D9}" type="presParOf" srcId="{B3BFB9BD-FF19-47DB-8334-0882577F231D}" destId="{438F872D-AD47-49A0-B949-30B87BAB4579}" srcOrd="1" destOrd="0" presId="urn:microsoft.com/office/officeart/2005/8/layout/process1"/>
    <dgm:cxn modelId="{10175280-81D7-4A45-939A-030F403EA045}" type="presParOf" srcId="{438F872D-AD47-49A0-B949-30B87BAB4579}" destId="{827306CE-D5D5-4679-B72F-0026BAEB58C7}" srcOrd="0" destOrd="0" presId="urn:microsoft.com/office/officeart/2005/8/layout/process1"/>
    <dgm:cxn modelId="{E54E80EC-3648-46E9-8BBD-668E1405DEC6}" type="presParOf" srcId="{B3BFB9BD-FF19-47DB-8334-0882577F231D}" destId="{ACD2D603-3B45-4168-990D-D3581BE1A501}" srcOrd="2" destOrd="0" presId="urn:microsoft.com/office/officeart/2005/8/layout/process1"/>
    <dgm:cxn modelId="{8EB6FE55-630C-4906-AF0E-5F3CCE6A8C51}" type="presParOf" srcId="{B3BFB9BD-FF19-47DB-8334-0882577F231D}" destId="{63829D19-D5B5-4077-9892-1F68E87F26A2}" srcOrd="3" destOrd="0" presId="urn:microsoft.com/office/officeart/2005/8/layout/process1"/>
    <dgm:cxn modelId="{30284D86-0895-4C19-A86C-7936CF85CCCA}" type="presParOf" srcId="{63829D19-D5B5-4077-9892-1F68E87F26A2}" destId="{22845295-9A41-46D6-9584-5EB6F98E11CB}" srcOrd="0" destOrd="0" presId="urn:microsoft.com/office/officeart/2005/8/layout/process1"/>
    <dgm:cxn modelId="{72E0FBB1-ADF0-4BBD-8B02-212C4974D6D7}" type="presParOf" srcId="{B3BFB9BD-FF19-47DB-8334-0882577F231D}" destId="{EFD87209-0493-4705-9607-B2D182D96513}" srcOrd="4" destOrd="0" presId="urn:microsoft.com/office/officeart/2005/8/layout/process1"/>
    <dgm:cxn modelId="{F178AEC8-637A-41BB-8542-C4FC8D3CE8FB}" type="presParOf" srcId="{B3BFB9BD-FF19-47DB-8334-0882577F231D}" destId="{1A6132DC-4C9F-4171-9E4E-8F5DD6051C2A}" srcOrd="5" destOrd="0" presId="urn:microsoft.com/office/officeart/2005/8/layout/process1"/>
    <dgm:cxn modelId="{5594C58F-5191-429A-BBFE-E9CEA69CC0FA}" type="presParOf" srcId="{1A6132DC-4C9F-4171-9E4E-8F5DD6051C2A}" destId="{435A8FB6-A088-4399-B44F-AD1E3818E7AC}" srcOrd="0" destOrd="0" presId="urn:microsoft.com/office/officeart/2005/8/layout/process1"/>
    <dgm:cxn modelId="{36CF645D-033D-4D08-901B-FAE29042E796}" type="presParOf" srcId="{B3BFB9BD-FF19-47DB-8334-0882577F231D}" destId="{8B816202-8654-4B6F-A43E-45DFCFCE921F}" srcOrd="6" destOrd="0" presId="urn:microsoft.com/office/officeart/2005/8/layout/process1"/>
    <dgm:cxn modelId="{3C33D31D-1D9B-49DF-BCF6-8F53F7061F86}" type="presParOf" srcId="{B3BFB9BD-FF19-47DB-8334-0882577F231D}" destId="{2AF7FC2D-B7A3-4323-AE68-521A73E42442}" srcOrd="7" destOrd="0" presId="urn:microsoft.com/office/officeart/2005/8/layout/process1"/>
    <dgm:cxn modelId="{5BAD3762-EEC2-4250-874E-876C20D9D07B}" type="presParOf" srcId="{2AF7FC2D-B7A3-4323-AE68-521A73E42442}" destId="{7E99A44C-832A-4A66-B70A-9BD3F93FB9D5}" srcOrd="0" destOrd="0" presId="urn:microsoft.com/office/officeart/2005/8/layout/process1"/>
    <dgm:cxn modelId="{7E0273E3-5D5A-4EAC-9E01-5F1F04304797}" type="presParOf" srcId="{B3BFB9BD-FF19-47DB-8334-0882577F231D}" destId="{F993DC42-AD7B-42F4-8602-A8E89AD54439}"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766DD7-71A4-4C55-B6FC-56ACD73F8A42}"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IN"/>
        </a:p>
      </dgm:t>
    </dgm:pt>
    <dgm:pt modelId="{B15209E7-DA30-484C-AC99-4ED3B9D757DC}">
      <dgm:prSet phldrT="[Text]"/>
      <dgm:spPr/>
      <dgm:t>
        <a:bodyPr/>
        <a:lstStyle/>
        <a:p>
          <a:pPr>
            <a:buNone/>
          </a:pPr>
          <a:r>
            <a:rPr lang="en-US" b="1" dirty="0"/>
            <a:t>1. Foundations of Transformers (2017–2018)</a:t>
          </a:r>
          <a:endParaRPr lang="en-IN" dirty="0"/>
        </a:p>
      </dgm:t>
    </dgm:pt>
    <dgm:pt modelId="{57A410CD-DB45-4E9A-9E77-2F5B2F30F24F}" type="parTrans" cxnId="{16483444-3017-463F-B9A3-97709568EFC2}">
      <dgm:prSet/>
      <dgm:spPr/>
      <dgm:t>
        <a:bodyPr/>
        <a:lstStyle/>
        <a:p>
          <a:endParaRPr lang="en-IN"/>
        </a:p>
      </dgm:t>
    </dgm:pt>
    <dgm:pt modelId="{0ED44339-576D-4617-8291-51405904EAEB}" type="sibTrans" cxnId="{16483444-3017-463F-B9A3-97709568EFC2}">
      <dgm:prSet/>
      <dgm:spPr/>
      <dgm:t>
        <a:bodyPr/>
        <a:lstStyle/>
        <a:p>
          <a:endParaRPr lang="en-IN"/>
        </a:p>
      </dgm:t>
    </dgm:pt>
    <dgm:pt modelId="{8ABAD36E-831E-40B7-9A58-78AE94BE5515}">
      <dgm:prSet/>
      <dgm:spPr/>
      <dgm:t>
        <a:bodyPr/>
        <a:lstStyle/>
        <a:p>
          <a:pPr>
            <a:buFont typeface="Arial" panose="020B0604020202020204" pitchFamily="34" charset="0"/>
            <a:buChar char="•"/>
          </a:pPr>
          <a:r>
            <a:rPr lang="en-IN" i="1" dirty="0"/>
            <a:t>Vaswani et al. (2017):</a:t>
          </a:r>
          <a:r>
            <a:rPr lang="en-IN" dirty="0"/>
            <a:t> Transformer architecture → foundation for modern LLMs.</a:t>
          </a:r>
        </a:p>
      </dgm:t>
    </dgm:pt>
    <dgm:pt modelId="{B0D03E17-4C21-4DBB-AA0E-ACC3E9166C3C}" type="parTrans" cxnId="{EE52C99D-EA46-4D65-834D-529F740AED9E}">
      <dgm:prSet/>
      <dgm:spPr/>
      <dgm:t>
        <a:bodyPr/>
        <a:lstStyle/>
        <a:p>
          <a:endParaRPr lang="en-IN"/>
        </a:p>
      </dgm:t>
    </dgm:pt>
    <dgm:pt modelId="{C4C353D9-699A-4BCD-AC08-59681EAAFD27}" type="sibTrans" cxnId="{EE52C99D-EA46-4D65-834D-529F740AED9E}">
      <dgm:prSet/>
      <dgm:spPr/>
      <dgm:t>
        <a:bodyPr/>
        <a:lstStyle/>
        <a:p>
          <a:endParaRPr lang="en-IN"/>
        </a:p>
      </dgm:t>
    </dgm:pt>
    <dgm:pt modelId="{D860CD4B-72DF-469B-A312-60777B72FFE5}">
      <dgm:prSet/>
      <dgm:spPr/>
      <dgm:t>
        <a:bodyPr/>
        <a:lstStyle/>
        <a:p>
          <a:pPr>
            <a:buFont typeface="Arial" panose="020B0604020202020204" pitchFamily="34" charset="0"/>
            <a:buChar char="•"/>
          </a:pPr>
          <a:r>
            <a:rPr lang="en-US" i="1" dirty="0"/>
            <a:t>Devlin et al. (2018):</a:t>
          </a:r>
          <a:r>
            <a:rPr lang="en-US" dirty="0"/>
            <a:t> BERT → contextual embeddings, new state-of-the-art in NLP tasks.</a:t>
          </a:r>
        </a:p>
      </dgm:t>
    </dgm:pt>
    <dgm:pt modelId="{BF009991-13B8-4334-88BC-54844319870B}" type="parTrans" cxnId="{E3864EBF-C212-4DA0-9F43-1514E7503A6C}">
      <dgm:prSet/>
      <dgm:spPr/>
      <dgm:t>
        <a:bodyPr/>
        <a:lstStyle/>
        <a:p>
          <a:endParaRPr lang="en-IN"/>
        </a:p>
      </dgm:t>
    </dgm:pt>
    <dgm:pt modelId="{66294D7B-DCC0-49FC-A2FB-46E3CFC7705B}" type="sibTrans" cxnId="{E3864EBF-C212-4DA0-9F43-1514E7503A6C}">
      <dgm:prSet/>
      <dgm:spPr/>
      <dgm:t>
        <a:bodyPr/>
        <a:lstStyle/>
        <a:p>
          <a:endParaRPr lang="en-IN"/>
        </a:p>
      </dgm:t>
    </dgm:pt>
    <dgm:pt modelId="{63EC8E88-7F3D-4CAB-B8A2-53B76C3B0315}">
      <dgm:prSet/>
      <dgm:spPr/>
      <dgm:t>
        <a:bodyPr/>
        <a:lstStyle/>
        <a:p>
          <a:pPr>
            <a:buNone/>
          </a:pPr>
          <a:r>
            <a:rPr lang="en-IN" b="1" dirty="0"/>
            <a:t>2. Generative Pretraining (2018–2020)</a:t>
          </a:r>
          <a:endParaRPr lang="en-IN" dirty="0"/>
        </a:p>
      </dgm:t>
    </dgm:pt>
    <dgm:pt modelId="{445A4C5F-EAF9-4864-9380-DCD800809D02}" type="parTrans" cxnId="{103F0E77-C2BE-4A8B-A104-0F883EEE79CF}">
      <dgm:prSet/>
      <dgm:spPr/>
      <dgm:t>
        <a:bodyPr/>
        <a:lstStyle/>
        <a:p>
          <a:endParaRPr lang="en-IN"/>
        </a:p>
      </dgm:t>
    </dgm:pt>
    <dgm:pt modelId="{3459B297-68F6-43D4-9C22-F0125F9DF235}" type="sibTrans" cxnId="{103F0E77-C2BE-4A8B-A104-0F883EEE79CF}">
      <dgm:prSet/>
      <dgm:spPr/>
      <dgm:t>
        <a:bodyPr/>
        <a:lstStyle/>
        <a:p>
          <a:endParaRPr lang="en-IN"/>
        </a:p>
      </dgm:t>
    </dgm:pt>
    <dgm:pt modelId="{1A66405F-69E8-4377-8AD6-5FA03ACF1C41}">
      <dgm:prSet/>
      <dgm:spPr/>
      <dgm:t>
        <a:bodyPr/>
        <a:lstStyle/>
        <a:p>
          <a:pPr>
            <a:buFont typeface="Arial" panose="020B0604020202020204" pitchFamily="34" charset="0"/>
            <a:buChar char="•"/>
          </a:pPr>
          <a:r>
            <a:rPr lang="en-IN" i="1" dirty="0"/>
            <a:t>Radford et al. (2018):</a:t>
          </a:r>
          <a:r>
            <a:rPr lang="en-IN" dirty="0"/>
            <a:t> GPT → demonstrated transfer learning in NLP.</a:t>
          </a:r>
        </a:p>
      </dgm:t>
    </dgm:pt>
    <dgm:pt modelId="{5A64F3CD-5D2B-4CBA-AE6A-280F125C6A0A}" type="parTrans" cxnId="{866A48BF-3E51-49AE-B5B4-B39275D3713B}">
      <dgm:prSet/>
      <dgm:spPr/>
      <dgm:t>
        <a:bodyPr/>
        <a:lstStyle/>
        <a:p>
          <a:endParaRPr lang="en-IN"/>
        </a:p>
      </dgm:t>
    </dgm:pt>
    <dgm:pt modelId="{768325C0-35AA-410A-A9D2-47F7EE1527E6}" type="sibTrans" cxnId="{866A48BF-3E51-49AE-B5B4-B39275D3713B}">
      <dgm:prSet/>
      <dgm:spPr/>
      <dgm:t>
        <a:bodyPr/>
        <a:lstStyle/>
        <a:p>
          <a:endParaRPr lang="en-IN"/>
        </a:p>
      </dgm:t>
    </dgm:pt>
    <dgm:pt modelId="{2774F57E-C78F-4498-B05F-80055E065766}">
      <dgm:prSet/>
      <dgm:spPr/>
      <dgm:t>
        <a:bodyPr/>
        <a:lstStyle/>
        <a:p>
          <a:pPr>
            <a:buFont typeface="Arial" panose="020B0604020202020204" pitchFamily="34" charset="0"/>
            <a:buChar char="•"/>
          </a:pPr>
          <a:r>
            <a:rPr lang="en-US" i="1" dirty="0"/>
            <a:t>Brown et al. (2020):</a:t>
          </a:r>
          <a:r>
            <a:rPr lang="en-US" dirty="0"/>
            <a:t> GPT-3 → few-shot reasoning, scaling breakthroughs.</a:t>
          </a:r>
        </a:p>
      </dgm:t>
    </dgm:pt>
    <dgm:pt modelId="{10D28723-9316-47E2-8710-196D20A2511B}" type="parTrans" cxnId="{FDB35D77-D4FA-4542-9910-FE25DA286B3C}">
      <dgm:prSet/>
      <dgm:spPr/>
      <dgm:t>
        <a:bodyPr/>
        <a:lstStyle/>
        <a:p>
          <a:endParaRPr lang="en-IN"/>
        </a:p>
      </dgm:t>
    </dgm:pt>
    <dgm:pt modelId="{2895BE55-1780-4593-A322-A1374CD9543B}" type="sibTrans" cxnId="{FDB35D77-D4FA-4542-9910-FE25DA286B3C}">
      <dgm:prSet/>
      <dgm:spPr/>
      <dgm:t>
        <a:bodyPr/>
        <a:lstStyle/>
        <a:p>
          <a:endParaRPr lang="en-IN"/>
        </a:p>
      </dgm:t>
    </dgm:pt>
    <dgm:pt modelId="{B86BCE10-F282-4C48-9D61-FB0AAF5EBF6D}">
      <dgm:prSet/>
      <dgm:spPr/>
      <dgm:t>
        <a:bodyPr/>
        <a:lstStyle/>
        <a:p>
          <a:pPr>
            <a:buFont typeface="Arial" panose="020B0604020202020204" pitchFamily="34" charset="0"/>
            <a:buChar char="•"/>
          </a:pPr>
          <a:r>
            <a:rPr lang="en-US" i="1" dirty="0"/>
            <a:t>Raffel et al. (2020):</a:t>
          </a:r>
          <a:r>
            <a:rPr lang="en-US" dirty="0"/>
            <a:t> T5 → unified text-to-text framework, multi-task performance.</a:t>
          </a:r>
        </a:p>
      </dgm:t>
    </dgm:pt>
    <dgm:pt modelId="{4544246D-CB3F-492E-BC4E-780D7D5669CB}" type="parTrans" cxnId="{30943A08-C319-4DE1-BDA0-C605F58EB3FA}">
      <dgm:prSet/>
      <dgm:spPr/>
      <dgm:t>
        <a:bodyPr/>
        <a:lstStyle/>
        <a:p>
          <a:endParaRPr lang="en-IN"/>
        </a:p>
      </dgm:t>
    </dgm:pt>
    <dgm:pt modelId="{E7D6D481-F634-4E98-9EE2-A6B9661DFDD4}" type="sibTrans" cxnId="{30943A08-C319-4DE1-BDA0-C605F58EB3FA}">
      <dgm:prSet/>
      <dgm:spPr/>
      <dgm:t>
        <a:bodyPr/>
        <a:lstStyle/>
        <a:p>
          <a:endParaRPr lang="en-IN"/>
        </a:p>
      </dgm:t>
    </dgm:pt>
    <dgm:pt modelId="{AFEA828A-4C02-4E0A-A755-11A203198262}">
      <dgm:prSet/>
      <dgm:spPr/>
      <dgm:t>
        <a:bodyPr/>
        <a:lstStyle/>
        <a:p>
          <a:pPr>
            <a:buNone/>
          </a:pPr>
          <a:r>
            <a:rPr lang="en-IN" b="1" dirty="0"/>
            <a:t>3. Alignment &amp; Scaling (2022–2023)</a:t>
          </a:r>
          <a:endParaRPr lang="en-IN" dirty="0"/>
        </a:p>
      </dgm:t>
    </dgm:pt>
    <dgm:pt modelId="{B0C8E1F0-6E30-4E68-9975-5E208C32A201}" type="parTrans" cxnId="{40BC0503-BEDB-42A9-9358-240786E9441F}">
      <dgm:prSet/>
      <dgm:spPr/>
      <dgm:t>
        <a:bodyPr/>
        <a:lstStyle/>
        <a:p>
          <a:endParaRPr lang="en-IN"/>
        </a:p>
      </dgm:t>
    </dgm:pt>
    <dgm:pt modelId="{648F157D-FDE9-4735-B425-B9CA0964F3AF}" type="sibTrans" cxnId="{40BC0503-BEDB-42A9-9358-240786E9441F}">
      <dgm:prSet/>
      <dgm:spPr/>
      <dgm:t>
        <a:bodyPr/>
        <a:lstStyle/>
        <a:p>
          <a:endParaRPr lang="en-IN"/>
        </a:p>
      </dgm:t>
    </dgm:pt>
    <dgm:pt modelId="{A6EBC028-1416-4AC3-86F9-C64AB519021F}">
      <dgm:prSet/>
      <dgm:spPr/>
      <dgm:t>
        <a:bodyPr/>
        <a:lstStyle/>
        <a:p>
          <a:pPr>
            <a:buFont typeface="Arial" panose="020B0604020202020204" pitchFamily="34" charset="0"/>
            <a:buChar char="•"/>
          </a:pPr>
          <a:r>
            <a:rPr lang="en-US" i="1" dirty="0"/>
            <a:t>OpenAI (2022):</a:t>
          </a:r>
          <a:r>
            <a:rPr lang="en-US" dirty="0"/>
            <a:t> </a:t>
          </a:r>
          <a:r>
            <a:rPr lang="en-US" dirty="0" err="1"/>
            <a:t>InstructGPT</a:t>
          </a:r>
          <a:r>
            <a:rPr lang="en-US" dirty="0"/>
            <a:t> / ChatGPT (RLHF) → alignment with human intent.</a:t>
          </a:r>
        </a:p>
      </dgm:t>
    </dgm:pt>
    <dgm:pt modelId="{8A3003B6-7921-4B60-905E-F897F3F50766}" type="parTrans" cxnId="{91EF8A69-D3B2-4202-8A3F-3EC977BDAF2A}">
      <dgm:prSet/>
      <dgm:spPr/>
      <dgm:t>
        <a:bodyPr/>
        <a:lstStyle/>
        <a:p>
          <a:endParaRPr lang="en-IN"/>
        </a:p>
      </dgm:t>
    </dgm:pt>
    <dgm:pt modelId="{D024D82B-39E4-462E-BD54-DBFB48DE9E44}" type="sibTrans" cxnId="{91EF8A69-D3B2-4202-8A3F-3EC977BDAF2A}">
      <dgm:prSet/>
      <dgm:spPr/>
      <dgm:t>
        <a:bodyPr/>
        <a:lstStyle/>
        <a:p>
          <a:endParaRPr lang="en-IN"/>
        </a:p>
      </dgm:t>
    </dgm:pt>
    <dgm:pt modelId="{C44A847E-5D80-425E-8951-1F12375252E9}">
      <dgm:prSet/>
      <dgm:spPr/>
      <dgm:t>
        <a:bodyPr/>
        <a:lstStyle/>
        <a:p>
          <a:pPr>
            <a:buFont typeface="Arial" panose="020B0604020202020204" pitchFamily="34" charset="0"/>
            <a:buChar char="•"/>
          </a:pPr>
          <a:r>
            <a:rPr lang="fr-FR" i="1" dirty="0" err="1"/>
            <a:t>Touvron</a:t>
          </a:r>
          <a:r>
            <a:rPr lang="fr-FR" i="1" dirty="0"/>
            <a:t> et al. (2023):</a:t>
          </a:r>
          <a:r>
            <a:rPr lang="fr-FR" dirty="0"/>
            <a:t> </a:t>
          </a:r>
          <a:r>
            <a:rPr lang="fr-FR" dirty="0" err="1"/>
            <a:t>LLaMA</a:t>
          </a:r>
          <a:r>
            <a:rPr lang="fr-FR" dirty="0"/>
            <a:t> → efficient, open-source </a:t>
          </a:r>
          <a:r>
            <a:rPr lang="fr-FR" dirty="0" err="1"/>
            <a:t>LLMs</a:t>
          </a:r>
          <a:r>
            <a:rPr lang="fr-FR" dirty="0"/>
            <a:t>.</a:t>
          </a:r>
        </a:p>
      </dgm:t>
    </dgm:pt>
    <dgm:pt modelId="{FF6A0520-4F08-458E-8FAB-12330C9EE1E6}" type="parTrans" cxnId="{CD45C6F9-D182-42FC-962F-E9E406087218}">
      <dgm:prSet/>
      <dgm:spPr/>
      <dgm:t>
        <a:bodyPr/>
        <a:lstStyle/>
        <a:p>
          <a:endParaRPr lang="en-IN"/>
        </a:p>
      </dgm:t>
    </dgm:pt>
    <dgm:pt modelId="{7DD39D98-DABC-45CB-88E9-5EFBF12DF972}" type="sibTrans" cxnId="{CD45C6F9-D182-42FC-962F-E9E406087218}">
      <dgm:prSet/>
      <dgm:spPr/>
      <dgm:t>
        <a:bodyPr/>
        <a:lstStyle/>
        <a:p>
          <a:endParaRPr lang="en-IN"/>
        </a:p>
      </dgm:t>
    </dgm:pt>
    <dgm:pt modelId="{06DAD419-F1A6-41C1-AABB-EC57444AD5E2}">
      <dgm:prSet/>
      <dgm:spPr/>
      <dgm:t>
        <a:bodyPr/>
        <a:lstStyle/>
        <a:p>
          <a:pPr>
            <a:buFont typeface="Arial" panose="020B0604020202020204" pitchFamily="34" charset="0"/>
            <a:buChar char="•"/>
          </a:pPr>
          <a:r>
            <a:rPr lang="en-US" i="1" dirty="0"/>
            <a:t>OpenAI (2023):</a:t>
          </a:r>
          <a:r>
            <a:rPr lang="en-US" dirty="0"/>
            <a:t> GPT-4 → multimodal, stronger reasoning, broad adoption.</a:t>
          </a:r>
        </a:p>
      </dgm:t>
    </dgm:pt>
    <dgm:pt modelId="{D1BB00C8-9306-46A9-8A20-1B677AA3C3F9}" type="parTrans" cxnId="{03575A3E-56F1-4358-956B-E19156A213EA}">
      <dgm:prSet/>
      <dgm:spPr/>
      <dgm:t>
        <a:bodyPr/>
        <a:lstStyle/>
        <a:p>
          <a:endParaRPr lang="en-IN"/>
        </a:p>
      </dgm:t>
    </dgm:pt>
    <dgm:pt modelId="{B871F3F8-4834-467E-97FB-3378D0F75BF6}" type="sibTrans" cxnId="{03575A3E-56F1-4358-956B-E19156A213EA}">
      <dgm:prSet/>
      <dgm:spPr/>
      <dgm:t>
        <a:bodyPr/>
        <a:lstStyle/>
        <a:p>
          <a:endParaRPr lang="en-IN"/>
        </a:p>
      </dgm:t>
    </dgm:pt>
    <dgm:pt modelId="{9C03A014-1594-488B-8F5F-275CEA482953}">
      <dgm:prSet/>
      <dgm:spPr/>
      <dgm:t>
        <a:bodyPr/>
        <a:lstStyle/>
        <a:p>
          <a:pPr>
            <a:buNone/>
          </a:pPr>
          <a:r>
            <a:rPr lang="en-IN" b="1" dirty="0"/>
            <a:t>4. Domain Adaptation for Regulation (2024–2025)</a:t>
          </a:r>
          <a:endParaRPr lang="en-IN" dirty="0"/>
        </a:p>
      </dgm:t>
    </dgm:pt>
    <dgm:pt modelId="{9C95AA25-B480-4283-96DE-5460EE9FCF0A}" type="parTrans" cxnId="{6D401094-E5E9-480A-A9EE-482ACED25932}">
      <dgm:prSet/>
      <dgm:spPr/>
      <dgm:t>
        <a:bodyPr/>
        <a:lstStyle/>
        <a:p>
          <a:endParaRPr lang="en-IN"/>
        </a:p>
      </dgm:t>
    </dgm:pt>
    <dgm:pt modelId="{F7209E9B-4EDF-4A7B-9418-FA2EAD55A6C3}" type="sibTrans" cxnId="{6D401094-E5E9-480A-A9EE-482ACED25932}">
      <dgm:prSet/>
      <dgm:spPr/>
      <dgm:t>
        <a:bodyPr/>
        <a:lstStyle/>
        <a:p>
          <a:endParaRPr lang="en-IN"/>
        </a:p>
      </dgm:t>
    </dgm:pt>
    <dgm:pt modelId="{F594C3EC-6BEE-4690-9ECC-ED3BDC00D2D6}">
      <dgm:prSet/>
      <dgm:spPr/>
      <dgm:t>
        <a:bodyPr/>
        <a:lstStyle/>
        <a:p>
          <a:pPr>
            <a:buFont typeface="Arial" panose="020B0604020202020204" pitchFamily="34" charset="0"/>
            <a:buChar char="•"/>
          </a:pPr>
          <a:r>
            <a:rPr lang="en-US" i="1" dirty="0"/>
            <a:t>Cao &amp; Feinstein (2024):</a:t>
          </a:r>
          <a:r>
            <a:rPr lang="en-US" dirty="0"/>
            <a:t> Prompt engineering for Basel market risk clauses.</a:t>
          </a:r>
        </a:p>
      </dgm:t>
    </dgm:pt>
    <dgm:pt modelId="{31BAC927-7786-4943-ADA0-D5FEEB51882A}" type="parTrans" cxnId="{4B0DE074-0E79-4BC8-99B4-01D4F6B1C6D4}">
      <dgm:prSet/>
      <dgm:spPr/>
      <dgm:t>
        <a:bodyPr/>
        <a:lstStyle/>
        <a:p>
          <a:endParaRPr lang="en-IN"/>
        </a:p>
      </dgm:t>
    </dgm:pt>
    <dgm:pt modelId="{E8F71242-EE80-4F8D-86DF-B9CF816906C9}" type="sibTrans" cxnId="{4B0DE074-0E79-4BC8-99B4-01D4F6B1C6D4}">
      <dgm:prSet/>
      <dgm:spPr/>
      <dgm:t>
        <a:bodyPr/>
        <a:lstStyle/>
        <a:p>
          <a:endParaRPr lang="en-IN"/>
        </a:p>
      </dgm:t>
    </dgm:pt>
    <dgm:pt modelId="{CB719833-C466-4753-B606-EF0726BD7707}">
      <dgm:prSet/>
      <dgm:spPr/>
      <dgm:t>
        <a:bodyPr/>
        <a:lstStyle/>
        <a:p>
          <a:pPr>
            <a:buFont typeface="Arial" panose="020B0604020202020204" pitchFamily="34" charset="0"/>
            <a:buChar char="•"/>
          </a:pPr>
          <a:r>
            <a:rPr lang="en-US" i="1" dirty="0"/>
            <a:t>Nazemi &amp; Fabozzi (2024):</a:t>
          </a:r>
          <a:r>
            <a:rPr lang="en-US" dirty="0"/>
            <a:t> Supervisory explainability with GenAI.</a:t>
          </a:r>
        </a:p>
      </dgm:t>
    </dgm:pt>
    <dgm:pt modelId="{0BBCC6A6-08A0-4BB5-80A6-5D497C48592B}" type="parTrans" cxnId="{14A67A1C-AADB-4020-BF8C-7F0BFD12B117}">
      <dgm:prSet/>
      <dgm:spPr/>
      <dgm:t>
        <a:bodyPr/>
        <a:lstStyle/>
        <a:p>
          <a:endParaRPr lang="en-IN"/>
        </a:p>
      </dgm:t>
    </dgm:pt>
    <dgm:pt modelId="{538E7CE3-5D7F-4EBF-B7A6-9F1CD07AF322}" type="sibTrans" cxnId="{14A67A1C-AADB-4020-BF8C-7F0BFD12B117}">
      <dgm:prSet/>
      <dgm:spPr/>
      <dgm:t>
        <a:bodyPr/>
        <a:lstStyle/>
        <a:p>
          <a:endParaRPr lang="en-IN"/>
        </a:p>
      </dgm:t>
    </dgm:pt>
    <dgm:pt modelId="{72311B28-7643-46E9-920D-27B33D89F2D7}">
      <dgm:prSet/>
      <dgm:spPr/>
      <dgm:t>
        <a:bodyPr/>
        <a:lstStyle/>
        <a:p>
          <a:pPr>
            <a:buFont typeface="Arial" panose="020B0604020202020204" pitchFamily="34" charset="0"/>
            <a:buChar char="•"/>
          </a:pPr>
          <a:r>
            <a:rPr lang="en-US" i="1" dirty="0"/>
            <a:t>Fazlija et al. (2025):</a:t>
          </a:r>
          <a:r>
            <a:rPr lang="en-US" dirty="0"/>
            <a:t> Reasoning with Basel provisions (</a:t>
          </a:r>
          <a:r>
            <a:rPr lang="en-US" dirty="0" err="1"/>
            <a:t>CoT</a:t>
          </a:r>
          <a:r>
            <a:rPr lang="en-US" dirty="0"/>
            <a:t>/</a:t>
          </a:r>
          <a:r>
            <a:rPr lang="en-US" dirty="0" err="1"/>
            <a:t>ToT</a:t>
          </a:r>
          <a:r>
            <a:rPr lang="en-US" dirty="0"/>
            <a:t>, Claude/GPT-4o).</a:t>
          </a:r>
        </a:p>
      </dgm:t>
    </dgm:pt>
    <dgm:pt modelId="{EB4A79ED-B602-4579-8671-1558046B93A6}" type="parTrans" cxnId="{5B79DE45-5329-493A-B8E1-E0408758F3B1}">
      <dgm:prSet/>
      <dgm:spPr/>
      <dgm:t>
        <a:bodyPr/>
        <a:lstStyle/>
        <a:p>
          <a:endParaRPr lang="en-IN"/>
        </a:p>
      </dgm:t>
    </dgm:pt>
    <dgm:pt modelId="{13C32FF3-4EE5-4E03-8901-82C8F1F3DAFF}" type="sibTrans" cxnId="{5B79DE45-5329-493A-B8E1-E0408758F3B1}">
      <dgm:prSet/>
      <dgm:spPr/>
      <dgm:t>
        <a:bodyPr/>
        <a:lstStyle/>
        <a:p>
          <a:endParaRPr lang="en-IN"/>
        </a:p>
      </dgm:t>
    </dgm:pt>
    <dgm:pt modelId="{76EE35FC-3021-4C01-BC4B-7A2EDEC8235D}">
      <dgm:prSet/>
      <dgm:spPr/>
      <dgm:t>
        <a:bodyPr/>
        <a:lstStyle/>
        <a:p>
          <a:pPr>
            <a:buFont typeface="Arial" panose="020B0604020202020204" pitchFamily="34" charset="0"/>
            <a:buChar char="•"/>
          </a:pPr>
          <a:r>
            <a:rPr lang="en-IN" i="1" dirty="0"/>
            <a:t>Haeri et al. (2025):</a:t>
          </a:r>
          <a:r>
            <a:rPr lang="en-IN" dirty="0"/>
            <a:t> </a:t>
          </a:r>
          <a:r>
            <a:rPr lang="en-IN" dirty="0" err="1"/>
            <a:t>RiskEmbed</a:t>
          </a:r>
          <a:r>
            <a:rPr lang="en-IN" dirty="0"/>
            <a:t>: domain-specific embeddings for regulatory QA.</a:t>
          </a:r>
        </a:p>
      </dgm:t>
    </dgm:pt>
    <dgm:pt modelId="{971D3FBF-A754-4E6F-BCE8-8D6B91D842AD}" type="parTrans" cxnId="{BD4F7225-FBC3-411D-8162-785365EF596D}">
      <dgm:prSet/>
      <dgm:spPr/>
      <dgm:t>
        <a:bodyPr/>
        <a:lstStyle/>
        <a:p>
          <a:endParaRPr lang="en-IN"/>
        </a:p>
      </dgm:t>
    </dgm:pt>
    <dgm:pt modelId="{F264B4FF-02CF-42B6-8417-219FD1EC8691}" type="sibTrans" cxnId="{BD4F7225-FBC3-411D-8162-785365EF596D}">
      <dgm:prSet/>
      <dgm:spPr/>
      <dgm:t>
        <a:bodyPr/>
        <a:lstStyle/>
        <a:p>
          <a:endParaRPr lang="en-IN"/>
        </a:p>
      </dgm:t>
    </dgm:pt>
    <dgm:pt modelId="{B21B520B-E07D-42DE-B88F-020E51157B94}">
      <dgm:prSet/>
      <dgm:spPr/>
      <dgm:t>
        <a:bodyPr/>
        <a:lstStyle/>
        <a:p>
          <a:pPr>
            <a:buFont typeface="Arial" panose="020B0604020202020204" pitchFamily="34" charset="0"/>
            <a:buChar char="•"/>
          </a:pPr>
          <a:r>
            <a:rPr lang="en-US" i="1" dirty="0"/>
            <a:t>Joshi (2025):</a:t>
          </a:r>
          <a:r>
            <a:rPr lang="en-US" dirty="0"/>
            <a:t> End-to-end GenAI regulatory architecture, integrating LLMs into compliance pipelines.</a:t>
          </a:r>
        </a:p>
      </dgm:t>
    </dgm:pt>
    <dgm:pt modelId="{C8823B8D-B186-4913-8993-0144A9244610}" type="parTrans" cxnId="{A9002EDF-FAF7-4B1E-8E21-97D6779851A7}">
      <dgm:prSet/>
      <dgm:spPr/>
      <dgm:t>
        <a:bodyPr/>
        <a:lstStyle/>
        <a:p>
          <a:endParaRPr lang="en-IN"/>
        </a:p>
      </dgm:t>
    </dgm:pt>
    <dgm:pt modelId="{7E6DEDD0-3C76-4594-8BB4-644B06E4E5F7}" type="sibTrans" cxnId="{A9002EDF-FAF7-4B1E-8E21-97D6779851A7}">
      <dgm:prSet/>
      <dgm:spPr/>
      <dgm:t>
        <a:bodyPr/>
        <a:lstStyle/>
        <a:p>
          <a:endParaRPr lang="en-IN"/>
        </a:p>
      </dgm:t>
    </dgm:pt>
    <dgm:pt modelId="{5FD0972B-F82D-4422-B40C-8FA5BE04E345}" type="pres">
      <dgm:prSet presAssocID="{2C766DD7-71A4-4C55-B6FC-56ACD73F8A42}" presName="linear" presStyleCnt="0">
        <dgm:presLayoutVars>
          <dgm:dir/>
          <dgm:animLvl val="lvl"/>
          <dgm:resizeHandles val="exact"/>
        </dgm:presLayoutVars>
      </dgm:prSet>
      <dgm:spPr/>
    </dgm:pt>
    <dgm:pt modelId="{73B5684C-8A57-4ADD-A6F2-7CAC48356E63}" type="pres">
      <dgm:prSet presAssocID="{B15209E7-DA30-484C-AC99-4ED3B9D757DC}" presName="parentLin" presStyleCnt="0"/>
      <dgm:spPr/>
    </dgm:pt>
    <dgm:pt modelId="{3EF7AFE9-E890-4B66-81C9-F545344E7D16}" type="pres">
      <dgm:prSet presAssocID="{B15209E7-DA30-484C-AC99-4ED3B9D757DC}" presName="parentLeftMargin" presStyleLbl="node1" presStyleIdx="0" presStyleCnt="4"/>
      <dgm:spPr/>
    </dgm:pt>
    <dgm:pt modelId="{32903B36-7C1E-40E5-95D4-ECBBD180059B}" type="pres">
      <dgm:prSet presAssocID="{B15209E7-DA30-484C-AC99-4ED3B9D757DC}" presName="parentText" presStyleLbl="node1" presStyleIdx="0" presStyleCnt="4">
        <dgm:presLayoutVars>
          <dgm:chMax val="0"/>
          <dgm:bulletEnabled val="1"/>
        </dgm:presLayoutVars>
      </dgm:prSet>
      <dgm:spPr/>
    </dgm:pt>
    <dgm:pt modelId="{9B2212FD-7278-4A8D-A1CD-B97250F6C8CD}" type="pres">
      <dgm:prSet presAssocID="{B15209E7-DA30-484C-AC99-4ED3B9D757DC}" presName="negativeSpace" presStyleCnt="0"/>
      <dgm:spPr/>
    </dgm:pt>
    <dgm:pt modelId="{0AF2A591-FC70-4CBA-B2E2-96D36555963D}" type="pres">
      <dgm:prSet presAssocID="{B15209E7-DA30-484C-AC99-4ED3B9D757DC}" presName="childText" presStyleLbl="conFgAcc1" presStyleIdx="0" presStyleCnt="4">
        <dgm:presLayoutVars>
          <dgm:bulletEnabled val="1"/>
        </dgm:presLayoutVars>
      </dgm:prSet>
      <dgm:spPr/>
    </dgm:pt>
    <dgm:pt modelId="{0307B9A9-0E3C-4E26-BA5A-E4218A60A12F}" type="pres">
      <dgm:prSet presAssocID="{0ED44339-576D-4617-8291-51405904EAEB}" presName="spaceBetweenRectangles" presStyleCnt="0"/>
      <dgm:spPr/>
    </dgm:pt>
    <dgm:pt modelId="{0CAF38CC-7126-4C23-AD6A-BBB7C1E119D6}" type="pres">
      <dgm:prSet presAssocID="{63EC8E88-7F3D-4CAB-B8A2-53B76C3B0315}" presName="parentLin" presStyleCnt="0"/>
      <dgm:spPr/>
    </dgm:pt>
    <dgm:pt modelId="{08D6C307-B5CA-4284-B453-E6AC1F49B70B}" type="pres">
      <dgm:prSet presAssocID="{63EC8E88-7F3D-4CAB-B8A2-53B76C3B0315}" presName="parentLeftMargin" presStyleLbl="node1" presStyleIdx="0" presStyleCnt="4"/>
      <dgm:spPr/>
    </dgm:pt>
    <dgm:pt modelId="{68956B9F-1450-4AA9-87D8-23965CF30CC2}" type="pres">
      <dgm:prSet presAssocID="{63EC8E88-7F3D-4CAB-B8A2-53B76C3B0315}" presName="parentText" presStyleLbl="node1" presStyleIdx="1" presStyleCnt="4">
        <dgm:presLayoutVars>
          <dgm:chMax val="0"/>
          <dgm:bulletEnabled val="1"/>
        </dgm:presLayoutVars>
      </dgm:prSet>
      <dgm:spPr/>
    </dgm:pt>
    <dgm:pt modelId="{661D9481-A415-49D5-9568-6D3D3E9F557A}" type="pres">
      <dgm:prSet presAssocID="{63EC8E88-7F3D-4CAB-B8A2-53B76C3B0315}" presName="negativeSpace" presStyleCnt="0"/>
      <dgm:spPr/>
    </dgm:pt>
    <dgm:pt modelId="{058CE87A-DE7C-451D-A626-7134977BF529}" type="pres">
      <dgm:prSet presAssocID="{63EC8E88-7F3D-4CAB-B8A2-53B76C3B0315}" presName="childText" presStyleLbl="conFgAcc1" presStyleIdx="1" presStyleCnt="4">
        <dgm:presLayoutVars>
          <dgm:bulletEnabled val="1"/>
        </dgm:presLayoutVars>
      </dgm:prSet>
      <dgm:spPr/>
    </dgm:pt>
    <dgm:pt modelId="{6FC6FC64-037A-4A8B-ABD1-F5127D3246DD}" type="pres">
      <dgm:prSet presAssocID="{3459B297-68F6-43D4-9C22-F0125F9DF235}" presName="spaceBetweenRectangles" presStyleCnt="0"/>
      <dgm:spPr/>
    </dgm:pt>
    <dgm:pt modelId="{FB0AF00D-8096-4E9A-874B-EF03437FC68C}" type="pres">
      <dgm:prSet presAssocID="{AFEA828A-4C02-4E0A-A755-11A203198262}" presName="parentLin" presStyleCnt="0"/>
      <dgm:spPr/>
    </dgm:pt>
    <dgm:pt modelId="{00A68C76-2867-46F8-B4AD-94E871A46A79}" type="pres">
      <dgm:prSet presAssocID="{AFEA828A-4C02-4E0A-A755-11A203198262}" presName="parentLeftMargin" presStyleLbl="node1" presStyleIdx="1" presStyleCnt="4"/>
      <dgm:spPr/>
    </dgm:pt>
    <dgm:pt modelId="{C5DD7625-1C8B-41A4-B129-A2A6D2C77FD3}" type="pres">
      <dgm:prSet presAssocID="{AFEA828A-4C02-4E0A-A755-11A203198262}" presName="parentText" presStyleLbl="node1" presStyleIdx="2" presStyleCnt="4">
        <dgm:presLayoutVars>
          <dgm:chMax val="0"/>
          <dgm:bulletEnabled val="1"/>
        </dgm:presLayoutVars>
      </dgm:prSet>
      <dgm:spPr/>
    </dgm:pt>
    <dgm:pt modelId="{23273782-7B78-45C8-A3C3-741440E7625B}" type="pres">
      <dgm:prSet presAssocID="{AFEA828A-4C02-4E0A-A755-11A203198262}" presName="negativeSpace" presStyleCnt="0"/>
      <dgm:spPr/>
    </dgm:pt>
    <dgm:pt modelId="{9888A3E0-506E-4BC6-BA3F-718A0005B024}" type="pres">
      <dgm:prSet presAssocID="{AFEA828A-4C02-4E0A-A755-11A203198262}" presName="childText" presStyleLbl="conFgAcc1" presStyleIdx="2" presStyleCnt="4">
        <dgm:presLayoutVars>
          <dgm:bulletEnabled val="1"/>
        </dgm:presLayoutVars>
      </dgm:prSet>
      <dgm:spPr/>
    </dgm:pt>
    <dgm:pt modelId="{4A9F1B63-20AF-46F3-93DB-4512EC897C7B}" type="pres">
      <dgm:prSet presAssocID="{648F157D-FDE9-4735-B425-B9CA0964F3AF}" presName="spaceBetweenRectangles" presStyleCnt="0"/>
      <dgm:spPr/>
    </dgm:pt>
    <dgm:pt modelId="{D42CBED7-021F-4196-94C9-5ECB6F69E3BA}" type="pres">
      <dgm:prSet presAssocID="{9C03A014-1594-488B-8F5F-275CEA482953}" presName="parentLin" presStyleCnt="0"/>
      <dgm:spPr/>
    </dgm:pt>
    <dgm:pt modelId="{D4E7BD05-F0BA-46AE-A883-67BF689914AF}" type="pres">
      <dgm:prSet presAssocID="{9C03A014-1594-488B-8F5F-275CEA482953}" presName="parentLeftMargin" presStyleLbl="node1" presStyleIdx="2" presStyleCnt="4"/>
      <dgm:spPr/>
    </dgm:pt>
    <dgm:pt modelId="{9C4773CF-F4CB-48E4-A60D-15769D46087F}" type="pres">
      <dgm:prSet presAssocID="{9C03A014-1594-488B-8F5F-275CEA482953}" presName="parentText" presStyleLbl="node1" presStyleIdx="3" presStyleCnt="4">
        <dgm:presLayoutVars>
          <dgm:chMax val="0"/>
          <dgm:bulletEnabled val="1"/>
        </dgm:presLayoutVars>
      </dgm:prSet>
      <dgm:spPr/>
    </dgm:pt>
    <dgm:pt modelId="{530DE7DD-8403-4DC4-B24B-9C2FDA72D243}" type="pres">
      <dgm:prSet presAssocID="{9C03A014-1594-488B-8F5F-275CEA482953}" presName="negativeSpace" presStyleCnt="0"/>
      <dgm:spPr/>
    </dgm:pt>
    <dgm:pt modelId="{74293B70-F4E7-4D94-9055-A9B15E8D83EC}" type="pres">
      <dgm:prSet presAssocID="{9C03A014-1594-488B-8F5F-275CEA482953}" presName="childText" presStyleLbl="conFgAcc1" presStyleIdx="3" presStyleCnt="4">
        <dgm:presLayoutVars>
          <dgm:bulletEnabled val="1"/>
        </dgm:presLayoutVars>
      </dgm:prSet>
      <dgm:spPr/>
    </dgm:pt>
  </dgm:ptLst>
  <dgm:cxnLst>
    <dgm:cxn modelId="{40BC0503-BEDB-42A9-9358-240786E9441F}" srcId="{2C766DD7-71A4-4C55-B6FC-56ACD73F8A42}" destId="{AFEA828A-4C02-4E0A-A755-11A203198262}" srcOrd="2" destOrd="0" parTransId="{B0C8E1F0-6E30-4E68-9975-5E208C32A201}" sibTransId="{648F157D-FDE9-4735-B425-B9CA0964F3AF}"/>
    <dgm:cxn modelId="{30943A08-C319-4DE1-BDA0-C605F58EB3FA}" srcId="{63EC8E88-7F3D-4CAB-B8A2-53B76C3B0315}" destId="{B86BCE10-F282-4C48-9D61-FB0AAF5EBF6D}" srcOrd="2" destOrd="0" parTransId="{4544246D-CB3F-492E-BC4E-780D7D5669CB}" sibTransId="{E7D6D481-F634-4E98-9EE2-A6B9661DFDD4}"/>
    <dgm:cxn modelId="{F7524411-F38F-4823-A8D9-2211F65CCEE1}" type="presOf" srcId="{76EE35FC-3021-4C01-BC4B-7A2EDEC8235D}" destId="{74293B70-F4E7-4D94-9055-A9B15E8D83EC}" srcOrd="0" destOrd="3" presId="urn:microsoft.com/office/officeart/2005/8/layout/list1"/>
    <dgm:cxn modelId="{C71E4714-642E-4B30-AA74-3FC82598FDE8}" type="presOf" srcId="{63EC8E88-7F3D-4CAB-B8A2-53B76C3B0315}" destId="{08D6C307-B5CA-4284-B453-E6AC1F49B70B}" srcOrd="0" destOrd="0" presId="urn:microsoft.com/office/officeart/2005/8/layout/list1"/>
    <dgm:cxn modelId="{14A67A1C-AADB-4020-BF8C-7F0BFD12B117}" srcId="{9C03A014-1594-488B-8F5F-275CEA482953}" destId="{CB719833-C466-4753-B606-EF0726BD7707}" srcOrd="1" destOrd="0" parTransId="{0BBCC6A6-08A0-4BB5-80A6-5D497C48592B}" sibTransId="{538E7CE3-5D7F-4EBF-B7A6-9F1CD07AF322}"/>
    <dgm:cxn modelId="{B2C07121-C0B8-494D-A589-AE88CB2E74DC}" type="presOf" srcId="{B21B520B-E07D-42DE-B88F-020E51157B94}" destId="{74293B70-F4E7-4D94-9055-A9B15E8D83EC}" srcOrd="0" destOrd="4" presId="urn:microsoft.com/office/officeart/2005/8/layout/list1"/>
    <dgm:cxn modelId="{BD4F7225-FBC3-411D-8162-785365EF596D}" srcId="{9C03A014-1594-488B-8F5F-275CEA482953}" destId="{76EE35FC-3021-4C01-BC4B-7A2EDEC8235D}" srcOrd="3" destOrd="0" parTransId="{971D3FBF-A754-4E6F-BCE8-8D6B91D842AD}" sibTransId="{F264B4FF-02CF-42B6-8417-219FD1EC8691}"/>
    <dgm:cxn modelId="{CCA31F26-FA3A-4748-AB9C-38AE309B5DD4}" type="presOf" srcId="{1A66405F-69E8-4377-8AD6-5FA03ACF1C41}" destId="{058CE87A-DE7C-451D-A626-7134977BF529}" srcOrd="0" destOrd="0" presId="urn:microsoft.com/office/officeart/2005/8/layout/list1"/>
    <dgm:cxn modelId="{63D86331-F616-474A-9B8E-1A7CFD24F8E7}" type="presOf" srcId="{B15209E7-DA30-484C-AC99-4ED3B9D757DC}" destId="{32903B36-7C1E-40E5-95D4-ECBBD180059B}" srcOrd="1" destOrd="0" presId="urn:microsoft.com/office/officeart/2005/8/layout/list1"/>
    <dgm:cxn modelId="{603FE735-E11C-4DB6-8389-FE45484060B9}" type="presOf" srcId="{9C03A014-1594-488B-8F5F-275CEA482953}" destId="{D4E7BD05-F0BA-46AE-A883-67BF689914AF}" srcOrd="0" destOrd="0" presId="urn:microsoft.com/office/officeart/2005/8/layout/list1"/>
    <dgm:cxn modelId="{03575A3E-56F1-4358-956B-E19156A213EA}" srcId="{AFEA828A-4C02-4E0A-A755-11A203198262}" destId="{06DAD419-F1A6-41C1-AABB-EC57444AD5E2}" srcOrd="2" destOrd="0" parTransId="{D1BB00C8-9306-46A9-8A20-1B677AA3C3F9}" sibTransId="{B871F3F8-4834-467E-97FB-3378D0F75BF6}"/>
    <dgm:cxn modelId="{16483444-3017-463F-B9A3-97709568EFC2}" srcId="{2C766DD7-71A4-4C55-B6FC-56ACD73F8A42}" destId="{B15209E7-DA30-484C-AC99-4ED3B9D757DC}" srcOrd="0" destOrd="0" parTransId="{57A410CD-DB45-4E9A-9E77-2F5B2F30F24F}" sibTransId="{0ED44339-576D-4617-8291-51405904EAEB}"/>
    <dgm:cxn modelId="{DF73BD44-CD75-4580-B1D9-62E1EA143314}" type="presOf" srcId="{F594C3EC-6BEE-4690-9ECC-ED3BDC00D2D6}" destId="{74293B70-F4E7-4D94-9055-A9B15E8D83EC}" srcOrd="0" destOrd="0" presId="urn:microsoft.com/office/officeart/2005/8/layout/list1"/>
    <dgm:cxn modelId="{5B79DE45-5329-493A-B8E1-E0408758F3B1}" srcId="{9C03A014-1594-488B-8F5F-275CEA482953}" destId="{72311B28-7643-46E9-920D-27B33D89F2D7}" srcOrd="2" destOrd="0" parTransId="{EB4A79ED-B602-4579-8671-1558046B93A6}" sibTransId="{13C32FF3-4EE5-4E03-8901-82C8F1F3DAFF}"/>
    <dgm:cxn modelId="{AB328468-7926-4EBD-9F56-53E3527C5DEF}" type="presOf" srcId="{B86BCE10-F282-4C48-9D61-FB0AAF5EBF6D}" destId="{058CE87A-DE7C-451D-A626-7134977BF529}" srcOrd="0" destOrd="2" presId="urn:microsoft.com/office/officeart/2005/8/layout/list1"/>
    <dgm:cxn modelId="{BF4C7F49-F006-4343-ABF7-6EEACF7D0D9F}" type="presOf" srcId="{72311B28-7643-46E9-920D-27B33D89F2D7}" destId="{74293B70-F4E7-4D94-9055-A9B15E8D83EC}" srcOrd="0" destOrd="2" presId="urn:microsoft.com/office/officeart/2005/8/layout/list1"/>
    <dgm:cxn modelId="{91EF8A69-D3B2-4202-8A3F-3EC977BDAF2A}" srcId="{AFEA828A-4C02-4E0A-A755-11A203198262}" destId="{A6EBC028-1416-4AC3-86F9-C64AB519021F}" srcOrd="0" destOrd="0" parTransId="{8A3003B6-7921-4B60-905E-F897F3F50766}" sibTransId="{D024D82B-39E4-462E-BD54-DBFB48DE9E44}"/>
    <dgm:cxn modelId="{56D0F449-45D6-4CB2-A38C-F5694D036752}" type="presOf" srcId="{C44A847E-5D80-425E-8951-1F12375252E9}" destId="{9888A3E0-506E-4BC6-BA3F-718A0005B024}" srcOrd="0" destOrd="1" presId="urn:microsoft.com/office/officeart/2005/8/layout/list1"/>
    <dgm:cxn modelId="{4B0DE074-0E79-4BC8-99B4-01D4F6B1C6D4}" srcId="{9C03A014-1594-488B-8F5F-275CEA482953}" destId="{F594C3EC-6BEE-4690-9ECC-ED3BDC00D2D6}" srcOrd="0" destOrd="0" parTransId="{31BAC927-7786-4943-ADA0-D5FEEB51882A}" sibTransId="{E8F71242-EE80-4F8D-86DF-B9CF816906C9}"/>
    <dgm:cxn modelId="{103F0E77-C2BE-4A8B-A104-0F883EEE79CF}" srcId="{2C766DD7-71A4-4C55-B6FC-56ACD73F8A42}" destId="{63EC8E88-7F3D-4CAB-B8A2-53B76C3B0315}" srcOrd="1" destOrd="0" parTransId="{445A4C5F-EAF9-4864-9380-DCD800809D02}" sibTransId="{3459B297-68F6-43D4-9C22-F0125F9DF235}"/>
    <dgm:cxn modelId="{FDB35D77-D4FA-4542-9910-FE25DA286B3C}" srcId="{63EC8E88-7F3D-4CAB-B8A2-53B76C3B0315}" destId="{2774F57E-C78F-4498-B05F-80055E065766}" srcOrd="1" destOrd="0" parTransId="{10D28723-9316-47E2-8710-196D20A2511B}" sibTransId="{2895BE55-1780-4593-A322-A1374CD9543B}"/>
    <dgm:cxn modelId="{B7AAB67F-20C5-4896-BBB1-06E364995BB1}" type="presOf" srcId="{D860CD4B-72DF-469B-A312-60777B72FFE5}" destId="{0AF2A591-FC70-4CBA-B2E2-96D36555963D}" srcOrd="0" destOrd="1" presId="urn:microsoft.com/office/officeart/2005/8/layout/list1"/>
    <dgm:cxn modelId="{69FDC085-D62F-4DE5-9AD6-45C682263BF6}" type="presOf" srcId="{B15209E7-DA30-484C-AC99-4ED3B9D757DC}" destId="{3EF7AFE9-E890-4B66-81C9-F545344E7D16}" srcOrd="0" destOrd="0" presId="urn:microsoft.com/office/officeart/2005/8/layout/list1"/>
    <dgm:cxn modelId="{E3A1EE8A-9613-4558-A3CF-19B075567490}" type="presOf" srcId="{9C03A014-1594-488B-8F5F-275CEA482953}" destId="{9C4773CF-F4CB-48E4-A60D-15769D46087F}" srcOrd="1" destOrd="0" presId="urn:microsoft.com/office/officeart/2005/8/layout/list1"/>
    <dgm:cxn modelId="{6D401094-E5E9-480A-A9EE-482ACED25932}" srcId="{2C766DD7-71A4-4C55-B6FC-56ACD73F8A42}" destId="{9C03A014-1594-488B-8F5F-275CEA482953}" srcOrd="3" destOrd="0" parTransId="{9C95AA25-B480-4283-96DE-5460EE9FCF0A}" sibTransId="{F7209E9B-4EDF-4A7B-9418-FA2EAD55A6C3}"/>
    <dgm:cxn modelId="{774BE098-45F2-42F3-899A-66CA5909F4DF}" type="presOf" srcId="{AFEA828A-4C02-4E0A-A755-11A203198262}" destId="{C5DD7625-1C8B-41A4-B129-A2A6D2C77FD3}" srcOrd="1" destOrd="0" presId="urn:microsoft.com/office/officeart/2005/8/layout/list1"/>
    <dgm:cxn modelId="{EE52C99D-EA46-4D65-834D-529F740AED9E}" srcId="{B15209E7-DA30-484C-AC99-4ED3B9D757DC}" destId="{8ABAD36E-831E-40B7-9A58-78AE94BE5515}" srcOrd="0" destOrd="0" parTransId="{B0D03E17-4C21-4DBB-AA0E-ACC3E9166C3C}" sibTransId="{C4C353D9-699A-4BCD-AC08-59681EAAFD27}"/>
    <dgm:cxn modelId="{11C6ADB9-1527-4927-BFBE-8B34A83BB9AA}" type="presOf" srcId="{06DAD419-F1A6-41C1-AABB-EC57444AD5E2}" destId="{9888A3E0-506E-4BC6-BA3F-718A0005B024}" srcOrd="0" destOrd="2" presId="urn:microsoft.com/office/officeart/2005/8/layout/list1"/>
    <dgm:cxn modelId="{A77F8ABA-7DC3-4E52-BAED-1BD903AE9873}" type="presOf" srcId="{2774F57E-C78F-4498-B05F-80055E065766}" destId="{058CE87A-DE7C-451D-A626-7134977BF529}" srcOrd="0" destOrd="1" presId="urn:microsoft.com/office/officeart/2005/8/layout/list1"/>
    <dgm:cxn modelId="{C1F8B9BD-4939-412D-9C2A-7E848F01A628}" type="presOf" srcId="{AFEA828A-4C02-4E0A-A755-11A203198262}" destId="{00A68C76-2867-46F8-B4AD-94E871A46A79}" srcOrd="0" destOrd="0" presId="urn:microsoft.com/office/officeart/2005/8/layout/list1"/>
    <dgm:cxn modelId="{866A48BF-3E51-49AE-B5B4-B39275D3713B}" srcId="{63EC8E88-7F3D-4CAB-B8A2-53B76C3B0315}" destId="{1A66405F-69E8-4377-8AD6-5FA03ACF1C41}" srcOrd="0" destOrd="0" parTransId="{5A64F3CD-5D2B-4CBA-AE6A-280F125C6A0A}" sibTransId="{768325C0-35AA-410A-A9D2-47F7EE1527E6}"/>
    <dgm:cxn modelId="{E3864EBF-C212-4DA0-9F43-1514E7503A6C}" srcId="{B15209E7-DA30-484C-AC99-4ED3B9D757DC}" destId="{D860CD4B-72DF-469B-A312-60777B72FFE5}" srcOrd="1" destOrd="0" parTransId="{BF009991-13B8-4334-88BC-54844319870B}" sibTransId="{66294D7B-DCC0-49FC-A2FB-46E3CFC7705B}"/>
    <dgm:cxn modelId="{8504B3C0-90B0-44AD-9F48-624D07D92DD5}" type="presOf" srcId="{A6EBC028-1416-4AC3-86F9-C64AB519021F}" destId="{9888A3E0-506E-4BC6-BA3F-718A0005B024}" srcOrd="0" destOrd="0" presId="urn:microsoft.com/office/officeart/2005/8/layout/list1"/>
    <dgm:cxn modelId="{A9002EDF-FAF7-4B1E-8E21-97D6779851A7}" srcId="{9C03A014-1594-488B-8F5F-275CEA482953}" destId="{B21B520B-E07D-42DE-B88F-020E51157B94}" srcOrd="4" destOrd="0" parTransId="{C8823B8D-B186-4913-8993-0144A9244610}" sibTransId="{7E6DEDD0-3C76-4594-8BB4-644B06E4E5F7}"/>
    <dgm:cxn modelId="{2F1BFBF3-0364-47F1-AB75-D189464E3973}" type="presOf" srcId="{63EC8E88-7F3D-4CAB-B8A2-53B76C3B0315}" destId="{68956B9F-1450-4AA9-87D8-23965CF30CC2}" srcOrd="1" destOrd="0" presId="urn:microsoft.com/office/officeart/2005/8/layout/list1"/>
    <dgm:cxn modelId="{367FA8F4-04CF-4DC6-9652-09FA40F82FB3}" type="presOf" srcId="{2C766DD7-71A4-4C55-B6FC-56ACD73F8A42}" destId="{5FD0972B-F82D-4422-B40C-8FA5BE04E345}" srcOrd="0" destOrd="0" presId="urn:microsoft.com/office/officeart/2005/8/layout/list1"/>
    <dgm:cxn modelId="{96DFBFF7-720E-41B3-84EC-7BA48E6D0ABE}" type="presOf" srcId="{8ABAD36E-831E-40B7-9A58-78AE94BE5515}" destId="{0AF2A591-FC70-4CBA-B2E2-96D36555963D}" srcOrd="0" destOrd="0" presId="urn:microsoft.com/office/officeart/2005/8/layout/list1"/>
    <dgm:cxn modelId="{CD45C6F9-D182-42FC-962F-E9E406087218}" srcId="{AFEA828A-4C02-4E0A-A755-11A203198262}" destId="{C44A847E-5D80-425E-8951-1F12375252E9}" srcOrd="1" destOrd="0" parTransId="{FF6A0520-4F08-458E-8FAB-12330C9EE1E6}" sibTransId="{7DD39D98-DABC-45CB-88E9-5EFBF12DF972}"/>
    <dgm:cxn modelId="{CA6A0BFD-38EF-4EBA-BD94-CB86B40346A2}" type="presOf" srcId="{CB719833-C466-4753-B606-EF0726BD7707}" destId="{74293B70-F4E7-4D94-9055-A9B15E8D83EC}" srcOrd="0" destOrd="1" presId="urn:microsoft.com/office/officeart/2005/8/layout/list1"/>
    <dgm:cxn modelId="{29E9AE52-DB9B-43C1-B475-BD7F4860DC45}" type="presParOf" srcId="{5FD0972B-F82D-4422-B40C-8FA5BE04E345}" destId="{73B5684C-8A57-4ADD-A6F2-7CAC48356E63}" srcOrd="0" destOrd="0" presId="urn:microsoft.com/office/officeart/2005/8/layout/list1"/>
    <dgm:cxn modelId="{7E78FB1A-633D-4CA3-BFA3-96B31C91E9FB}" type="presParOf" srcId="{73B5684C-8A57-4ADD-A6F2-7CAC48356E63}" destId="{3EF7AFE9-E890-4B66-81C9-F545344E7D16}" srcOrd="0" destOrd="0" presId="urn:microsoft.com/office/officeart/2005/8/layout/list1"/>
    <dgm:cxn modelId="{8D1F14B6-5B49-49A5-AB3C-9819B1301E01}" type="presParOf" srcId="{73B5684C-8A57-4ADD-A6F2-7CAC48356E63}" destId="{32903B36-7C1E-40E5-95D4-ECBBD180059B}" srcOrd="1" destOrd="0" presId="urn:microsoft.com/office/officeart/2005/8/layout/list1"/>
    <dgm:cxn modelId="{E5F3E6B1-F13E-4C4E-AD0E-36B2E6E1219B}" type="presParOf" srcId="{5FD0972B-F82D-4422-B40C-8FA5BE04E345}" destId="{9B2212FD-7278-4A8D-A1CD-B97250F6C8CD}" srcOrd="1" destOrd="0" presId="urn:microsoft.com/office/officeart/2005/8/layout/list1"/>
    <dgm:cxn modelId="{7D24C901-528E-4D46-8ACD-8B299F5DD456}" type="presParOf" srcId="{5FD0972B-F82D-4422-B40C-8FA5BE04E345}" destId="{0AF2A591-FC70-4CBA-B2E2-96D36555963D}" srcOrd="2" destOrd="0" presId="urn:microsoft.com/office/officeart/2005/8/layout/list1"/>
    <dgm:cxn modelId="{B9B4E241-01C7-46E5-B0A1-A21010277C56}" type="presParOf" srcId="{5FD0972B-F82D-4422-B40C-8FA5BE04E345}" destId="{0307B9A9-0E3C-4E26-BA5A-E4218A60A12F}" srcOrd="3" destOrd="0" presId="urn:microsoft.com/office/officeart/2005/8/layout/list1"/>
    <dgm:cxn modelId="{F0D5650D-E62D-48AB-A0AE-4BDD042F86BA}" type="presParOf" srcId="{5FD0972B-F82D-4422-B40C-8FA5BE04E345}" destId="{0CAF38CC-7126-4C23-AD6A-BBB7C1E119D6}" srcOrd="4" destOrd="0" presId="urn:microsoft.com/office/officeart/2005/8/layout/list1"/>
    <dgm:cxn modelId="{FD0DAF48-AD30-4C10-8D38-8692AD59E19C}" type="presParOf" srcId="{0CAF38CC-7126-4C23-AD6A-BBB7C1E119D6}" destId="{08D6C307-B5CA-4284-B453-E6AC1F49B70B}" srcOrd="0" destOrd="0" presId="urn:microsoft.com/office/officeart/2005/8/layout/list1"/>
    <dgm:cxn modelId="{060AADDE-CBB4-4EA4-928E-971E003429FE}" type="presParOf" srcId="{0CAF38CC-7126-4C23-AD6A-BBB7C1E119D6}" destId="{68956B9F-1450-4AA9-87D8-23965CF30CC2}" srcOrd="1" destOrd="0" presId="urn:microsoft.com/office/officeart/2005/8/layout/list1"/>
    <dgm:cxn modelId="{A8E7FB4C-7BFD-4868-B725-283F1CA8D237}" type="presParOf" srcId="{5FD0972B-F82D-4422-B40C-8FA5BE04E345}" destId="{661D9481-A415-49D5-9568-6D3D3E9F557A}" srcOrd="5" destOrd="0" presId="urn:microsoft.com/office/officeart/2005/8/layout/list1"/>
    <dgm:cxn modelId="{C827E870-6E85-42CB-8264-3BF4092FDB5A}" type="presParOf" srcId="{5FD0972B-F82D-4422-B40C-8FA5BE04E345}" destId="{058CE87A-DE7C-451D-A626-7134977BF529}" srcOrd="6" destOrd="0" presId="urn:microsoft.com/office/officeart/2005/8/layout/list1"/>
    <dgm:cxn modelId="{113E5669-B82E-446F-9B76-09D94EC912A2}" type="presParOf" srcId="{5FD0972B-F82D-4422-B40C-8FA5BE04E345}" destId="{6FC6FC64-037A-4A8B-ABD1-F5127D3246DD}" srcOrd="7" destOrd="0" presId="urn:microsoft.com/office/officeart/2005/8/layout/list1"/>
    <dgm:cxn modelId="{3DE54B1A-F252-4B5E-8981-25D26697F033}" type="presParOf" srcId="{5FD0972B-F82D-4422-B40C-8FA5BE04E345}" destId="{FB0AF00D-8096-4E9A-874B-EF03437FC68C}" srcOrd="8" destOrd="0" presId="urn:microsoft.com/office/officeart/2005/8/layout/list1"/>
    <dgm:cxn modelId="{4C8B9059-D3C5-4071-9FD9-433F5FF8CC26}" type="presParOf" srcId="{FB0AF00D-8096-4E9A-874B-EF03437FC68C}" destId="{00A68C76-2867-46F8-B4AD-94E871A46A79}" srcOrd="0" destOrd="0" presId="urn:microsoft.com/office/officeart/2005/8/layout/list1"/>
    <dgm:cxn modelId="{883E626B-42FF-4EA9-B59D-EE93F07F5478}" type="presParOf" srcId="{FB0AF00D-8096-4E9A-874B-EF03437FC68C}" destId="{C5DD7625-1C8B-41A4-B129-A2A6D2C77FD3}" srcOrd="1" destOrd="0" presId="urn:microsoft.com/office/officeart/2005/8/layout/list1"/>
    <dgm:cxn modelId="{DC6D25BF-B643-40F9-B735-424FFA702C54}" type="presParOf" srcId="{5FD0972B-F82D-4422-B40C-8FA5BE04E345}" destId="{23273782-7B78-45C8-A3C3-741440E7625B}" srcOrd="9" destOrd="0" presId="urn:microsoft.com/office/officeart/2005/8/layout/list1"/>
    <dgm:cxn modelId="{8F6C0287-8113-4974-9D47-3816FABFDF23}" type="presParOf" srcId="{5FD0972B-F82D-4422-B40C-8FA5BE04E345}" destId="{9888A3E0-506E-4BC6-BA3F-718A0005B024}" srcOrd="10" destOrd="0" presId="urn:microsoft.com/office/officeart/2005/8/layout/list1"/>
    <dgm:cxn modelId="{DC2E8674-E1DD-4796-8BC5-21A37CAC82CE}" type="presParOf" srcId="{5FD0972B-F82D-4422-B40C-8FA5BE04E345}" destId="{4A9F1B63-20AF-46F3-93DB-4512EC897C7B}" srcOrd="11" destOrd="0" presId="urn:microsoft.com/office/officeart/2005/8/layout/list1"/>
    <dgm:cxn modelId="{A5966D3F-0F9E-4B85-A43F-D9CC20C624D3}" type="presParOf" srcId="{5FD0972B-F82D-4422-B40C-8FA5BE04E345}" destId="{D42CBED7-021F-4196-94C9-5ECB6F69E3BA}" srcOrd="12" destOrd="0" presId="urn:microsoft.com/office/officeart/2005/8/layout/list1"/>
    <dgm:cxn modelId="{353FEC88-7F0C-4CB9-8FAB-664CF9DF22E2}" type="presParOf" srcId="{D42CBED7-021F-4196-94C9-5ECB6F69E3BA}" destId="{D4E7BD05-F0BA-46AE-A883-67BF689914AF}" srcOrd="0" destOrd="0" presId="urn:microsoft.com/office/officeart/2005/8/layout/list1"/>
    <dgm:cxn modelId="{8BFE0FCC-C7C7-4F6E-AC17-2CF45B99942A}" type="presParOf" srcId="{D42CBED7-021F-4196-94C9-5ECB6F69E3BA}" destId="{9C4773CF-F4CB-48E4-A60D-15769D46087F}" srcOrd="1" destOrd="0" presId="urn:microsoft.com/office/officeart/2005/8/layout/list1"/>
    <dgm:cxn modelId="{7E9571D6-1ABA-4983-84D6-AB3AA9705C82}" type="presParOf" srcId="{5FD0972B-F82D-4422-B40C-8FA5BE04E345}" destId="{530DE7DD-8403-4DC4-B24B-9C2FDA72D243}" srcOrd="13" destOrd="0" presId="urn:microsoft.com/office/officeart/2005/8/layout/list1"/>
    <dgm:cxn modelId="{5571DAB1-A974-464E-877F-74978732A34A}" type="presParOf" srcId="{5FD0972B-F82D-4422-B40C-8FA5BE04E345}" destId="{74293B70-F4E7-4D94-9055-A9B15E8D83EC}"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5DEEB-0C29-4CBD-961E-9EBA0C0424BE}">
      <dsp:nvSpPr>
        <dsp:cNvPr id="0" name=""/>
        <dsp:cNvSpPr/>
      </dsp:nvSpPr>
      <dsp:spPr>
        <a:xfrm>
          <a:off x="4588" y="618713"/>
          <a:ext cx="1422548" cy="104857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1968 / 1994</a:t>
          </a:r>
          <a:br>
            <a:rPr lang="en-US" sz="1100" kern="1200" dirty="0">
              <a:latin typeface="Times New Roman" panose="02020603050405020304" pitchFamily="18" charset="0"/>
              <a:cs typeface="Times New Roman" panose="02020603050405020304" pitchFamily="18" charset="0"/>
            </a:rPr>
          </a:br>
          <a:r>
            <a:rPr lang="en-US" sz="1100" i="1" kern="1200" dirty="0">
              <a:latin typeface="Times New Roman" panose="02020603050405020304" pitchFamily="18" charset="0"/>
              <a:cs typeface="Times New Roman" panose="02020603050405020304" pitchFamily="18" charset="0"/>
            </a:rPr>
            <a:t>Foundations: Statistical methods (Altman)</a:t>
          </a:r>
          <a:endParaRPr lang="en-IN" sz="1100" kern="1200" dirty="0">
            <a:latin typeface="Times New Roman" panose="02020603050405020304" pitchFamily="18" charset="0"/>
            <a:cs typeface="Times New Roman" panose="02020603050405020304" pitchFamily="18" charset="0"/>
          </a:endParaRPr>
        </a:p>
      </dsp:txBody>
      <dsp:txXfrm>
        <a:off x="35300" y="649425"/>
        <a:ext cx="1361124" cy="987150"/>
      </dsp:txXfrm>
    </dsp:sp>
    <dsp:sp modelId="{438F872D-AD47-49A0-B949-30B87BAB4579}">
      <dsp:nvSpPr>
        <dsp:cNvPr id="0" name=""/>
        <dsp:cNvSpPr/>
      </dsp:nvSpPr>
      <dsp:spPr>
        <a:xfrm>
          <a:off x="1569392" y="966604"/>
          <a:ext cx="301580" cy="35279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latin typeface="Times New Roman" panose="02020603050405020304" pitchFamily="18" charset="0"/>
            <a:cs typeface="Times New Roman" panose="02020603050405020304" pitchFamily="18" charset="0"/>
          </a:endParaRPr>
        </a:p>
      </dsp:txBody>
      <dsp:txXfrm>
        <a:off x="1569392" y="1037162"/>
        <a:ext cx="211106" cy="211676"/>
      </dsp:txXfrm>
    </dsp:sp>
    <dsp:sp modelId="{ACD2D603-3B45-4168-990D-D3581BE1A501}">
      <dsp:nvSpPr>
        <dsp:cNvPr id="0" name=""/>
        <dsp:cNvSpPr/>
      </dsp:nvSpPr>
      <dsp:spPr>
        <a:xfrm>
          <a:off x="1996157" y="618713"/>
          <a:ext cx="1422548" cy="104857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2003 / 2009</a:t>
          </a:r>
          <a:br>
            <a:rPr lang="en-US" sz="1100" kern="1200" dirty="0">
              <a:latin typeface="Times New Roman" panose="02020603050405020304" pitchFamily="18" charset="0"/>
              <a:cs typeface="Times New Roman" panose="02020603050405020304" pitchFamily="18" charset="0"/>
            </a:rPr>
          </a:br>
          <a:r>
            <a:rPr lang="en-US" sz="1100" i="1" kern="1200" dirty="0">
              <a:latin typeface="Times New Roman" panose="02020603050405020304" pitchFamily="18" charset="0"/>
              <a:cs typeface="Times New Roman" panose="02020603050405020304" pitchFamily="18" charset="0"/>
            </a:rPr>
            <a:t>Early ML: SVM, RF (</a:t>
          </a:r>
          <a:r>
            <a:rPr lang="en-US" sz="1100" i="1" kern="1200" dirty="0" err="1">
              <a:latin typeface="Times New Roman" panose="02020603050405020304" pitchFamily="18" charset="0"/>
              <a:cs typeface="Times New Roman" panose="02020603050405020304" pitchFamily="18" charset="0"/>
            </a:rPr>
            <a:t>Baesens</a:t>
          </a:r>
          <a:r>
            <a:rPr lang="en-US" sz="1100" i="1" kern="1200" dirty="0">
              <a:latin typeface="Times New Roman" panose="02020603050405020304" pitchFamily="18" charset="0"/>
              <a:cs typeface="Times New Roman" panose="02020603050405020304" pitchFamily="18" charset="0"/>
            </a:rPr>
            <a:t>; Bellotti &amp; Crook)</a:t>
          </a:r>
          <a:endParaRPr lang="en-US" sz="1100" kern="1200" dirty="0">
            <a:latin typeface="Times New Roman" panose="02020603050405020304" pitchFamily="18" charset="0"/>
            <a:cs typeface="Times New Roman" panose="02020603050405020304" pitchFamily="18" charset="0"/>
          </a:endParaRPr>
        </a:p>
      </dsp:txBody>
      <dsp:txXfrm>
        <a:off x="2026869" y="649425"/>
        <a:ext cx="1361124" cy="987150"/>
      </dsp:txXfrm>
    </dsp:sp>
    <dsp:sp modelId="{63829D19-D5B5-4077-9892-1F68E87F26A2}">
      <dsp:nvSpPr>
        <dsp:cNvPr id="0" name=""/>
        <dsp:cNvSpPr/>
      </dsp:nvSpPr>
      <dsp:spPr>
        <a:xfrm>
          <a:off x="3560960" y="966604"/>
          <a:ext cx="301580" cy="35279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latin typeface="Times New Roman" panose="02020603050405020304" pitchFamily="18" charset="0"/>
            <a:cs typeface="Times New Roman" panose="02020603050405020304" pitchFamily="18" charset="0"/>
          </a:endParaRPr>
        </a:p>
      </dsp:txBody>
      <dsp:txXfrm>
        <a:off x="3560960" y="1037162"/>
        <a:ext cx="211106" cy="211676"/>
      </dsp:txXfrm>
    </dsp:sp>
    <dsp:sp modelId="{EFD87209-0493-4705-9607-B2D182D96513}">
      <dsp:nvSpPr>
        <dsp:cNvPr id="0" name=""/>
        <dsp:cNvSpPr/>
      </dsp:nvSpPr>
      <dsp:spPr>
        <a:xfrm>
          <a:off x="3987725" y="618713"/>
          <a:ext cx="1422548" cy="104857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2010 / 2015</a:t>
          </a:r>
          <a:br>
            <a:rPr lang="en-US" sz="1100" kern="1200" dirty="0">
              <a:latin typeface="Times New Roman" panose="02020603050405020304" pitchFamily="18" charset="0"/>
              <a:cs typeface="Times New Roman" panose="02020603050405020304" pitchFamily="18" charset="0"/>
            </a:rPr>
          </a:br>
          <a:r>
            <a:rPr lang="en-US" sz="1100" i="1" kern="1200" dirty="0">
              <a:latin typeface="Times New Roman" panose="02020603050405020304" pitchFamily="18" charset="0"/>
              <a:cs typeface="Times New Roman" panose="02020603050405020304" pitchFamily="18" charset="0"/>
            </a:rPr>
            <a:t>Ensembles &amp; Benchmarks: Decision trees (</a:t>
          </a:r>
          <a:r>
            <a:rPr lang="en-US" sz="1100" i="1" kern="1200" dirty="0" err="1">
              <a:latin typeface="Times New Roman" panose="02020603050405020304" pitchFamily="18" charset="0"/>
              <a:cs typeface="Times New Roman" panose="02020603050405020304" pitchFamily="18" charset="0"/>
            </a:rPr>
            <a:t>Khandani</a:t>
          </a:r>
          <a:r>
            <a:rPr lang="en-US" sz="1100" i="1" kern="1200" dirty="0">
              <a:latin typeface="Times New Roman" panose="02020603050405020304" pitchFamily="18" charset="0"/>
              <a:cs typeface="Times New Roman" panose="02020603050405020304" pitchFamily="18" charset="0"/>
            </a:rPr>
            <a:t>; Lessmann)</a:t>
          </a:r>
          <a:endParaRPr lang="en-US" sz="1100" kern="1200" dirty="0">
            <a:latin typeface="Times New Roman" panose="02020603050405020304" pitchFamily="18" charset="0"/>
            <a:cs typeface="Times New Roman" panose="02020603050405020304" pitchFamily="18" charset="0"/>
          </a:endParaRPr>
        </a:p>
      </dsp:txBody>
      <dsp:txXfrm>
        <a:off x="4018437" y="649425"/>
        <a:ext cx="1361124" cy="987150"/>
      </dsp:txXfrm>
    </dsp:sp>
    <dsp:sp modelId="{1A6132DC-4C9F-4171-9E4E-8F5DD6051C2A}">
      <dsp:nvSpPr>
        <dsp:cNvPr id="0" name=""/>
        <dsp:cNvSpPr/>
      </dsp:nvSpPr>
      <dsp:spPr>
        <a:xfrm>
          <a:off x="5552529" y="966604"/>
          <a:ext cx="301580" cy="35279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latin typeface="Times New Roman" panose="02020603050405020304" pitchFamily="18" charset="0"/>
            <a:cs typeface="Times New Roman" panose="02020603050405020304" pitchFamily="18" charset="0"/>
          </a:endParaRPr>
        </a:p>
      </dsp:txBody>
      <dsp:txXfrm>
        <a:off x="5552529" y="1037162"/>
        <a:ext cx="211106" cy="211676"/>
      </dsp:txXfrm>
    </dsp:sp>
    <dsp:sp modelId="{8B816202-8654-4B6F-A43E-45DFCFCE921F}">
      <dsp:nvSpPr>
        <dsp:cNvPr id="0" name=""/>
        <dsp:cNvSpPr/>
      </dsp:nvSpPr>
      <dsp:spPr>
        <a:xfrm>
          <a:off x="5979293" y="618713"/>
          <a:ext cx="1422548" cy="104857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b="1" kern="1200">
              <a:latin typeface="Times New Roman" panose="02020603050405020304" pitchFamily="18" charset="0"/>
              <a:cs typeface="Times New Roman" panose="02020603050405020304" pitchFamily="18" charset="0"/>
            </a:rPr>
            <a:t>2016 / 2022</a:t>
          </a:r>
          <a:br>
            <a:rPr lang="en-IN" sz="1100" kern="1200">
              <a:latin typeface="Times New Roman" panose="02020603050405020304" pitchFamily="18" charset="0"/>
              <a:cs typeface="Times New Roman" panose="02020603050405020304" pitchFamily="18" charset="0"/>
            </a:rPr>
          </a:br>
          <a:r>
            <a:rPr lang="en-IN" sz="1100" i="1" kern="1200">
              <a:latin typeface="Times New Roman" panose="02020603050405020304" pitchFamily="18" charset="0"/>
              <a:cs typeface="Times New Roman" panose="02020603050405020304" pitchFamily="18" charset="0"/>
            </a:rPr>
            <a:t>Hybrid &amp; Fairness: Logit + Trees, Gradient boosting + fairness (Louzada; Kozodoi)</a:t>
          </a:r>
          <a:endParaRPr lang="en-IN" sz="1100" kern="1200">
            <a:latin typeface="Times New Roman" panose="02020603050405020304" pitchFamily="18" charset="0"/>
            <a:cs typeface="Times New Roman" panose="02020603050405020304" pitchFamily="18" charset="0"/>
          </a:endParaRPr>
        </a:p>
      </dsp:txBody>
      <dsp:txXfrm>
        <a:off x="6010005" y="649425"/>
        <a:ext cx="1361124" cy="987150"/>
      </dsp:txXfrm>
    </dsp:sp>
    <dsp:sp modelId="{2AF7FC2D-B7A3-4323-AE68-521A73E42442}">
      <dsp:nvSpPr>
        <dsp:cNvPr id="0" name=""/>
        <dsp:cNvSpPr/>
      </dsp:nvSpPr>
      <dsp:spPr>
        <a:xfrm>
          <a:off x="7544097" y="966604"/>
          <a:ext cx="301580" cy="35279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latin typeface="Times New Roman" panose="02020603050405020304" pitchFamily="18" charset="0"/>
            <a:cs typeface="Times New Roman" panose="02020603050405020304" pitchFamily="18" charset="0"/>
          </a:endParaRPr>
        </a:p>
      </dsp:txBody>
      <dsp:txXfrm>
        <a:off x="7544097" y="1037162"/>
        <a:ext cx="211106" cy="211676"/>
      </dsp:txXfrm>
    </dsp:sp>
    <dsp:sp modelId="{F993DC42-AD7B-42F4-8602-A8E89AD54439}">
      <dsp:nvSpPr>
        <dsp:cNvPr id="0" name=""/>
        <dsp:cNvSpPr/>
      </dsp:nvSpPr>
      <dsp:spPr>
        <a:xfrm>
          <a:off x="7970862" y="618713"/>
          <a:ext cx="1422548" cy="104857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2023 / 2024</a:t>
          </a:r>
          <a:br>
            <a:rPr lang="en-US" sz="1100" kern="1200" dirty="0">
              <a:latin typeface="Times New Roman" panose="02020603050405020304" pitchFamily="18" charset="0"/>
              <a:cs typeface="Times New Roman" panose="02020603050405020304" pitchFamily="18" charset="0"/>
            </a:rPr>
          </a:br>
          <a:r>
            <a:rPr lang="en-US" sz="1100" i="1" kern="1200" dirty="0">
              <a:latin typeface="Times New Roman" panose="02020603050405020304" pitchFamily="18" charset="0"/>
              <a:cs typeface="Times New Roman" panose="02020603050405020304" pitchFamily="18" charset="0"/>
            </a:rPr>
            <a:t>Deep Learning &amp; Transformers: DL frameworks (</a:t>
          </a:r>
          <a:r>
            <a:rPr lang="en-US" sz="1100" i="1" kern="1200" dirty="0" err="1">
              <a:latin typeface="Times New Roman" panose="02020603050405020304" pitchFamily="18" charset="0"/>
              <a:cs typeface="Times New Roman" panose="02020603050405020304" pitchFamily="18" charset="0"/>
            </a:rPr>
            <a:t>DeRisk</a:t>
          </a:r>
          <a:r>
            <a:rPr lang="en-US" sz="1100" i="1" kern="1200" dirty="0">
              <a:latin typeface="Times New Roman" panose="02020603050405020304" pitchFamily="18" charset="0"/>
              <a:cs typeface="Times New Roman" panose="02020603050405020304" pitchFamily="18" charset="0"/>
            </a:rPr>
            <a:t>; Transformer Study)</a:t>
          </a:r>
          <a:endParaRPr lang="en-US" sz="1100" kern="1200" dirty="0">
            <a:latin typeface="Times New Roman" panose="02020603050405020304" pitchFamily="18" charset="0"/>
            <a:cs typeface="Times New Roman" panose="02020603050405020304" pitchFamily="18" charset="0"/>
          </a:endParaRPr>
        </a:p>
      </dsp:txBody>
      <dsp:txXfrm>
        <a:off x="8001574" y="649425"/>
        <a:ext cx="1361124" cy="9871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F2A591-FC70-4CBA-B2E2-96D36555963D}">
      <dsp:nvSpPr>
        <dsp:cNvPr id="0" name=""/>
        <dsp:cNvSpPr/>
      </dsp:nvSpPr>
      <dsp:spPr>
        <a:xfrm>
          <a:off x="0" y="209596"/>
          <a:ext cx="8255000" cy="699300"/>
        </a:xfrm>
        <a:prstGeom prst="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680" tIns="249936" rIns="640680"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IN" sz="1200" i="1" kern="1200" dirty="0"/>
            <a:t>Vaswani et al. (2017):</a:t>
          </a:r>
          <a:r>
            <a:rPr lang="en-IN" sz="1200" kern="1200" dirty="0"/>
            <a:t> Transformer architecture → foundation for modern LLMs.</a:t>
          </a:r>
        </a:p>
        <a:p>
          <a:pPr marL="114300" lvl="1" indent="-114300" algn="l" defTabSz="533400">
            <a:lnSpc>
              <a:spcPct val="90000"/>
            </a:lnSpc>
            <a:spcBef>
              <a:spcPct val="0"/>
            </a:spcBef>
            <a:spcAft>
              <a:spcPct val="15000"/>
            </a:spcAft>
            <a:buFont typeface="Arial" panose="020B0604020202020204" pitchFamily="34" charset="0"/>
            <a:buChar char="•"/>
          </a:pPr>
          <a:r>
            <a:rPr lang="en-US" sz="1200" i="1" kern="1200" dirty="0"/>
            <a:t>Devlin et al. (2018):</a:t>
          </a:r>
          <a:r>
            <a:rPr lang="en-US" sz="1200" kern="1200" dirty="0"/>
            <a:t> BERT → contextual embeddings, new state-of-the-art in NLP tasks.</a:t>
          </a:r>
        </a:p>
      </dsp:txBody>
      <dsp:txXfrm>
        <a:off x="0" y="209596"/>
        <a:ext cx="8255000" cy="699300"/>
      </dsp:txXfrm>
    </dsp:sp>
    <dsp:sp modelId="{32903B36-7C1E-40E5-95D4-ECBBD180059B}">
      <dsp:nvSpPr>
        <dsp:cNvPr id="0" name=""/>
        <dsp:cNvSpPr/>
      </dsp:nvSpPr>
      <dsp:spPr>
        <a:xfrm>
          <a:off x="412750" y="32476"/>
          <a:ext cx="5778500" cy="35424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414" tIns="0" rIns="218414" bIns="0" numCol="1" spcCol="1270" anchor="ctr" anchorCtr="0">
          <a:noAutofit/>
        </a:bodyPr>
        <a:lstStyle/>
        <a:p>
          <a:pPr marL="0" lvl="0" indent="0" algn="l" defTabSz="533400">
            <a:lnSpc>
              <a:spcPct val="90000"/>
            </a:lnSpc>
            <a:spcBef>
              <a:spcPct val="0"/>
            </a:spcBef>
            <a:spcAft>
              <a:spcPct val="35000"/>
            </a:spcAft>
            <a:buNone/>
          </a:pPr>
          <a:r>
            <a:rPr lang="en-US" sz="1200" b="1" kern="1200" dirty="0"/>
            <a:t>1. Foundations of Transformers (2017–2018)</a:t>
          </a:r>
          <a:endParaRPr lang="en-IN" sz="1200" kern="1200" dirty="0"/>
        </a:p>
      </dsp:txBody>
      <dsp:txXfrm>
        <a:off x="430043" y="49769"/>
        <a:ext cx="5743914" cy="319654"/>
      </dsp:txXfrm>
    </dsp:sp>
    <dsp:sp modelId="{058CE87A-DE7C-451D-A626-7134977BF529}">
      <dsp:nvSpPr>
        <dsp:cNvPr id="0" name=""/>
        <dsp:cNvSpPr/>
      </dsp:nvSpPr>
      <dsp:spPr>
        <a:xfrm>
          <a:off x="0" y="1150816"/>
          <a:ext cx="8255000" cy="907200"/>
        </a:xfrm>
        <a:prstGeom prst="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680" tIns="249936" rIns="640680"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IN" sz="1200" i="1" kern="1200" dirty="0"/>
            <a:t>Radford et al. (2018):</a:t>
          </a:r>
          <a:r>
            <a:rPr lang="en-IN" sz="1200" kern="1200" dirty="0"/>
            <a:t> GPT → demonstrated transfer learning in NLP.</a:t>
          </a:r>
        </a:p>
        <a:p>
          <a:pPr marL="114300" lvl="1" indent="-114300" algn="l" defTabSz="533400">
            <a:lnSpc>
              <a:spcPct val="90000"/>
            </a:lnSpc>
            <a:spcBef>
              <a:spcPct val="0"/>
            </a:spcBef>
            <a:spcAft>
              <a:spcPct val="15000"/>
            </a:spcAft>
            <a:buFont typeface="Arial" panose="020B0604020202020204" pitchFamily="34" charset="0"/>
            <a:buChar char="•"/>
          </a:pPr>
          <a:r>
            <a:rPr lang="en-US" sz="1200" i="1" kern="1200" dirty="0"/>
            <a:t>Brown et al. (2020):</a:t>
          </a:r>
          <a:r>
            <a:rPr lang="en-US" sz="1200" kern="1200" dirty="0"/>
            <a:t> GPT-3 → few-shot reasoning, scaling breakthroughs.</a:t>
          </a:r>
        </a:p>
        <a:p>
          <a:pPr marL="114300" lvl="1" indent="-114300" algn="l" defTabSz="533400">
            <a:lnSpc>
              <a:spcPct val="90000"/>
            </a:lnSpc>
            <a:spcBef>
              <a:spcPct val="0"/>
            </a:spcBef>
            <a:spcAft>
              <a:spcPct val="15000"/>
            </a:spcAft>
            <a:buFont typeface="Arial" panose="020B0604020202020204" pitchFamily="34" charset="0"/>
            <a:buChar char="•"/>
          </a:pPr>
          <a:r>
            <a:rPr lang="en-US" sz="1200" i="1" kern="1200" dirty="0"/>
            <a:t>Raffel et al. (2020):</a:t>
          </a:r>
          <a:r>
            <a:rPr lang="en-US" sz="1200" kern="1200" dirty="0"/>
            <a:t> T5 → unified text-to-text framework, multi-task performance.</a:t>
          </a:r>
        </a:p>
      </dsp:txBody>
      <dsp:txXfrm>
        <a:off x="0" y="1150816"/>
        <a:ext cx="8255000" cy="907200"/>
      </dsp:txXfrm>
    </dsp:sp>
    <dsp:sp modelId="{68956B9F-1450-4AA9-87D8-23965CF30CC2}">
      <dsp:nvSpPr>
        <dsp:cNvPr id="0" name=""/>
        <dsp:cNvSpPr/>
      </dsp:nvSpPr>
      <dsp:spPr>
        <a:xfrm>
          <a:off x="412750" y="973696"/>
          <a:ext cx="5778500" cy="35424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414" tIns="0" rIns="218414" bIns="0" numCol="1" spcCol="1270" anchor="ctr" anchorCtr="0">
          <a:noAutofit/>
        </a:bodyPr>
        <a:lstStyle/>
        <a:p>
          <a:pPr marL="0" lvl="0" indent="0" algn="l" defTabSz="533400">
            <a:lnSpc>
              <a:spcPct val="90000"/>
            </a:lnSpc>
            <a:spcBef>
              <a:spcPct val="0"/>
            </a:spcBef>
            <a:spcAft>
              <a:spcPct val="35000"/>
            </a:spcAft>
            <a:buNone/>
          </a:pPr>
          <a:r>
            <a:rPr lang="en-IN" sz="1200" b="1" kern="1200" dirty="0"/>
            <a:t>2. Generative Pretraining (2018–2020)</a:t>
          </a:r>
          <a:endParaRPr lang="en-IN" sz="1200" kern="1200" dirty="0"/>
        </a:p>
      </dsp:txBody>
      <dsp:txXfrm>
        <a:off x="430043" y="990989"/>
        <a:ext cx="5743914" cy="319654"/>
      </dsp:txXfrm>
    </dsp:sp>
    <dsp:sp modelId="{9888A3E0-506E-4BC6-BA3F-718A0005B024}">
      <dsp:nvSpPr>
        <dsp:cNvPr id="0" name=""/>
        <dsp:cNvSpPr/>
      </dsp:nvSpPr>
      <dsp:spPr>
        <a:xfrm>
          <a:off x="0" y="2299936"/>
          <a:ext cx="8255000" cy="907200"/>
        </a:xfrm>
        <a:prstGeom prst="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680" tIns="249936" rIns="640680"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i="1" kern="1200" dirty="0"/>
            <a:t>OpenAI (2022):</a:t>
          </a:r>
          <a:r>
            <a:rPr lang="en-US" sz="1200" kern="1200" dirty="0"/>
            <a:t> </a:t>
          </a:r>
          <a:r>
            <a:rPr lang="en-US" sz="1200" kern="1200" dirty="0" err="1"/>
            <a:t>InstructGPT</a:t>
          </a:r>
          <a:r>
            <a:rPr lang="en-US" sz="1200" kern="1200" dirty="0"/>
            <a:t> / ChatGPT (RLHF) → alignment with human intent.</a:t>
          </a:r>
        </a:p>
        <a:p>
          <a:pPr marL="114300" lvl="1" indent="-114300" algn="l" defTabSz="533400">
            <a:lnSpc>
              <a:spcPct val="90000"/>
            </a:lnSpc>
            <a:spcBef>
              <a:spcPct val="0"/>
            </a:spcBef>
            <a:spcAft>
              <a:spcPct val="15000"/>
            </a:spcAft>
            <a:buFont typeface="Arial" panose="020B0604020202020204" pitchFamily="34" charset="0"/>
            <a:buChar char="•"/>
          </a:pPr>
          <a:r>
            <a:rPr lang="fr-FR" sz="1200" i="1" kern="1200" dirty="0" err="1"/>
            <a:t>Touvron</a:t>
          </a:r>
          <a:r>
            <a:rPr lang="fr-FR" sz="1200" i="1" kern="1200" dirty="0"/>
            <a:t> et al. (2023):</a:t>
          </a:r>
          <a:r>
            <a:rPr lang="fr-FR" sz="1200" kern="1200" dirty="0"/>
            <a:t> </a:t>
          </a:r>
          <a:r>
            <a:rPr lang="fr-FR" sz="1200" kern="1200" dirty="0" err="1"/>
            <a:t>LLaMA</a:t>
          </a:r>
          <a:r>
            <a:rPr lang="fr-FR" sz="1200" kern="1200" dirty="0"/>
            <a:t> → efficient, open-source </a:t>
          </a:r>
          <a:r>
            <a:rPr lang="fr-FR" sz="1200" kern="1200" dirty="0" err="1"/>
            <a:t>LLMs</a:t>
          </a:r>
          <a:r>
            <a:rPr lang="fr-FR" sz="1200" kern="1200" dirty="0"/>
            <a:t>.</a:t>
          </a:r>
        </a:p>
        <a:p>
          <a:pPr marL="114300" lvl="1" indent="-114300" algn="l" defTabSz="533400">
            <a:lnSpc>
              <a:spcPct val="90000"/>
            </a:lnSpc>
            <a:spcBef>
              <a:spcPct val="0"/>
            </a:spcBef>
            <a:spcAft>
              <a:spcPct val="15000"/>
            </a:spcAft>
            <a:buFont typeface="Arial" panose="020B0604020202020204" pitchFamily="34" charset="0"/>
            <a:buChar char="•"/>
          </a:pPr>
          <a:r>
            <a:rPr lang="en-US" sz="1200" i="1" kern="1200" dirty="0"/>
            <a:t>OpenAI (2023):</a:t>
          </a:r>
          <a:r>
            <a:rPr lang="en-US" sz="1200" kern="1200" dirty="0"/>
            <a:t> GPT-4 → multimodal, stronger reasoning, broad adoption.</a:t>
          </a:r>
        </a:p>
      </dsp:txBody>
      <dsp:txXfrm>
        <a:off x="0" y="2299936"/>
        <a:ext cx="8255000" cy="907200"/>
      </dsp:txXfrm>
    </dsp:sp>
    <dsp:sp modelId="{C5DD7625-1C8B-41A4-B129-A2A6D2C77FD3}">
      <dsp:nvSpPr>
        <dsp:cNvPr id="0" name=""/>
        <dsp:cNvSpPr/>
      </dsp:nvSpPr>
      <dsp:spPr>
        <a:xfrm>
          <a:off x="412750" y="2122816"/>
          <a:ext cx="5778500" cy="35424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414" tIns="0" rIns="218414" bIns="0" numCol="1" spcCol="1270" anchor="ctr" anchorCtr="0">
          <a:noAutofit/>
        </a:bodyPr>
        <a:lstStyle/>
        <a:p>
          <a:pPr marL="0" lvl="0" indent="0" algn="l" defTabSz="533400">
            <a:lnSpc>
              <a:spcPct val="90000"/>
            </a:lnSpc>
            <a:spcBef>
              <a:spcPct val="0"/>
            </a:spcBef>
            <a:spcAft>
              <a:spcPct val="35000"/>
            </a:spcAft>
            <a:buNone/>
          </a:pPr>
          <a:r>
            <a:rPr lang="en-IN" sz="1200" b="1" kern="1200" dirty="0"/>
            <a:t>3. Alignment &amp; Scaling (2022–2023)</a:t>
          </a:r>
          <a:endParaRPr lang="en-IN" sz="1200" kern="1200" dirty="0"/>
        </a:p>
      </dsp:txBody>
      <dsp:txXfrm>
        <a:off x="430043" y="2140109"/>
        <a:ext cx="5743914" cy="319654"/>
      </dsp:txXfrm>
    </dsp:sp>
    <dsp:sp modelId="{74293B70-F4E7-4D94-9055-A9B15E8D83EC}">
      <dsp:nvSpPr>
        <dsp:cNvPr id="0" name=""/>
        <dsp:cNvSpPr/>
      </dsp:nvSpPr>
      <dsp:spPr>
        <a:xfrm>
          <a:off x="0" y="3449056"/>
          <a:ext cx="8255000" cy="1285200"/>
        </a:xfrm>
        <a:prstGeom prst="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680" tIns="249936" rIns="640680"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i="1" kern="1200" dirty="0"/>
            <a:t>Cao &amp; Feinstein (2024):</a:t>
          </a:r>
          <a:r>
            <a:rPr lang="en-US" sz="1200" kern="1200" dirty="0"/>
            <a:t> Prompt engineering for Basel market risk clauses.</a:t>
          </a:r>
        </a:p>
        <a:p>
          <a:pPr marL="114300" lvl="1" indent="-114300" algn="l" defTabSz="533400">
            <a:lnSpc>
              <a:spcPct val="90000"/>
            </a:lnSpc>
            <a:spcBef>
              <a:spcPct val="0"/>
            </a:spcBef>
            <a:spcAft>
              <a:spcPct val="15000"/>
            </a:spcAft>
            <a:buFont typeface="Arial" panose="020B0604020202020204" pitchFamily="34" charset="0"/>
            <a:buChar char="•"/>
          </a:pPr>
          <a:r>
            <a:rPr lang="en-US" sz="1200" i="1" kern="1200" dirty="0"/>
            <a:t>Nazemi &amp; Fabozzi (2024):</a:t>
          </a:r>
          <a:r>
            <a:rPr lang="en-US" sz="1200" kern="1200" dirty="0"/>
            <a:t> Supervisory explainability with GenAI.</a:t>
          </a:r>
        </a:p>
        <a:p>
          <a:pPr marL="114300" lvl="1" indent="-114300" algn="l" defTabSz="533400">
            <a:lnSpc>
              <a:spcPct val="90000"/>
            </a:lnSpc>
            <a:spcBef>
              <a:spcPct val="0"/>
            </a:spcBef>
            <a:spcAft>
              <a:spcPct val="15000"/>
            </a:spcAft>
            <a:buFont typeface="Arial" panose="020B0604020202020204" pitchFamily="34" charset="0"/>
            <a:buChar char="•"/>
          </a:pPr>
          <a:r>
            <a:rPr lang="en-US" sz="1200" i="1" kern="1200" dirty="0"/>
            <a:t>Fazlija et al. (2025):</a:t>
          </a:r>
          <a:r>
            <a:rPr lang="en-US" sz="1200" kern="1200" dirty="0"/>
            <a:t> Reasoning with Basel provisions (</a:t>
          </a:r>
          <a:r>
            <a:rPr lang="en-US" sz="1200" kern="1200" dirty="0" err="1"/>
            <a:t>CoT</a:t>
          </a:r>
          <a:r>
            <a:rPr lang="en-US" sz="1200" kern="1200" dirty="0"/>
            <a:t>/</a:t>
          </a:r>
          <a:r>
            <a:rPr lang="en-US" sz="1200" kern="1200" dirty="0" err="1"/>
            <a:t>ToT</a:t>
          </a:r>
          <a:r>
            <a:rPr lang="en-US" sz="1200" kern="1200" dirty="0"/>
            <a:t>, Claude/GPT-4o).</a:t>
          </a:r>
        </a:p>
        <a:p>
          <a:pPr marL="114300" lvl="1" indent="-114300" algn="l" defTabSz="533400">
            <a:lnSpc>
              <a:spcPct val="90000"/>
            </a:lnSpc>
            <a:spcBef>
              <a:spcPct val="0"/>
            </a:spcBef>
            <a:spcAft>
              <a:spcPct val="15000"/>
            </a:spcAft>
            <a:buFont typeface="Arial" panose="020B0604020202020204" pitchFamily="34" charset="0"/>
            <a:buChar char="•"/>
          </a:pPr>
          <a:r>
            <a:rPr lang="en-IN" sz="1200" i="1" kern="1200" dirty="0"/>
            <a:t>Haeri et al. (2025):</a:t>
          </a:r>
          <a:r>
            <a:rPr lang="en-IN" sz="1200" kern="1200" dirty="0"/>
            <a:t> </a:t>
          </a:r>
          <a:r>
            <a:rPr lang="en-IN" sz="1200" kern="1200" dirty="0" err="1"/>
            <a:t>RiskEmbed</a:t>
          </a:r>
          <a:r>
            <a:rPr lang="en-IN" sz="1200" kern="1200" dirty="0"/>
            <a:t>: domain-specific embeddings for regulatory QA.</a:t>
          </a:r>
        </a:p>
        <a:p>
          <a:pPr marL="114300" lvl="1" indent="-114300" algn="l" defTabSz="533400">
            <a:lnSpc>
              <a:spcPct val="90000"/>
            </a:lnSpc>
            <a:spcBef>
              <a:spcPct val="0"/>
            </a:spcBef>
            <a:spcAft>
              <a:spcPct val="15000"/>
            </a:spcAft>
            <a:buFont typeface="Arial" panose="020B0604020202020204" pitchFamily="34" charset="0"/>
            <a:buChar char="•"/>
          </a:pPr>
          <a:r>
            <a:rPr lang="en-US" sz="1200" i="1" kern="1200" dirty="0"/>
            <a:t>Joshi (2025):</a:t>
          </a:r>
          <a:r>
            <a:rPr lang="en-US" sz="1200" kern="1200" dirty="0"/>
            <a:t> End-to-end GenAI regulatory architecture, integrating LLMs into compliance pipelines.</a:t>
          </a:r>
        </a:p>
      </dsp:txBody>
      <dsp:txXfrm>
        <a:off x="0" y="3449056"/>
        <a:ext cx="8255000" cy="1285200"/>
      </dsp:txXfrm>
    </dsp:sp>
    <dsp:sp modelId="{9C4773CF-F4CB-48E4-A60D-15769D46087F}">
      <dsp:nvSpPr>
        <dsp:cNvPr id="0" name=""/>
        <dsp:cNvSpPr/>
      </dsp:nvSpPr>
      <dsp:spPr>
        <a:xfrm>
          <a:off x="412750" y="3271936"/>
          <a:ext cx="5778500" cy="35424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414" tIns="0" rIns="218414" bIns="0" numCol="1" spcCol="1270" anchor="ctr" anchorCtr="0">
          <a:noAutofit/>
        </a:bodyPr>
        <a:lstStyle/>
        <a:p>
          <a:pPr marL="0" lvl="0" indent="0" algn="l" defTabSz="533400">
            <a:lnSpc>
              <a:spcPct val="90000"/>
            </a:lnSpc>
            <a:spcBef>
              <a:spcPct val="0"/>
            </a:spcBef>
            <a:spcAft>
              <a:spcPct val="35000"/>
            </a:spcAft>
            <a:buNone/>
          </a:pPr>
          <a:r>
            <a:rPr lang="en-IN" sz="1200" b="1" kern="1200" dirty="0"/>
            <a:t>4. Domain Adaptation for Regulation (2024–2025)</a:t>
          </a:r>
          <a:endParaRPr lang="en-IN" sz="1200" kern="1200" dirty="0"/>
        </a:p>
      </dsp:txBody>
      <dsp:txXfrm>
        <a:off x="430043" y="3289229"/>
        <a:ext cx="5743914" cy="31965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1E865E-B8F3-40E7-8238-EE65423A3E6B}" type="datetimeFigureOut">
              <a:rPr lang="en-IN" smtClean="0"/>
              <a:t>20-01-2026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99EF2-A4FF-4E45-A890-F39968BB7F26}" type="slidenum">
              <a:rPr lang="en-IN" smtClean="0"/>
              <a:t>‹#›</a:t>
            </a:fld>
            <a:endParaRPr lang="en-IN"/>
          </a:p>
        </p:txBody>
      </p:sp>
    </p:spTree>
    <p:extLst>
      <p:ext uri="{BB962C8B-B14F-4D97-AF65-F5344CB8AC3E}">
        <p14:creationId xmlns:p14="http://schemas.microsoft.com/office/powerpoint/2010/main" val="372424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www.statista.com/statistics/1411472/commerical-leader-use-of-gen-ai" TargetMode="External"/><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chart" Target="../charts/chart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www.statista.com/statistics/1411472/commerical-leader-use-of-gen-ai" TargetMode="External"/><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4.emf"/><Relationship Id="rId5" Type="http://schemas.openxmlformats.org/officeDocument/2006/relationships/chart" Target="../charts/chart3.xml"/><Relationship Id="rId4" Type="http://schemas.openxmlformats.org/officeDocument/2006/relationships/chart" Target="../charts/chart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New shape">
            <a:extLst>
              <a:ext uri="{FF2B5EF4-FFF2-40B4-BE49-F238E27FC236}">
                <a16:creationId xmlns:a16="http://schemas.microsoft.com/office/drawing/2014/main" id="{575324E4-F7CF-6512-F2E7-1FA1F1FEC208}"/>
              </a:ext>
            </a:extLst>
          </p:cNvPr>
          <p:cNvSpPr/>
          <p:nvPr userDrawn="1"/>
        </p:nvSpPr>
        <p:spPr>
          <a:xfrm>
            <a:off x="-7200" y="-7200"/>
            <a:ext cx="12211200" cy="5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2" name="New shape">
            <a:extLst>
              <a:ext uri="{FF2B5EF4-FFF2-40B4-BE49-F238E27FC236}">
                <a16:creationId xmlns:a16="http://schemas.microsoft.com/office/drawing/2014/main" id="{344C8295-6366-256A-4310-52484FA17D0A}"/>
              </a:ext>
            </a:extLst>
          </p:cNvPr>
          <p:cNvSpPr/>
          <p:nvPr userDrawn="1"/>
        </p:nvSpPr>
        <p:spPr>
          <a:xfrm>
            <a:off x="7419600" y="-10800"/>
            <a:ext cx="4784400" cy="6879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8" name="Picture 77">
            <a:extLst>
              <a:ext uri="{FF2B5EF4-FFF2-40B4-BE49-F238E27FC236}">
                <a16:creationId xmlns:a16="http://schemas.microsoft.com/office/drawing/2014/main" id="{377CC7D0-0209-632C-61BD-883DB02497DE}"/>
              </a:ext>
            </a:extLst>
          </p:cNvPr>
          <p:cNvPicPr>
            <a:picLocks noChangeAspect="1"/>
          </p:cNvPicPr>
          <p:nvPr userDrawn="1"/>
        </p:nvPicPr>
        <p:blipFill>
          <a:blip r:embed="rId4"/>
          <a:stretch>
            <a:fillRect/>
          </a:stretch>
        </p:blipFill>
        <p:spPr>
          <a:xfrm>
            <a:off x="496800" y="5989254"/>
            <a:ext cx="941475" cy="635367"/>
          </a:xfrm>
          <a:prstGeom prst="rect">
            <a:avLst/>
          </a:prstGeom>
        </p:spPr>
      </p:pic>
      <p:sp>
        <p:nvSpPr>
          <p:cNvPr id="3" name="Text Placeholder 2">
            <a:extLst>
              <a:ext uri="{FF2B5EF4-FFF2-40B4-BE49-F238E27FC236}">
                <a16:creationId xmlns:a16="http://schemas.microsoft.com/office/drawing/2014/main" id="{98298D4B-3331-68E9-62A6-0D387500C827}"/>
              </a:ext>
            </a:extLst>
          </p:cNvPr>
          <p:cNvSpPr>
            <a:spLocks noGrp="1"/>
          </p:cNvSpPr>
          <p:nvPr>
            <p:ph type="body" sz="quarter" idx="10"/>
          </p:nvPr>
        </p:nvSpPr>
        <p:spPr>
          <a:xfrm>
            <a:off x="496888" y="2075688"/>
            <a:ext cx="7019925" cy="1573213"/>
          </a:xfrm>
          <a:prstGeom prst="rect">
            <a:avLst/>
          </a:prstGeom>
        </p:spPr>
        <p:txBody>
          <a:bodyPr/>
          <a:lstStyle>
            <a:lvl1pPr marL="0" indent="0">
              <a:lnSpc>
                <a:spcPct val="150000"/>
              </a:lnSpc>
              <a:buNone/>
              <a:defRPr lang="en-US" sz="2400" kern="1200" dirty="0" smtClean="0">
                <a:solidFill>
                  <a:srgbClr val="0F2741"/>
                </a:solidFill>
                <a:latin typeface="Open Sans Light"/>
                <a:ea typeface="+mn-ea"/>
                <a:cs typeface="+mn-cs"/>
              </a:defRPr>
            </a:lvl1pPr>
            <a:lvl2pPr marL="457200" indent="0">
              <a:buNone/>
              <a:defRPr lang="en-US" sz="2400" kern="1200" dirty="0" smtClean="0">
                <a:solidFill>
                  <a:srgbClr val="0F2741"/>
                </a:solidFill>
                <a:latin typeface="Open Sans Light"/>
                <a:ea typeface="+mn-ea"/>
                <a:cs typeface="+mn-cs"/>
              </a:defRPr>
            </a:lvl2pPr>
            <a:lvl3pPr marL="914400" indent="0">
              <a:buNone/>
              <a:defRPr lang="en-US" sz="2400" kern="1200" dirty="0" smtClean="0">
                <a:solidFill>
                  <a:srgbClr val="0F2741"/>
                </a:solidFill>
                <a:latin typeface="Open Sans Light"/>
                <a:ea typeface="+mn-ea"/>
                <a:cs typeface="+mn-cs"/>
              </a:defRPr>
            </a:lvl3pPr>
            <a:lvl4pPr marL="1371600" indent="0">
              <a:buNone/>
              <a:defRPr lang="en-US" sz="2400" kern="1200" dirty="0" smtClean="0">
                <a:solidFill>
                  <a:srgbClr val="0F2741"/>
                </a:solidFill>
                <a:latin typeface="Open Sans Light"/>
                <a:ea typeface="+mn-ea"/>
                <a:cs typeface="+mn-cs"/>
              </a:defRPr>
            </a:lvl4pPr>
            <a:lvl5pPr marL="1828800" indent="0">
              <a:buNone/>
              <a:defRPr lang="en-IN" sz="2400" kern="1200" dirty="0">
                <a:solidFill>
                  <a:srgbClr val="0F2741"/>
                </a:solidFill>
                <a:latin typeface="Open Sans Light"/>
                <a:ea typeface="+mn-ea"/>
                <a:cs typeface="+mn-cs"/>
              </a:defRPr>
            </a:lvl5pPr>
          </a:lstStyle>
          <a:p>
            <a:pPr lvl="0"/>
            <a:r>
              <a:rPr lang="en-US"/>
              <a:t>Click to edit Master text styles</a:t>
            </a:r>
          </a:p>
        </p:txBody>
      </p:sp>
      <p:sp>
        <p:nvSpPr>
          <p:cNvPr id="5" name="Text Placeholder 4">
            <a:extLst>
              <a:ext uri="{FF2B5EF4-FFF2-40B4-BE49-F238E27FC236}">
                <a16:creationId xmlns:a16="http://schemas.microsoft.com/office/drawing/2014/main" id="{76ED1315-5C2E-6F8C-AAFF-B9FFAD84E220}"/>
              </a:ext>
            </a:extLst>
          </p:cNvPr>
          <p:cNvSpPr>
            <a:spLocks noGrp="1"/>
          </p:cNvSpPr>
          <p:nvPr>
            <p:ph type="body" sz="quarter" idx="11"/>
          </p:nvPr>
        </p:nvSpPr>
        <p:spPr>
          <a:xfrm>
            <a:off x="485400" y="1627376"/>
            <a:ext cx="6934200" cy="309563"/>
          </a:xfrm>
          <a:prstGeom prst="rect">
            <a:avLst/>
          </a:prstGeom>
        </p:spPr>
        <p:txBody>
          <a:bodyPr/>
          <a:lstStyle>
            <a:lvl1pPr marL="0" indent="0">
              <a:buNone/>
              <a:defRPr lang="en-IN" sz="1400" b="1" kern="1200" dirty="0">
                <a:solidFill>
                  <a:srgbClr val="0077D5"/>
                </a:solidFill>
                <a:latin typeface="Open Sans"/>
                <a:ea typeface="+mn-ea"/>
                <a:cs typeface="+mn-cs"/>
              </a:defRPr>
            </a:lvl1pPr>
            <a:lvl2pPr>
              <a:defRPr lang="en-US" smtClean="0"/>
            </a:lvl2pPr>
            <a:lvl3pPr>
              <a:defRPr lang="en-US" smtClean="0"/>
            </a:lvl3pPr>
            <a:lvl4pPr>
              <a:defRPr lang="en-US" smtClean="0"/>
            </a:lvl4pPr>
            <a:lvl5pPr>
              <a:defRPr lang="en-IN"/>
            </a:lvl5pPr>
          </a:lstStyle>
          <a:p>
            <a:pPr lvl="0"/>
            <a:r>
              <a:rPr lang="en-US"/>
              <a:t>Click to edit Master text styles</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ody">
    <p:spTree>
      <p:nvGrpSpPr>
        <p:cNvPr id="1" name=""/>
        <p:cNvGrpSpPr/>
        <p:nvPr/>
      </p:nvGrpSpPr>
      <p:grpSpPr>
        <a:xfrm>
          <a:off x="0" y="0"/>
          <a:ext cx="0" cy="0"/>
          <a:chOff x="0" y="0"/>
          <a:chExt cx="0" cy="0"/>
        </a:xfrm>
      </p:grpSpPr>
      <p:sp>
        <p:nvSpPr>
          <p:cNvPr id="10" name="New shape">
            <a:extLst>
              <a:ext uri="{FF2B5EF4-FFF2-40B4-BE49-F238E27FC236}">
                <a16:creationId xmlns:a16="http://schemas.microsoft.com/office/drawing/2014/main" id="{26C790A7-57CA-988C-C366-3B369FA1ABAD}"/>
              </a:ext>
            </a:extLst>
          </p:cNvPr>
          <p:cNvSpPr/>
          <p:nvPr userDrawn="1"/>
        </p:nvSpPr>
        <p:spPr>
          <a:xfrm>
            <a:off x="885600" y="6220799"/>
            <a:ext cx="9096600" cy="5275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sp>
        <p:nvSpPr>
          <p:cNvPr id="16" name="Slide Number Placeholder 5">
            <a:extLst>
              <a:ext uri="{FF2B5EF4-FFF2-40B4-BE49-F238E27FC236}">
                <a16:creationId xmlns:a16="http://schemas.microsoft.com/office/drawing/2014/main" id="{326BB679-C8BC-F35F-B677-D69DC4B9C779}"/>
              </a:ext>
            </a:extLst>
          </p:cNvPr>
          <p:cNvSpPr>
            <a:spLocks noGrp="1"/>
          </p:cNvSpPr>
          <p:nvPr>
            <p:ph type="sldNum" sz="quarter" idx="4"/>
          </p:nvPr>
        </p:nvSpPr>
        <p:spPr>
          <a:xfrm>
            <a:off x="152400" y="6174000"/>
            <a:ext cx="457200" cy="342000"/>
          </a:xfrm>
          <a:prstGeom prst="rect">
            <a:avLst/>
          </a:prstGeom>
        </p:spPr>
        <p:txBody>
          <a:bodyPr/>
          <a:lstStyle>
            <a:lvl1pPr>
              <a:defRPr sz="1400"/>
            </a:lvl1pPr>
          </a:lstStyle>
          <a:p>
            <a:fld id="{93AE1883-0942-4AA3-9DB2-9C7C3A0314B1}" type="slidenum">
              <a:rPr lang="en-US" smtClean="0"/>
              <a:pPr/>
              <a:t>‹#›</a:t>
            </a:fld>
            <a:endParaRPr lang="en-US" dirty="0"/>
          </a:p>
        </p:txBody>
      </p:sp>
      <p:sp>
        <p:nvSpPr>
          <p:cNvPr id="17" name="New shape">
            <a:extLst>
              <a:ext uri="{FF2B5EF4-FFF2-40B4-BE49-F238E27FC236}">
                <a16:creationId xmlns:a16="http://schemas.microsoft.com/office/drawing/2014/main" id="{0FCABBBE-671D-C393-4653-9FC28B4F9E8E}"/>
              </a:ext>
            </a:extLst>
          </p:cNvPr>
          <p:cNvSpPr/>
          <p:nvPr userDrawn="1"/>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Text Placeholder 2">
            <a:extLst>
              <a:ext uri="{FF2B5EF4-FFF2-40B4-BE49-F238E27FC236}">
                <a16:creationId xmlns:a16="http://schemas.microsoft.com/office/drawing/2014/main" id="{26BD4A40-C758-1EA3-15EB-F795F5BBB7D5}"/>
              </a:ext>
            </a:extLst>
          </p:cNvPr>
          <p:cNvSpPr>
            <a:spLocks noGrp="1"/>
          </p:cNvSpPr>
          <p:nvPr>
            <p:ph type="body" sz="quarter" idx="10"/>
          </p:nvPr>
        </p:nvSpPr>
        <p:spPr>
          <a:xfrm>
            <a:off x="586800" y="428850"/>
            <a:ext cx="11196725" cy="795599"/>
          </a:xfrm>
          <a:prstGeom prst="rect">
            <a:avLst/>
          </a:prstGeom>
        </p:spPr>
        <p:txBody>
          <a:bodyPr/>
          <a:lstStyle>
            <a:lvl1pPr marL="0" indent="0">
              <a:buNone/>
              <a:defRPr lang="en-US" sz="2500" kern="1200" dirty="0" smtClean="0">
                <a:solidFill>
                  <a:srgbClr val="0F2741"/>
                </a:solidFill>
                <a:latin typeface="Open Sans Light"/>
                <a:ea typeface="+mn-ea"/>
                <a:cs typeface="+mn-cs"/>
              </a:defRPr>
            </a:lvl1pPr>
            <a:lvl2pPr marL="457200" indent="0">
              <a:buNone/>
              <a:defRPr lang="en-US" sz="2500" kern="1200" dirty="0" smtClean="0">
                <a:solidFill>
                  <a:srgbClr val="0F2741"/>
                </a:solidFill>
                <a:latin typeface="Open Sans Light"/>
                <a:ea typeface="+mn-ea"/>
                <a:cs typeface="+mn-cs"/>
              </a:defRPr>
            </a:lvl2pPr>
            <a:lvl3pPr marL="914400" indent="0">
              <a:buNone/>
              <a:defRPr lang="en-US" sz="2500" kern="1200" dirty="0" smtClean="0">
                <a:solidFill>
                  <a:srgbClr val="0F2741"/>
                </a:solidFill>
                <a:latin typeface="Open Sans Light"/>
                <a:ea typeface="+mn-ea"/>
                <a:cs typeface="+mn-cs"/>
              </a:defRPr>
            </a:lvl3pPr>
            <a:lvl4pPr marL="1371600" indent="0">
              <a:buNone/>
              <a:defRPr lang="en-US" sz="2500" kern="1200" dirty="0" smtClean="0">
                <a:solidFill>
                  <a:srgbClr val="0F2741"/>
                </a:solidFill>
                <a:latin typeface="Open Sans Light"/>
                <a:ea typeface="+mn-ea"/>
                <a:cs typeface="+mn-cs"/>
              </a:defRPr>
            </a:lvl4pPr>
            <a:lvl5pPr marL="1828800" indent="0">
              <a:buNone/>
              <a:defRPr lang="en-IN" sz="2500" kern="1200" dirty="0">
                <a:solidFill>
                  <a:srgbClr val="0F2741"/>
                </a:solidFill>
                <a:latin typeface="Open Sans Light"/>
                <a:ea typeface="+mn-ea"/>
                <a:cs typeface="+mn-cs"/>
              </a:defRPr>
            </a:lvl5pPr>
          </a:lstStyle>
          <a:p>
            <a:pPr lvl="0"/>
            <a:r>
              <a:rPr lang="en-US"/>
              <a:t>Click to edit Master text styles</a:t>
            </a:r>
          </a:p>
          <a:p>
            <a:pPr lvl="1"/>
            <a:r>
              <a:rPr lang="en-US"/>
              <a:t>Second level</a:t>
            </a:r>
          </a:p>
        </p:txBody>
      </p:sp>
      <p:sp>
        <p:nvSpPr>
          <p:cNvPr id="5" name="Text Placeholder 4">
            <a:extLst>
              <a:ext uri="{FF2B5EF4-FFF2-40B4-BE49-F238E27FC236}">
                <a16:creationId xmlns:a16="http://schemas.microsoft.com/office/drawing/2014/main" id="{EEB820DD-1F69-283A-731C-61F1BFF2DA03}"/>
              </a:ext>
            </a:extLst>
          </p:cNvPr>
          <p:cNvSpPr>
            <a:spLocks noGrp="1"/>
          </p:cNvSpPr>
          <p:nvPr>
            <p:ph type="body" sz="quarter" idx="11"/>
          </p:nvPr>
        </p:nvSpPr>
        <p:spPr>
          <a:xfrm>
            <a:off x="609600" y="1310947"/>
            <a:ext cx="11196637" cy="242677"/>
          </a:xfrm>
          <a:prstGeom prst="rect">
            <a:avLst/>
          </a:prstGeom>
        </p:spPr>
        <p:txBody>
          <a:bodyPr/>
          <a:lstStyle>
            <a:lvl1pPr marL="0" indent="0">
              <a:buNone/>
              <a:defRPr lang="en-US" sz="1100" kern="1200" dirty="0" smtClean="0">
                <a:solidFill>
                  <a:srgbClr val="455F7C"/>
                </a:solidFill>
                <a:latin typeface="Open Sans"/>
                <a:ea typeface="+mn-ea"/>
                <a:cs typeface="+mn-cs"/>
              </a:defRPr>
            </a:lvl1pPr>
            <a:lvl2pPr marL="457200" indent="0">
              <a:buNone/>
              <a:defRPr lang="en-US" sz="1100" kern="1200" dirty="0" smtClean="0">
                <a:solidFill>
                  <a:srgbClr val="455F7C"/>
                </a:solidFill>
                <a:latin typeface="Open Sans"/>
                <a:ea typeface="+mn-ea"/>
                <a:cs typeface="+mn-cs"/>
              </a:defRPr>
            </a:lvl2pPr>
            <a:lvl3pPr marL="914400" indent="0">
              <a:buNone/>
              <a:defRPr lang="en-US" sz="1100" kern="1200" dirty="0" smtClean="0">
                <a:solidFill>
                  <a:srgbClr val="455F7C"/>
                </a:solidFill>
                <a:latin typeface="Open Sans"/>
                <a:ea typeface="+mn-ea"/>
                <a:cs typeface="+mn-cs"/>
              </a:defRPr>
            </a:lvl3pPr>
            <a:lvl4pPr marL="1371600" indent="0">
              <a:buNone/>
              <a:defRPr lang="en-US" sz="1100" kern="1200" dirty="0" smtClean="0">
                <a:solidFill>
                  <a:srgbClr val="455F7C"/>
                </a:solidFill>
                <a:latin typeface="Open Sans"/>
                <a:ea typeface="+mn-ea"/>
                <a:cs typeface="+mn-cs"/>
              </a:defRPr>
            </a:lvl4pPr>
            <a:lvl5pPr marL="1828800" indent="0">
              <a:buNone/>
              <a:defRPr lang="en-IN" sz="1100" kern="1200" dirty="0">
                <a:solidFill>
                  <a:srgbClr val="455F7C"/>
                </a:solidFill>
                <a:latin typeface="Open Sans"/>
                <a:ea typeface="+mn-ea"/>
                <a:cs typeface="+mn-cs"/>
              </a:defRPr>
            </a:lvl5pPr>
          </a:lstStyle>
          <a:p>
            <a:pPr lvl="0"/>
            <a:r>
              <a:rPr lang="en-US"/>
              <a:t>Click to edit Master text styles</a:t>
            </a:r>
          </a:p>
        </p:txBody>
      </p:sp>
      <p:sp>
        <p:nvSpPr>
          <p:cNvPr id="7" name="Text Placeholder 6">
            <a:extLst>
              <a:ext uri="{FF2B5EF4-FFF2-40B4-BE49-F238E27FC236}">
                <a16:creationId xmlns:a16="http://schemas.microsoft.com/office/drawing/2014/main" id="{DDABDC22-F85C-8D35-B113-A336FC68C5EF}"/>
              </a:ext>
            </a:extLst>
          </p:cNvPr>
          <p:cNvSpPr>
            <a:spLocks noGrp="1"/>
          </p:cNvSpPr>
          <p:nvPr>
            <p:ph type="body" sz="quarter" idx="12"/>
          </p:nvPr>
        </p:nvSpPr>
        <p:spPr>
          <a:xfrm>
            <a:off x="762000" y="6173788"/>
            <a:ext cx="10058400" cy="342900"/>
          </a:xfrm>
          <a:prstGeom prst="rect">
            <a:avLst/>
          </a:prstGeom>
        </p:spPr>
        <p:txBody>
          <a:bodyPr/>
          <a:lstStyle>
            <a:lvl1pPr marL="0" indent="0">
              <a:buNone/>
              <a:defRPr sz="8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8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8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8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ody_two">
    <p:spTree>
      <p:nvGrpSpPr>
        <p:cNvPr id="1" name=""/>
        <p:cNvGrpSpPr/>
        <p:nvPr/>
      </p:nvGrpSpPr>
      <p:grpSpPr>
        <a:xfrm>
          <a:off x="0" y="0"/>
          <a:ext cx="0" cy="0"/>
          <a:chOff x="0" y="0"/>
          <a:chExt cx="0" cy="0"/>
        </a:xfrm>
      </p:grpSpPr>
      <p:sp>
        <p:nvSpPr>
          <p:cNvPr id="10" name="New shape">
            <a:extLst>
              <a:ext uri="{FF2B5EF4-FFF2-40B4-BE49-F238E27FC236}">
                <a16:creationId xmlns:a16="http://schemas.microsoft.com/office/drawing/2014/main" id="{26C790A7-57CA-988C-C366-3B369FA1ABAD}"/>
              </a:ext>
            </a:extLst>
          </p:cNvPr>
          <p:cNvSpPr/>
          <p:nvPr userDrawn="1"/>
        </p:nvSpPr>
        <p:spPr>
          <a:xfrm>
            <a:off x="885600" y="6220799"/>
            <a:ext cx="9096600" cy="5275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sp>
        <p:nvSpPr>
          <p:cNvPr id="16" name="Slide Number Placeholder 5">
            <a:extLst>
              <a:ext uri="{FF2B5EF4-FFF2-40B4-BE49-F238E27FC236}">
                <a16:creationId xmlns:a16="http://schemas.microsoft.com/office/drawing/2014/main" id="{326BB679-C8BC-F35F-B677-D69DC4B9C779}"/>
              </a:ext>
            </a:extLst>
          </p:cNvPr>
          <p:cNvSpPr>
            <a:spLocks noGrp="1"/>
          </p:cNvSpPr>
          <p:nvPr>
            <p:ph type="sldNum" sz="quarter" idx="4"/>
          </p:nvPr>
        </p:nvSpPr>
        <p:spPr>
          <a:xfrm>
            <a:off x="152400" y="6174000"/>
            <a:ext cx="457200" cy="342000"/>
          </a:xfrm>
          <a:prstGeom prst="rect">
            <a:avLst/>
          </a:prstGeom>
        </p:spPr>
        <p:txBody>
          <a:bodyPr/>
          <a:lstStyle>
            <a:lvl1pPr>
              <a:defRPr sz="1400"/>
            </a:lvl1pPr>
          </a:lstStyle>
          <a:p>
            <a:fld id="{93AE1883-0942-4AA3-9DB2-9C7C3A0314B1}" type="slidenum">
              <a:rPr lang="en-US" smtClean="0"/>
              <a:pPr/>
              <a:t>‹#›</a:t>
            </a:fld>
            <a:endParaRPr lang="en-US" dirty="0"/>
          </a:p>
        </p:txBody>
      </p:sp>
      <p:sp>
        <p:nvSpPr>
          <p:cNvPr id="17" name="New shape">
            <a:extLst>
              <a:ext uri="{FF2B5EF4-FFF2-40B4-BE49-F238E27FC236}">
                <a16:creationId xmlns:a16="http://schemas.microsoft.com/office/drawing/2014/main" id="{0FCABBBE-671D-C393-4653-9FC28B4F9E8E}"/>
              </a:ext>
            </a:extLst>
          </p:cNvPr>
          <p:cNvSpPr/>
          <p:nvPr userDrawn="1"/>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Text Placeholder 2">
            <a:extLst>
              <a:ext uri="{FF2B5EF4-FFF2-40B4-BE49-F238E27FC236}">
                <a16:creationId xmlns:a16="http://schemas.microsoft.com/office/drawing/2014/main" id="{26BD4A40-C758-1EA3-15EB-F795F5BBB7D5}"/>
              </a:ext>
            </a:extLst>
          </p:cNvPr>
          <p:cNvSpPr>
            <a:spLocks noGrp="1"/>
          </p:cNvSpPr>
          <p:nvPr>
            <p:ph type="body" sz="quarter" idx="10"/>
          </p:nvPr>
        </p:nvSpPr>
        <p:spPr>
          <a:xfrm>
            <a:off x="586800" y="428850"/>
            <a:ext cx="11196725" cy="795599"/>
          </a:xfrm>
          <a:prstGeom prst="rect">
            <a:avLst/>
          </a:prstGeom>
        </p:spPr>
        <p:txBody>
          <a:bodyPr/>
          <a:lstStyle>
            <a:lvl1pPr marL="0" indent="0">
              <a:buNone/>
              <a:defRPr lang="en-US" sz="2500" kern="1200" dirty="0" smtClean="0">
                <a:solidFill>
                  <a:srgbClr val="0F2741"/>
                </a:solidFill>
                <a:latin typeface="Open Sans Light"/>
                <a:ea typeface="+mn-ea"/>
                <a:cs typeface="+mn-cs"/>
              </a:defRPr>
            </a:lvl1pPr>
            <a:lvl2pPr marL="457200" indent="0">
              <a:buNone/>
              <a:defRPr lang="en-US" sz="2500" kern="1200" dirty="0" smtClean="0">
                <a:solidFill>
                  <a:srgbClr val="0F2741"/>
                </a:solidFill>
                <a:latin typeface="Open Sans Light"/>
                <a:ea typeface="+mn-ea"/>
                <a:cs typeface="+mn-cs"/>
              </a:defRPr>
            </a:lvl2pPr>
            <a:lvl3pPr marL="914400" indent="0">
              <a:buNone/>
              <a:defRPr lang="en-US" sz="2500" kern="1200" dirty="0" smtClean="0">
                <a:solidFill>
                  <a:srgbClr val="0F2741"/>
                </a:solidFill>
                <a:latin typeface="Open Sans Light"/>
                <a:ea typeface="+mn-ea"/>
                <a:cs typeface="+mn-cs"/>
              </a:defRPr>
            </a:lvl3pPr>
            <a:lvl4pPr marL="1371600" indent="0">
              <a:buNone/>
              <a:defRPr lang="en-US" sz="2500" kern="1200" dirty="0" smtClean="0">
                <a:solidFill>
                  <a:srgbClr val="0F2741"/>
                </a:solidFill>
                <a:latin typeface="Open Sans Light"/>
                <a:ea typeface="+mn-ea"/>
                <a:cs typeface="+mn-cs"/>
              </a:defRPr>
            </a:lvl4pPr>
            <a:lvl5pPr marL="1828800" indent="0">
              <a:buNone/>
              <a:defRPr lang="en-IN" sz="2500" kern="1200" dirty="0">
                <a:solidFill>
                  <a:srgbClr val="0F2741"/>
                </a:solidFill>
                <a:latin typeface="Open Sans Light"/>
                <a:ea typeface="+mn-ea"/>
                <a:cs typeface="+mn-cs"/>
              </a:defRPr>
            </a:lvl5pPr>
          </a:lstStyle>
          <a:p>
            <a:pPr lvl="0"/>
            <a:r>
              <a:rPr lang="en-US"/>
              <a:t>Click to edit Master text styles</a:t>
            </a:r>
          </a:p>
          <a:p>
            <a:pPr lvl="1"/>
            <a:r>
              <a:rPr lang="en-US"/>
              <a:t>Second level</a:t>
            </a:r>
          </a:p>
        </p:txBody>
      </p:sp>
      <p:sp>
        <p:nvSpPr>
          <p:cNvPr id="5" name="Text Placeholder 4">
            <a:extLst>
              <a:ext uri="{FF2B5EF4-FFF2-40B4-BE49-F238E27FC236}">
                <a16:creationId xmlns:a16="http://schemas.microsoft.com/office/drawing/2014/main" id="{EEB820DD-1F69-283A-731C-61F1BFF2DA03}"/>
              </a:ext>
            </a:extLst>
          </p:cNvPr>
          <p:cNvSpPr>
            <a:spLocks noGrp="1"/>
          </p:cNvSpPr>
          <p:nvPr>
            <p:ph type="body" sz="quarter" idx="11"/>
          </p:nvPr>
        </p:nvSpPr>
        <p:spPr>
          <a:xfrm>
            <a:off x="609600" y="1310947"/>
            <a:ext cx="11196637" cy="242677"/>
          </a:xfrm>
          <a:prstGeom prst="rect">
            <a:avLst/>
          </a:prstGeom>
        </p:spPr>
        <p:txBody>
          <a:bodyPr/>
          <a:lstStyle>
            <a:lvl1pPr marL="0" indent="0">
              <a:buNone/>
              <a:defRPr lang="en-US" sz="1100" kern="1200" dirty="0" smtClean="0">
                <a:solidFill>
                  <a:srgbClr val="455F7C"/>
                </a:solidFill>
                <a:latin typeface="Open Sans"/>
                <a:ea typeface="+mn-ea"/>
                <a:cs typeface="+mn-cs"/>
              </a:defRPr>
            </a:lvl1pPr>
            <a:lvl2pPr marL="457200" indent="0">
              <a:buNone/>
              <a:defRPr lang="en-US" sz="1100" kern="1200" dirty="0" smtClean="0">
                <a:solidFill>
                  <a:srgbClr val="455F7C"/>
                </a:solidFill>
                <a:latin typeface="Open Sans"/>
                <a:ea typeface="+mn-ea"/>
                <a:cs typeface="+mn-cs"/>
              </a:defRPr>
            </a:lvl2pPr>
            <a:lvl3pPr marL="914400" indent="0">
              <a:buNone/>
              <a:defRPr lang="en-US" sz="1100" kern="1200" dirty="0" smtClean="0">
                <a:solidFill>
                  <a:srgbClr val="455F7C"/>
                </a:solidFill>
                <a:latin typeface="Open Sans"/>
                <a:ea typeface="+mn-ea"/>
                <a:cs typeface="+mn-cs"/>
              </a:defRPr>
            </a:lvl3pPr>
            <a:lvl4pPr marL="1371600" indent="0">
              <a:buNone/>
              <a:defRPr lang="en-US" sz="1100" kern="1200" dirty="0" smtClean="0">
                <a:solidFill>
                  <a:srgbClr val="455F7C"/>
                </a:solidFill>
                <a:latin typeface="Open Sans"/>
                <a:ea typeface="+mn-ea"/>
                <a:cs typeface="+mn-cs"/>
              </a:defRPr>
            </a:lvl4pPr>
            <a:lvl5pPr marL="1828800" indent="0">
              <a:buNone/>
              <a:defRPr lang="en-IN" sz="1100" kern="1200" dirty="0">
                <a:solidFill>
                  <a:srgbClr val="455F7C"/>
                </a:solidFill>
                <a:latin typeface="Open Sans"/>
                <a:ea typeface="+mn-ea"/>
                <a:cs typeface="+mn-cs"/>
              </a:defRPr>
            </a:lvl5pPr>
          </a:lstStyle>
          <a:p>
            <a:pPr lvl="0"/>
            <a:r>
              <a:rPr lang="en-US"/>
              <a:t>Click to edit Master text styles</a:t>
            </a:r>
          </a:p>
        </p:txBody>
      </p:sp>
      <p:sp>
        <p:nvSpPr>
          <p:cNvPr id="7" name="Text Placeholder 6">
            <a:extLst>
              <a:ext uri="{FF2B5EF4-FFF2-40B4-BE49-F238E27FC236}">
                <a16:creationId xmlns:a16="http://schemas.microsoft.com/office/drawing/2014/main" id="{DDABDC22-F85C-8D35-B113-A336FC68C5EF}"/>
              </a:ext>
            </a:extLst>
          </p:cNvPr>
          <p:cNvSpPr>
            <a:spLocks noGrp="1"/>
          </p:cNvSpPr>
          <p:nvPr>
            <p:ph type="body" sz="quarter" idx="12"/>
          </p:nvPr>
        </p:nvSpPr>
        <p:spPr>
          <a:xfrm>
            <a:off x="762000" y="6173788"/>
            <a:ext cx="10058400" cy="342900"/>
          </a:xfrm>
          <a:prstGeom prst="rect">
            <a:avLst/>
          </a:prstGeom>
        </p:spPr>
        <p:txBody>
          <a:bodyPr/>
          <a:lstStyle>
            <a:lvl1pPr marL="0" indent="0">
              <a:buNone/>
              <a:defRPr sz="8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8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8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8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p:txBody>
      </p:sp>
      <p:sp>
        <p:nvSpPr>
          <p:cNvPr id="2" name="New shape">
            <a:extLst>
              <a:ext uri="{FF2B5EF4-FFF2-40B4-BE49-F238E27FC236}">
                <a16:creationId xmlns:a16="http://schemas.microsoft.com/office/drawing/2014/main" id="{937A291A-D380-7334-4D07-4AD001FA19D6}"/>
              </a:ext>
            </a:extLst>
          </p:cNvPr>
          <p:cNvSpPr/>
          <p:nvPr userDrawn="1"/>
        </p:nvSpPr>
        <p:spPr>
          <a:xfrm rot="5400000" flipV="1">
            <a:off x="3647812" y="3846942"/>
            <a:ext cx="4302017" cy="45719"/>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Text Placeholder 2">
            <a:extLst>
              <a:ext uri="{FF2B5EF4-FFF2-40B4-BE49-F238E27FC236}">
                <a16:creationId xmlns:a16="http://schemas.microsoft.com/office/drawing/2014/main" id="{7009E456-B527-03C5-B9CD-11E0B9213189}"/>
              </a:ext>
            </a:extLst>
          </p:cNvPr>
          <p:cNvSpPr>
            <a:spLocks noGrp="1"/>
          </p:cNvSpPr>
          <p:nvPr>
            <p:ph type="body" sz="quarter" idx="13"/>
          </p:nvPr>
        </p:nvSpPr>
        <p:spPr>
          <a:xfrm>
            <a:off x="609601" y="1706603"/>
            <a:ext cx="5059682" cy="342000"/>
          </a:xfrm>
          <a:prstGeom prst="rect">
            <a:avLst/>
          </a:prstGeom>
        </p:spPr>
        <p:txBody>
          <a:bodyPr/>
          <a:lstStyle>
            <a:lvl1pPr marL="0" indent="0">
              <a:buNone/>
              <a:defRPr lang="en-US" sz="1800" kern="1200" dirty="0" smtClean="0">
                <a:solidFill>
                  <a:srgbClr val="0F2741"/>
                </a:solidFill>
                <a:latin typeface="Open Sans Light"/>
                <a:ea typeface="+mn-ea"/>
                <a:cs typeface="+mn-cs"/>
              </a:defRPr>
            </a:lvl1pPr>
            <a:lvl2pPr marL="457200" indent="0">
              <a:buNone/>
              <a:defRPr lang="en-US" sz="2500" kern="1200" dirty="0" smtClean="0">
                <a:solidFill>
                  <a:srgbClr val="0F2741"/>
                </a:solidFill>
                <a:latin typeface="Open Sans Light"/>
                <a:ea typeface="+mn-ea"/>
                <a:cs typeface="+mn-cs"/>
              </a:defRPr>
            </a:lvl2pPr>
            <a:lvl3pPr marL="914400" indent="0">
              <a:buNone/>
              <a:defRPr lang="en-US" sz="2500" kern="1200" dirty="0" smtClean="0">
                <a:solidFill>
                  <a:srgbClr val="0F2741"/>
                </a:solidFill>
                <a:latin typeface="Open Sans Light"/>
                <a:ea typeface="+mn-ea"/>
                <a:cs typeface="+mn-cs"/>
              </a:defRPr>
            </a:lvl3pPr>
            <a:lvl4pPr marL="1371600" indent="0">
              <a:buNone/>
              <a:defRPr lang="en-US" sz="2500" kern="1200" dirty="0" smtClean="0">
                <a:solidFill>
                  <a:srgbClr val="0F2741"/>
                </a:solidFill>
                <a:latin typeface="Open Sans Light"/>
                <a:ea typeface="+mn-ea"/>
                <a:cs typeface="+mn-cs"/>
              </a:defRPr>
            </a:lvl4pPr>
            <a:lvl5pPr marL="1828800" indent="0">
              <a:buNone/>
              <a:defRPr lang="en-IN" sz="2500" kern="1200" dirty="0">
                <a:solidFill>
                  <a:srgbClr val="0F2741"/>
                </a:solidFill>
                <a:latin typeface="Open Sans Light"/>
                <a:ea typeface="+mn-ea"/>
                <a:cs typeface="+mn-cs"/>
              </a:defRPr>
            </a:lvl5pPr>
          </a:lstStyle>
          <a:p>
            <a:pPr lvl="0"/>
            <a:r>
              <a:rPr lang="en-US"/>
              <a:t>Click to edit Master text styles</a:t>
            </a:r>
          </a:p>
        </p:txBody>
      </p:sp>
      <p:sp>
        <p:nvSpPr>
          <p:cNvPr id="6" name="Text Placeholder 2">
            <a:extLst>
              <a:ext uri="{FF2B5EF4-FFF2-40B4-BE49-F238E27FC236}">
                <a16:creationId xmlns:a16="http://schemas.microsoft.com/office/drawing/2014/main" id="{8E830066-EE80-7394-07A2-DD13D6AEE8C2}"/>
              </a:ext>
            </a:extLst>
          </p:cNvPr>
          <p:cNvSpPr>
            <a:spLocks noGrp="1"/>
          </p:cNvSpPr>
          <p:nvPr>
            <p:ph type="body" sz="quarter" idx="14"/>
          </p:nvPr>
        </p:nvSpPr>
        <p:spPr>
          <a:xfrm>
            <a:off x="5934453" y="1706602"/>
            <a:ext cx="5871783" cy="342000"/>
          </a:xfrm>
          <a:prstGeom prst="rect">
            <a:avLst/>
          </a:prstGeom>
        </p:spPr>
        <p:txBody>
          <a:bodyPr/>
          <a:lstStyle>
            <a:lvl1pPr marL="0" indent="0">
              <a:buNone/>
              <a:defRPr lang="en-US" sz="1800" kern="1200" dirty="0" smtClean="0">
                <a:solidFill>
                  <a:srgbClr val="0F2741"/>
                </a:solidFill>
                <a:latin typeface="Open Sans Light"/>
                <a:ea typeface="+mn-ea"/>
                <a:cs typeface="+mn-cs"/>
              </a:defRPr>
            </a:lvl1pPr>
            <a:lvl2pPr marL="457200" indent="0">
              <a:buNone/>
              <a:defRPr lang="en-US" sz="2500" kern="1200" dirty="0" smtClean="0">
                <a:solidFill>
                  <a:srgbClr val="0F2741"/>
                </a:solidFill>
                <a:latin typeface="Open Sans Light"/>
                <a:ea typeface="+mn-ea"/>
                <a:cs typeface="+mn-cs"/>
              </a:defRPr>
            </a:lvl2pPr>
            <a:lvl3pPr marL="914400" indent="0">
              <a:buNone/>
              <a:defRPr lang="en-US" sz="2500" kern="1200" dirty="0" smtClean="0">
                <a:solidFill>
                  <a:srgbClr val="0F2741"/>
                </a:solidFill>
                <a:latin typeface="Open Sans Light"/>
                <a:ea typeface="+mn-ea"/>
                <a:cs typeface="+mn-cs"/>
              </a:defRPr>
            </a:lvl3pPr>
            <a:lvl4pPr marL="1371600" indent="0">
              <a:buNone/>
              <a:defRPr lang="en-US" sz="2500" kern="1200" dirty="0" smtClean="0">
                <a:solidFill>
                  <a:srgbClr val="0F2741"/>
                </a:solidFill>
                <a:latin typeface="Open Sans Light"/>
                <a:ea typeface="+mn-ea"/>
                <a:cs typeface="+mn-cs"/>
              </a:defRPr>
            </a:lvl4pPr>
            <a:lvl5pPr marL="1828800" indent="0">
              <a:buNone/>
              <a:defRPr lang="en-IN" sz="2500" kern="1200" dirty="0">
                <a:solidFill>
                  <a:srgbClr val="0F2741"/>
                </a:solidFill>
                <a:latin typeface="Open Sans Light"/>
                <a:ea typeface="+mn-ea"/>
                <a:cs typeface="+mn-cs"/>
              </a:defRPr>
            </a:lvl5pPr>
          </a:lstStyle>
          <a:p>
            <a:pPr lvl="0"/>
            <a:r>
              <a:rPr lang="en-US"/>
              <a:t>Click to edit Master text styles</a:t>
            </a:r>
          </a:p>
        </p:txBody>
      </p:sp>
    </p:spTree>
    <p:extLst>
      <p:ext uri="{BB962C8B-B14F-4D97-AF65-F5344CB8AC3E}">
        <p14:creationId xmlns:p14="http://schemas.microsoft.com/office/powerpoint/2010/main" val="308033301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able of Content">
    <p:spTree>
      <p:nvGrpSpPr>
        <p:cNvPr id="1" name=""/>
        <p:cNvGrpSpPr/>
        <p:nvPr/>
      </p:nvGrpSpPr>
      <p:grpSpPr>
        <a:xfrm>
          <a:off x="0" y="0"/>
          <a:ext cx="0" cy="0"/>
          <a:chOff x="0" y="0"/>
          <a:chExt cx="0" cy="0"/>
        </a:xfrm>
      </p:grpSpPr>
      <p:sp>
        <p:nvSpPr>
          <p:cNvPr id="5" name="New shape">
            <a:extLst>
              <a:ext uri="{FF2B5EF4-FFF2-40B4-BE49-F238E27FC236}">
                <a16:creationId xmlns:a16="http://schemas.microsoft.com/office/drawing/2014/main" id="{56485931-49FD-8E49-01DE-0B5BB5759D4B}"/>
              </a:ext>
            </a:extLst>
          </p:cNvPr>
          <p:cNvSpPr/>
          <p:nvPr userDrawn="1"/>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a:extLst>
              <a:ext uri="{FF2B5EF4-FFF2-40B4-BE49-F238E27FC236}">
                <a16:creationId xmlns:a16="http://schemas.microsoft.com/office/drawing/2014/main" id="{575324E4-F7CF-6512-F2E7-1FA1F1FEC208}"/>
              </a:ext>
            </a:extLst>
          </p:cNvPr>
          <p:cNvSpPr/>
          <p:nvPr userDrawn="1"/>
        </p:nvSpPr>
        <p:spPr>
          <a:xfrm>
            <a:off x="-7200" y="-7200"/>
            <a:ext cx="12211200" cy="54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a:extLst>
              <a:ext uri="{FF2B5EF4-FFF2-40B4-BE49-F238E27FC236}">
                <a16:creationId xmlns:a16="http://schemas.microsoft.com/office/drawing/2014/main" id="{2D1C7C46-9272-ECC9-EB97-30DCD4C4C424}"/>
              </a:ext>
            </a:extLst>
          </p:cNvPr>
          <p:cNvSpPr/>
          <p:nvPr userDrawn="1"/>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10" name="New shape">
            <a:extLst>
              <a:ext uri="{FF2B5EF4-FFF2-40B4-BE49-F238E27FC236}">
                <a16:creationId xmlns:a16="http://schemas.microsoft.com/office/drawing/2014/main" id="{3A8FA964-41FE-00E0-1551-706B6E7B7746}"/>
              </a:ext>
            </a:extLst>
          </p:cNvPr>
          <p:cNvSpPr/>
          <p:nvPr userDrawn="1"/>
        </p:nvSpPr>
        <p:spPr>
          <a:xfrm>
            <a:off x="586800" y="18828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dirty="0">
                <a:solidFill>
                  <a:srgbClr val="0A85E6"/>
                </a:solidFill>
                <a:latin typeface="Open Sans"/>
              </a:rPr>
              <a:t>01 Overview</a:t>
            </a:r>
          </a:p>
        </p:txBody>
      </p:sp>
      <p:sp>
        <p:nvSpPr>
          <p:cNvPr id="11" name="New shape">
            <a:extLst>
              <a:ext uri="{FF2B5EF4-FFF2-40B4-BE49-F238E27FC236}">
                <a16:creationId xmlns:a16="http://schemas.microsoft.com/office/drawing/2014/main" id="{CAFDB39E-DB2F-A522-81EF-AE291A070306}"/>
              </a:ext>
            </a:extLst>
          </p:cNvPr>
          <p:cNvSpPr/>
          <p:nvPr userDrawn="1"/>
        </p:nvSpPr>
        <p:spPr>
          <a:xfrm>
            <a:off x="5544000" y="21162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dirty="0">
                <a:solidFill>
                  <a:srgbClr val="0F2741"/>
                </a:solidFill>
                <a:latin typeface="Open Sans"/>
                <a:hlinkClick r:id="" action="ppaction://noaction">
                  <a:extLst>
                    <a:ext uri="{A12FA001-AC4F-418D-AE19-62706E023703}">
                      <ahyp:hlinkClr xmlns:ahyp="http://schemas.microsoft.com/office/drawing/2018/hyperlinkcolor" val="tx"/>
                    </a:ext>
                  </a:extLst>
                </a:hlinkClick>
              </a:rPr>
              <a:t>03</a:t>
            </a:r>
          </a:p>
        </p:txBody>
      </p:sp>
      <p:sp>
        <p:nvSpPr>
          <p:cNvPr id="12" name="New shape">
            <a:extLst>
              <a:ext uri="{FF2B5EF4-FFF2-40B4-BE49-F238E27FC236}">
                <a16:creationId xmlns:a16="http://schemas.microsoft.com/office/drawing/2014/main" id="{2D29AD07-2700-6655-30B8-BE0C4E3DAFB7}"/>
              </a:ext>
            </a:extLst>
          </p:cNvPr>
          <p:cNvSpPr/>
          <p:nvPr userDrawn="1"/>
        </p:nvSpPr>
        <p:spPr>
          <a:xfrm>
            <a:off x="586800" y="21162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dirty="0">
                <a:solidFill>
                  <a:srgbClr val="0F2741"/>
                </a:solidFill>
                <a:latin typeface="Open Sans"/>
              </a:rPr>
              <a:t>Market size of AI technologies worldwide 2020-2030, by segment</a:t>
            </a:r>
          </a:p>
        </p:txBody>
      </p:sp>
      <p:sp>
        <p:nvSpPr>
          <p:cNvPr id="13" name="New shape">
            <a:extLst>
              <a:ext uri="{FF2B5EF4-FFF2-40B4-BE49-F238E27FC236}">
                <a16:creationId xmlns:a16="http://schemas.microsoft.com/office/drawing/2014/main" id="{CC7DBA4E-8806-B8DB-DD11-4912BE61D2F2}"/>
              </a:ext>
            </a:extLst>
          </p:cNvPr>
          <p:cNvSpPr/>
          <p:nvPr userDrawn="1"/>
        </p:nvSpPr>
        <p:spPr>
          <a:xfrm>
            <a:off x="5544000" y="22865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04</a:t>
            </a:r>
          </a:p>
        </p:txBody>
      </p:sp>
      <p:sp>
        <p:nvSpPr>
          <p:cNvPr id="14" name="New shape">
            <a:extLst>
              <a:ext uri="{FF2B5EF4-FFF2-40B4-BE49-F238E27FC236}">
                <a16:creationId xmlns:a16="http://schemas.microsoft.com/office/drawing/2014/main" id="{FAC9CAB2-06A5-5033-B884-0E3E4CBFF45F}"/>
              </a:ext>
            </a:extLst>
          </p:cNvPr>
          <p:cNvSpPr/>
          <p:nvPr userDrawn="1"/>
        </p:nvSpPr>
        <p:spPr>
          <a:xfrm>
            <a:off x="586800" y="22865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Worldwide machine learning market size from 2020-2030</a:t>
            </a:r>
          </a:p>
        </p:txBody>
      </p:sp>
      <p:sp>
        <p:nvSpPr>
          <p:cNvPr id="15" name="New shape">
            <a:extLst>
              <a:ext uri="{FF2B5EF4-FFF2-40B4-BE49-F238E27FC236}">
                <a16:creationId xmlns:a16="http://schemas.microsoft.com/office/drawing/2014/main" id="{58B7E7E3-3087-2CC2-1F9E-F4A520268804}"/>
              </a:ext>
            </a:extLst>
          </p:cNvPr>
          <p:cNvSpPr/>
          <p:nvPr userDrawn="1"/>
        </p:nvSpPr>
        <p:spPr>
          <a:xfrm>
            <a:off x="5544000" y="2456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05</a:t>
            </a:r>
          </a:p>
        </p:txBody>
      </p:sp>
      <p:sp>
        <p:nvSpPr>
          <p:cNvPr id="16" name="New shape">
            <a:extLst>
              <a:ext uri="{FF2B5EF4-FFF2-40B4-BE49-F238E27FC236}">
                <a16:creationId xmlns:a16="http://schemas.microsoft.com/office/drawing/2014/main" id="{EAF23449-0252-C1BA-3E21-3B856F1CF6A7}"/>
              </a:ext>
            </a:extLst>
          </p:cNvPr>
          <p:cNvSpPr/>
          <p:nvPr userDrawn="1"/>
        </p:nvSpPr>
        <p:spPr>
          <a:xfrm>
            <a:off x="586800" y="2456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machine learning market growth from 2021-2030</a:t>
            </a:r>
          </a:p>
        </p:txBody>
      </p:sp>
      <p:sp>
        <p:nvSpPr>
          <p:cNvPr id="17" name="New shape">
            <a:extLst>
              <a:ext uri="{FF2B5EF4-FFF2-40B4-BE49-F238E27FC236}">
                <a16:creationId xmlns:a16="http://schemas.microsoft.com/office/drawing/2014/main" id="{EBF9BD96-15D0-EA6F-D9F4-E0F19CFBAC4C}"/>
              </a:ext>
            </a:extLst>
          </p:cNvPr>
          <p:cNvSpPr/>
          <p:nvPr userDrawn="1"/>
        </p:nvSpPr>
        <p:spPr>
          <a:xfrm>
            <a:off x="5544000" y="2627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06</a:t>
            </a:r>
          </a:p>
        </p:txBody>
      </p:sp>
      <p:sp>
        <p:nvSpPr>
          <p:cNvPr id="18" name="New shape">
            <a:extLst>
              <a:ext uri="{FF2B5EF4-FFF2-40B4-BE49-F238E27FC236}">
                <a16:creationId xmlns:a16="http://schemas.microsoft.com/office/drawing/2014/main" id="{03A84833-D641-BA3F-A85D-5539BB126D93}"/>
              </a:ext>
            </a:extLst>
          </p:cNvPr>
          <p:cNvSpPr/>
          <p:nvPr userDrawn="1"/>
        </p:nvSpPr>
        <p:spPr>
          <a:xfrm>
            <a:off x="586800" y="2627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Size of the ML market globally in 2023, by region</a:t>
            </a:r>
          </a:p>
        </p:txBody>
      </p:sp>
      <p:sp>
        <p:nvSpPr>
          <p:cNvPr id="19" name="New shape">
            <a:extLst>
              <a:ext uri="{FF2B5EF4-FFF2-40B4-BE49-F238E27FC236}">
                <a16:creationId xmlns:a16="http://schemas.microsoft.com/office/drawing/2014/main" id="{18AC9662-5B21-17E4-E625-F9DF323B2DD1}"/>
              </a:ext>
            </a:extLst>
          </p:cNvPr>
          <p:cNvSpPr/>
          <p:nvPr userDrawn="1"/>
        </p:nvSpPr>
        <p:spPr>
          <a:xfrm>
            <a:off x="5544000" y="2797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07</a:t>
            </a:r>
          </a:p>
        </p:txBody>
      </p:sp>
      <p:sp>
        <p:nvSpPr>
          <p:cNvPr id="20" name="New shape">
            <a:extLst>
              <a:ext uri="{FF2B5EF4-FFF2-40B4-BE49-F238E27FC236}">
                <a16:creationId xmlns:a16="http://schemas.microsoft.com/office/drawing/2014/main" id="{B1915BD7-146C-F25C-245B-701D5747DBCD}"/>
              </a:ext>
            </a:extLst>
          </p:cNvPr>
          <p:cNvSpPr/>
          <p:nvPr userDrawn="1"/>
        </p:nvSpPr>
        <p:spPr>
          <a:xfrm>
            <a:off x="586800" y="2797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Size of the machine learning market in various countries in 2024</a:t>
            </a:r>
          </a:p>
        </p:txBody>
      </p:sp>
      <p:sp>
        <p:nvSpPr>
          <p:cNvPr id="21" name="New shape">
            <a:extLst>
              <a:ext uri="{FF2B5EF4-FFF2-40B4-BE49-F238E27FC236}">
                <a16:creationId xmlns:a16="http://schemas.microsoft.com/office/drawing/2014/main" id="{92E417E1-26AA-768C-25DD-17355AB3032E}"/>
              </a:ext>
            </a:extLst>
          </p:cNvPr>
          <p:cNvSpPr/>
          <p:nvPr userDrawn="1"/>
        </p:nvSpPr>
        <p:spPr>
          <a:xfrm>
            <a:off x="586800" y="3094633"/>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02 Regional overview</a:t>
            </a:r>
          </a:p>
        </p:txBody>
      </p:sp>
      <p:sp>
        <p:nvSpPr>
          <p:cNvPr id="22" name="New shape">
            <a:extLst>
              <a:ext uri="{FF2B5EF4-FFF2-40B4-BE49-F238E27FC236}">
                <a16:creationId xmlns:a16="http://schemas.microsoft.com/office/drawing/2014/main" id="{97050E65-FD3E-A14A-EC3B-0A0C197C575C}"/>
              </a:ext>
            </a:extLst>
          </p:cNvPr>
          <p:cNvSpPr/>
          <p:nvPr userDrawn="1"/>
        </p:nvSpPr>
        <p:spPr>
          <a:xfrm>
            <a:off x="5544000" y="332807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09</a:t>
            </a:r>
          </a:p>
        </p:txBody>
      </p:sp>
      <p:sp>
        <p:nvSpPr>
          <p:cNvPr id="23" name="New shape">
            <a:extLst>
              <a:ext uri="{FF2B5EF4-FFF2-40B4-BE49-F238E27FC236}">
                <a16:creationId xmlns:a16="http://schemas.microsoft.com/office/drawing/2014/main" id="{342C25E0-9A2E-A075-7425-173DB28E7EB2}"/>
              </a:ext>
            </a:extLst>
          </p:cNvPr>
          <p:cNvSpPr/>
          <p:nvPr userDrawn="1"/>
        </p:nvSpPr>
        <p:spPr>
          <a:xfrm>
            <a:off x="586800" y="332807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Machine learning market size in the United States from 2020-2030</a:t>
            </a:r>
          </a:p>
        </p:txBody>
      </p:sp>
      <p:sp>
        <p:nvSpPr>
          <p:cNvPr id="24" name="New shape">
            <a:extLst>
              <a:ext uri="{FF2B5EF4-FFF2-40B4-BE49-F238E27FC236}">
                <a16:creationId xmlns:a16="http://schemas.microsoft.com/office/drawing/2014/main" id="{8F6312C8-66F2-CD4C-0196-965AA7284C49}"/>
              </a:ext>
            </a:extLst>
          </p:cNvPr>
          <p:cNvSpPr/>
          <p:nvPr userDrawn="1"/>
        </p:nvSpPr>
        <p:spPr>
          <a:xfrm>
            <a:off x="5544000" y="349835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10</a:t>
            </a:r>
          </a:p>
        </p:txBody>
      </p:sp>
      <p:sp>
        <p:nvSpPr>
          <p:cNvPr id="25" name="New shape">
            <a:extLst>
              <a:ext uri="{FF2B5EF4-FFF2-40B4-BE49-F238E27FC236}">
                <a16:creationId xmlns:a16="http://schemas.microsoft.com/office/drawing/2014/main" id="{206707EA-0F7E-17BD-71D9-C052CE8CF223}"/>
              </a:ext>
            </a:extLst>
          </p:cNvPr>
          <p:cNvSpPr/>
          <p:nvPr userDrawn="1"/>
        </p:nvSpPr>
        <p:spPr>
          <a:xfrm>
            <a:off x="586800" y="349835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Machine learning market growth in the U.S. from 2021-2030</a:t>
            </a:r>
          </a:p>
        </p:txBody>
      </p:sp>
      <p:sp>
        <p:nvSpPr>
          <p:cNvPr id="26" name="New shape">
            <a:extLst>
              <a:ext uri="{FF2B5EF4-FFF2-40B4-BE49-F238E27FC236}">
                <a16:creationId xmlns:a16="http://schemas.microsoft.com/office/drawing/2014/main" id="{8340D969-2F08-0D00-DF7B-DBD85C8C8718}"/>
              </a:ext>
            </a:extLst>
          </p:cNvPr>
          <p:cNvSpPr/>
          <p:nvPr userDrawn="1"/>
        </p:nvSpPr>
        <p:spPr>
          <a:xfrm>
            <a:off x="5544000" y="366863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11</a:t>
            </a:r>
          </a:p>
        </p:txBody>
      </p:sp>
      <p:sp>
        <p:nvSpPr>
          <p:cNvPr id="27" name="New shape">
            <a:extLst>
              <a:ext uri="{FF2B5EF4-FFF2-40B4-BE49-F238E27FC236}">
                <a16:creationId xmlns:a16="http://schemas.microsoft.com/office/drawing/2014/main" id="{AA0EB3C3-BB10-5282-8874-EC56BDBE945E}"/>
              </a:ext>
            </a:extLst>
          </p:cNvPr>
          <p:cNvSpPr/>
          <p:nvPr userDrawn="1"/>
        </p:nvSpPr>
        <p:spPr>
          <a:xfrm>
            <a:off x="586800" y="366863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dirty="0">
                <a:solidFill>
                  <a:srgbClr val="0F2741"/>
                </a:solidFill>
                <a:latin typeface="Open Sans"/>
              </a:rPr>
              <a:t>Machine learning market size in Europe from 2020-2030</a:t>
            </a:r>
          </a:p>
        </p:txBody>
      </p:sp>
      <p:sp>
        <p:nvSpPr>
          <p:cNvPr id="28" name="New shape">
            <a:extLst>
              <a:ext uri="{FF2B5EF4-FFF2-40B4-BE49-F238E27FC236}">
                <a16:creationId xmlns:a16="http://schemas.microsoft.com/office/drawing/2014/main" id="{2A902872-CFEE-05C7-9247-2819AEE76CC7}"/>
              </a:ext>
            </a:extLst>
          </p:cNvPr>
          <p:cNvSpPr/>
          <p:nvPr userDrawn="1"/>
        </p:nvSpPr>
        <p:spPr>
          <a:xfrm>
            <a:off x="5544000" y="383891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12</a:t>
            </a:r>
          </a:p>
        </p:txBody>
      </p:sp>
      <p:sp>
        <p:nvSpPr>
          <p:cNvPr id="29" name="New shape">
            <a:extLst>
              <a:ext uri="{FF2B5EF4-FFF2-40B4-BE49-F238E27FC236}">
                <a16:creationId xmlns:a16="http://schemas.microsoft.com/office/drawing/2014/main" id="{97F76C04-1400-8206-0793-15814AC648D9}"/>
              </a:ext>
            </a:extLst>
          </p:cNvPr>
          <p:cNvSpPr/>
          <p:nvPr userDrawn="1"/>
        </p:nvSpPr>
        <p:spPr>
          <a:xfrm>
            <a:off x="586800" y="383891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Machine learning market growth in Europe from 2021-2030</a:t>
            </a:r>
          </a:p>
        </p:txBody>
      </p:sp>
      <p:sp>
        <p:nvSpPr>
          <p:cNvPr id="30" name="New shape">
            <a:extLst>
              <a:ext uri="{FF2B5EF4-FFF2-40B4-BE49-F238E27FC236}">
                <a16:creationId xmlns:a16="http://schemas.microsoft.com/office/drawing/2014/main" id="{F2DCA380-F0F8-80C3-5F5D-6AD2DBB4709A}"/>
              </a:ext>
            </a:extLst>
          </p:cNvPr>
          <p:cNvSpPr/>
          <p:nvPr userDrawn="1"/>
        </p:nvSpPr>
        <p:spPr>
          <a:xfrm>
            <a:off x="5544000" y="4009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13</a:t>
            </a:r>
          </a:p>
        </p:txBody>
      </p:sp>
      <p:sp>
        <p:nvSpPr>
          <p:cNvPr id="31" name="New shape">
            <a:extLst>
              <a:ext uri="{FF2B5EF4-FFF2-40B4-BE49-F238E27FC236}">
                <a16:creationId xmlns:a16="http://schemas.microsoft.com/office/drawing/2014/main" id="{3A5432DA-7CD0-0DA5-D28A-C27A9313AD9F}"/>
              </a:ext>
            </a:extLst>
          </p:cNvPr>
          <p:cNvSpPr/>
          <p:nvPr userDrawn="1"/>
        </p:nvSpPr>
        <p:spPr>
          <a:xfrm>
            <a:off x="586800" y="4009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Market size of machine learning United Kingdom 2020-2030</a:t>
            </a:r>
          </a:p>
        </p:txBody>
      </p:sp>
      <p:sp>
        <p:nvSpPr>
          <p:cNvPr id="32" name="New shape">
            <a:extLst>
              <a:ext uri="{FF2B5EF4-FFF2-40B4-BE49-F238E27FC236}">
                <a16:creationId xmlns:a16="http://schemas.microsoft.com/office/drawing/2014/main" id="{80A5EF43-CC94-FC46-A428-A3B9E0DA60A4}"/>
              </a:ext>
            </a:extLst>
          </p:cNvPr>
          <p:cNvSpPr/>
          <p:nvPr userDrawn="1"/>
        </p:nvSpPr>
        <p:spPr>
          <a:xfrm>
            <a:off x="5544000" y="4179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14</a:t>
            </a:r>
          </a:p>
        </p:txBody>
      </p:sp>
      <p:sp>
        <p:nvSpPr>
          <p:cNvPr id="33" name="New shape">
            <a:extLst>
              <a:ext uri="{FF2B5EF4-FFF2-40B4-BE49-F238E27FC236}">
                <a16:creationId xmlns:a16="http://schemas.microsoft.com/office/drawing/2014/main" id="{30A4165A-4B88-C2FC-BCA9-E5FFDBC9CA21}"/>
              </a:ext>
            </a:extLst>
          </p:cNvPr>
          <p:cNvSpPr/>
          <p:nvPr userDrawn="1"/>
        </p:nvSpPr>
        <p:spPr>
          <a:xfrm>
            <a:off x="586800" y="4179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Growth of the machine learning market in the UK from 2021-2030</a:t>
            </a:r>
          </a:p>
        </p:txBody>
      </p:sp>
      <p:sp>
        <p:nvSpPr>
          <p:cNvPr id="34" name="New shape">
            <a:extLst>
              <a:ext uri="{FF2B5EF4-FFF2-40B4-BE49-F238E27FC236}">
                <a16:creationId xmlns:a16="http://schemas.microsoft.com/office/drawing/2014/main" id="{11DE50CA-269E-408B-7556-726DC87F148D}"/>
              </a:ext>
            </a:extLst>
          </p:cNvPr>
          <p:cNvSpPr/>
          <p:nvPr userDrawn="1"/>
        </p:nvSpPr>
        <p:spPr>
          <a:xfrm>
            <a:off x="5544000" y="4349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15</a:t>
            </a:r>
          </a:p>
        </p:txBody>
      </p:sp>
      <p:sp>
        <p:nvSpPr>
          <p:cNvPr id="35" name="New shape">
            <a:extLst>
              <a:ext uri="{FF2B5EF4-FFF2-40B4-BE49-F238E27FC236}">
                <a16:creationId xmlns:a16="http://schemas.microsoft.com/office/drawing/2014/main" id="{C42948B5-0794-93FA-DF4E-69714E07CD78}"/>
              </a:ext>
            </a:extLst>
          </p:cNvPr>
          <p:cNvSpPr/>
          <p:nvPr userDrawn="1"/>
        </p:nvSpPr>
        <p:spPr>
          <a:xfrm>
            <a:off x="586800" y="4349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Machine learning market size in the Nordics from 2020-2030</a:t>
            </a:r>
          </a:p>
        </p:txBody>
      </p:sp>
      <p:sp>
        <p:nvSpPr>
          <p:cNvPr id="36" name="New shape">
            <a:extLst>
              <a:ext uri="{FF2B5EF4-FFF2-40B4-BE49-F238E27FC236}">
                <a16:creationId xmlns:a16="http://schemas.microsoft.com/office/drawing/2014/main" id="{865883BD-0A54-316A-6042-B0A4460C80C9}"/>
              </a:ext>
            </a:extLst>
          </p:cNvPr>
          <p:cNvSpPr/>
          <p:nvPr userDrawn="1"/>
        </p:nvSpPr>
        <p:spPr>
          <a:xfrm>
            <a:off x="5544000" y="4520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16</a:t>
            </a:r>
          </a:p>
        </p:txBody>
      </p:sp>
      <p:sp>
        <p:nvSpPr>
          <p:cNvPr id="37" name="New shape">
            <a:extLst>
              <a:ext uri="{FF2B5EF4-FFF2-40B4-BE49-F238E27FC236}">
                <a16:creationId xmlns:a16="http://schemas.microsoft.com/office/drawing/2014/main" id="{6D8B46A3-A5B2-3A93-F506-DF4BFC0E3560}"/>
              </a:ext>
            </a:extLst>
          </p:cNvPr>
          <p:cNvSpPr/>
          <p:nvPr userDrawn="1"/>
        </p:nvSpPr>
        <p:spPr>
          <a:xfrm>
            <a:off x="586800" y="4520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Machine learning market size growth in the Nordics from 2021-2030</a:t>
            </a:r>
          </a:p>
        </p:txBody>
      </p:sp>
      <p:sp>
        <p:nvSpPr>
          <p:cNvPr id="38" name="New shape">
            <a:extLst>
              <a:ext uri="{FF2B5EF4-FFF2-40B4-BE49-F238E27FC236}">
                <a16:creationId xmlns:a16="http://schemas.microsoft.com/office/drawing/2014/main" id="{6AAE6559-E770-58BD-CEF4-436D304C4D53}"/>
              </a:ext>
            </a:extLst>
          </p:cNvPr>
          <p:cNvSpPr/>
          <p:nvPr userDrawn="1"/>
        </p:nvSpPr>
        <p:spPr>
          <a:xfrm>
            <a:off x="586800" y="48173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03 Development</a:t>
            </a:r>
          </a:p>
        </p:txBody>
      </p:sp>
      <p:sp>
        <p:nvSpPr>
          <p:cNvPr id="39" name="New shape">
            <a:extLst>
              <a:ext uri="{FF2B5EF4-FFF2-40B4-BE49-F238E27FC236}">
                <a16:creationId xmlns:a16="http://schemas.microsoft.com/office/drawing/2014/main" id="{3100CF09-B481-2036-3478-7004427F866A}"/>
              </a:ext>
            </a:extLst>
          </p:cNvPr>
          <p:cNvSpPr/>
          <p:nvPr userDrawn="1"/>
        </p:nvSpPr>
        <p:spPr>
          <a:xfrm>
            <a:off x="5544000" y="50507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18</a:t>
            </a:r>
          </a:p>
        </p:txBody>
      </p:sp>
      <p:sp>
        <p:nvSpPr>
          <p:cNvPr id="40" name="New shape">
            <a:extLst>
              <a:ext uri="{FF2B5EF4-FFF2-40B4-BE49-F238E27FC236}">
                <a16:creationId xmlns:a16="http://schemas.microsoft.com/office/drawing/2014/main" id="{B167ADDC-3054-1393-04B6-DECF413D376B}"/>
              </a:ext>
            </a:extLst>
          </p:cNvPr>
          <p:cNvSpPr/>
          <p:nvPr userDrawn="1"/>
        </p:nvSpPr>
        <p:spPr>
          <a:xfrm>
            <a:off x="586800" y="50507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Funding of Machine Learning Operations/Platform startups worldwide 2024</a:t>
            </a:r>
          </a:p>
        </p:txBody>
      </p:sp>
      <p:sp>
        <p:nvSpPr>
          <p:cNvPr id="41" name="New shape">
            <a:extLst>
              <a:ext uri="{FF2B5EF4-FFF2-40B4-BE49-F238E27FC236}">
                <a16:creationId xmlns:a16="http://schemas.microsoft.com/office/drawing/2014/main" id="{F81D3FA7-0730-8681-C0F7-04E511F76C50}"/>
              </a:ext>
            </a:extLst>
          </p:cNvPr>
          <p:cNvSpPr/>
          <p:nvPr userDrawn="1"/>
        </p:nvSpPr>
        <p:spPr>
          <a:xfrm>
            <a:off x="5544000" y="52210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19</a:t>
            </a:r>
          </a:p>
        </p:txBody>
      </p:sp>
      <p:sp>
        <p:nvSpPr>
          <p:cNvPr id="42" name="New shape">
            <a:extLst>
              <a:ext uri="{FF2B5EF4-FFF2-40B4-BE49-F238E27FC236}">
                <a16:creationId xmlns:a16="http://schemas.microsoft.com/office/drawing/2014/main" id="{EF58632A-615A-F117-19E0-19E18513FBC7}"/>
              </a:ext>
            </a:extLst>
          </p:cNvPr>
          <p:cNvSpPr/>
          <p:nvPr userDrawn="1"/>
        </p:nvSpPr>
        <p:spPr>
          <a:xfrm>
            <a:off x="586800" y="52210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notable machine learning models globally in 2023, by geographic area</a:t>
            </a:r>
          </a:p>
        </p:txBody>
      </p:sp>
      <p:sp>
        <p:nvSpPr>
          <p:cNvPr id="43" name="New shape">
            <a:extLst>
              <a:ext uri="{FF2B5EF4-FFF2-40B4-BE49-F238E27FC236}">
                <a16:creationId xmlns:a16="http://schemas.microsoft.com/office/drawing/2014/main" id="{AD0F14C9-6DC8-75ED-79F6-2FBF3DC2D7D1}"/>
              </a:ext>
            </a:extLst>
          </p:cNvPr>
          <p:cNvSpPr/>
          <p:nvPr userDrawn="1"/>
        </p:nvSpPr>
        <p:spPr>
          <a:xfrm>
            <a:off x="5544000" y="53912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20</a:t>
            </a:r>
          </a:p>
        </p:txBody>
      </p:sp>
      <p:sp>
        <p:nvSpPr>
          <p:cNvPr id="44" name="New shape">
            <a:extLst>
              <a:ext uri="{FF2B5EF4-FFF2-40B4-BE49-F238E27FC236}">
                <a16:creationId xmlns:a16="http://schemas.microsoft.com/office/drawing/2014/main" id="{4B8EE240-DDFC-F876-BEA4-0A0BE5CB6B3F}"/>
              </a:ext>
            </a:extLst>
          </p:cNvPr>
          <p:cNvSpPr/>
          <p:nvPr userDrawn="1"/>
        </p:nvSpPr>
        <p:spPr>
          <a:xfrm>
            <a:off x="586800" y="53912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Desired usage of ML and generative AI by commericial leaders 2023</a:t>
            </a:r>
          </a:p>
        </p:txBody>
      </p:sp>
      <p:sp>
        <p:nvSpPr>
          <p:cNvPr id="45" name="New shape">
            <a:extLst>
              <a:ext uri="{FF2B5EF4-FFF2-40B4-BE49-F238E27FC236}">
                <a16:creationId xmlns:a16="http://schemas.microsoft.com/office/drawing/2014/main" id="{8DA4D0E7-69E6-4903-7333-81AF5987F146}"/>
              </a:ext>
            </a:extLst>
          </p:cNvPr>
          <p:cNvSpPr/>
          <p:nvPr userDrawn="1"/>
        </p:nvSpPr>
        <p:spPr>
          <a:xfrm>
            <a:off x="109152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21</a:t>
            </a:r>
          </a:p>
        </p:txBody>
      </p:sp>
      <p:sp>
        <p:nvSpPr>
          <p:cNvPr id="46" name="New shape">
            <a:extLst>
              <a:ext uri="{FF2B5EF4-FFF2-40B4-BE49-F238E27FC236}">
                <a16:creationId xmlns:a16="http://schemas.microsoft.com/office/drawing/2014/main" id="{AB6CD0AC-ED1F-881A-9525-61F4F2EA450B}"/>
              </a:ext>
            </a:extLst>
          </p:cNvPr>
          <p:cNvSpPr/>
          <p:nvPr userDrawn="1"/>
        </p:nvSpPr>
        <p:spPr>
          <a:xfrm>
            <a:off x="59580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Usage of ML and generative AI by commercial leaders 2023</a:t>
            </a:r>
          </a:p>
        </p:txBody>
      </p:sp>
      <p:sp>
        <p:nvSpPr>
          <p:cNvPr id="47" name="New shape">
            <a:extLst>
              <a:ext uri="{FF2B5EF4-FFF2-40B4-BE49-F238E27FC236}">
                <a16:creationId xmlns:a16="http://schemas.microsoft.com/office/drawing/2014/main" id="{6746985F-FA7E-3C35-0335-09D7D469979D}"/>
              </a:ext>
            </a:extLst>
          </p:cNvPr>
          <p:cNvSpPr/>
          <p:nvPr userDrawn="1"/>
        </p:nvSpPr>
        <p:spPr>
          <a:xfrm>
            <a:off x="109152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22</a:t>
            </a:r>
          </a:p>
        </p:txBody>
      </p:sp>
      <p:sp>
        <p:nvSpPr>
          <p:cNvPr id="48" name="New shape">
            <a:extLst>
              <a:ext uri="{FF2B5EF4-FFF2-40B4-BE49-F238E27FC236}">
                <a16:creationId xmlns:a16="http://schemas.microsoft.com/office/drawing/2014/main" id="{6BE6E07E-A41E-2B0F-C41B-6B19B605DE29}"/>
              </a:ext>
            </a:extLst>
          </p:cNvPr>
          <p:cNvSpPr/>
          <p:nvPr userDrawn="1"/>
        </p:nvSpPr>
        <p:spPr>
          <a:xfrm>
            <a:off x="59580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foundation models in global organizations in 2023</a:t>
            </a:r>
          </a:p>
        </p:txBody>
      </p:sp>
      <p:sp>
        <p:nvSpPr>
          <p:cNvPr id="49" name="New shape">
            <a:extLst>
              <a:ext uri="{FF2B5EF4-FFF2-40B4-BE49-F238E27FC236}">
                <a16:creationId xmlns:a16="http://schemas.microsoft.com/office/drawing/2014/main" id="{49E7FCE6-F44C-55BD-045F-7CFA0F459BD2}"/>
              </a:ext>
            </a:extLst>
          </p:cNvPr>
          <p:cNvSpPr/>
          <p:nvPr userDrawn="1"/>
        </p:nvSpPr>
        <p:spPr>
          <a:xfrm>
            <a:off x="5958000" y="2350356"/>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04 Companies</a:t>
            </a:r>
          </a:p>
        </p:txBody>
      </p:sp>
      <p:sp>
        <p:nvSpPr>
          <p:cNvPr id="50" name="New shape">
            <a:extLst>
              <a:ext uri="{FF2B5EF4-FFF2-40B4-BE49-F238E27FC236}">
                <a16:creationId xmlns:a16="http://schemas.microsoft.com/office/drawing/2014/main" id="{208EE730-8039-75D0-FDEE-4DDE4CF528B7}"/>
              </a:ext>
            </a:extLst>
          </p:cNvPr>
          <p:cNvSpPr/>
          <p:nvPr userDrawn="1"/>
        </p:nvSpPr>
        <p:spPr>
          <a:xfrm>
            <a:off x="10915200" y="2583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24</a:t>
            </a:r>
          </a:p>
        </p:txBody>
      </p:sp>
      <p:sp>
        <p:nvSpPr>
          <p:cNvPr id="51" name="New shape">
            <a:extLst>
              <a:ext uri="{FF2B5EF4-FFF2-40B4-BE49-F238E27FC236}">
                <a16:creationId xmlns:a16="http://schemas.microsoft.com/office/drawing/2014/main" id="{67FD879D-0A42-8640-C0B0-D0D8BD236725}"/>
              </a:ext>
            </a:extLst>
          </p:cNvPr>
          <p:cNvSpPr/>
          <p:nvPr userDrawn="1"/>
        </p:nvSpPr>
        <p:spPr>
          <a:xfrm>
            <a:off x="5958000" y="2583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Microsoft's revenue 2008-2025, by fiscal quarter</a:t>
            </a:r>
          </a:p>
        </p:txBody>
      </p:sp>
      <p:sp>
        <p:nvSpPr>
          <p:cNvPr id="52" name="New shape">
            <a:extLst>
              <a:ext uri="{FF2B5EF4-FFF2-40B4-BE49-F238E27FC236}">
                <a16:creationId xmlns:a16="http://schemas.microsoft.com/office/drawing/2014/main" id="{58973106-7A23-9294-AA25-C9B52E537B37}"/>
              </a:ext>
            </a:extLst>
          </p:cNvPr>
          <p:cNvSpPr/>
          <p:nvPr userDrawn="1"/>
        </p:nvSpPr>
        <p:spPr>
          <a:xfrm>
            <a:off x="10915200" y="2754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25</a:t>
            </a:r>
          </a:p>
        </p:txBody>
      </p:sp>
      <p:sp>
        <p:nvSpPr>
          <p:cNvPr id="53" name="New shape">
            <a:extLst>
              <a:ext uri="{FF2B5EF4-FFF2-40B4-BE49-F238E27FC236}">
                <a16:creationId xmlns:a16="http://schemas.microsoft.com/office/drawing/2014/main" id="{093ADE5D-5871-7923-FF92-022A54552544}"/>
              </a:ext>
            </a:extLst>
          </p:cNvPr>
          <p:cNvSpPr/>
          <p:nvPr userDrawn="1"/>
        </p:nvSpPr>
        <p:spPr>
          <a:xfrm>
            <a:off x="5958000" y="2754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number of leading services offered on Microsoft Azure 2024, by category</a:t>
            </a:r>
          </a:p>
        </p:txBody>
      </p:sp>
      <p:sp>
        <p:nvSpPr>
          <p:cNvPr id="54" name="New shape">
            <a:extLst>
              <a:ext uri="{FF2B5EF4-FFF2-40B4-BE49-F238E27FC236}">
                <a16:creationId xmlns:a16="http://schemas.microsoft.com/office/drawing/2014/main" id="{A855882A-B758-CBCA-603C-647D63BF35CC}"/>
              </a:ext>
            </a:extLst>
          </p:cNvPr>
          <p:cNvSpPr/>
          <p:nvPr userDrawn="1"/>
        </p:nvSpPr>
        <p:spPr>
          <a:xfrm>
            <a:off x="10915200" y="2924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26</a:t>
            </a:r>
          </a:p>
        </p:txBody>
      </p:sp>
      <p:sp>
        <p:nvSpPr>
          <p:cNvPr id="55" name="New shape">
            <a:extLst>
              <a:ext uri="{FF2B5EF4-FFF2-40B4-BE49-F238E27FC236}">
                <a16:creationId xmlns:a16="http://schemas.microsoft.com/office/drawing/2014/main" id="{76ACD9B0-A756-C268-B203-8A6FE963B40F}"/>
              </a:ext>
            </a:extLst>
          </p:cNvPr>
          <p:cNvSpPr/>
          <p:nvPr userDrawn="1"/>
        </p:nvSpPr>
        <p:spPr>
          <a:xfrm>
            <a:off x="5958000" y="2924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Alphabet: global annual revenue 2011-2024</a:t>
            </a:r>
          </a:p>
        </p:txBody>
      </p:sp>
      <p:sp>
        <p:nvSpPr>
          <p:cNvPr id="56" name="New shape">
            <a:extLst>
              <a:ext uri="{FF2B5EF4-FFF2-40B4-BE49-F238E27FC236}">
                <a16:creationId xmlns:a16="http://schemas.microsoft.com/office/drawing/2014/main" id="{85CD9878-DACC-A33E-A097-0E353BCB2EEA}"/>
              </a:ext>
            </a:extLst>
          </p:cNvPr>
          <p:cNvSpPr/>
          <p:nvPr userDrawn="1"/>
        </p:nvSpPr>
        <p:spPr>
          <a:xfrm>
            <a:off x="109152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27</a:t>
            </a:r>
          </a:p>
        </p:txBody>
      </p:sp>
      <p:sp>
        <p:nvSpPr>
          <p:cNvPr id="57" name="New shape">
            <a:extLst>
              <a:ext uri="{FF2B5EF4-FFF2-40B4-BE49-F238E27FC236}">
                <a16:creationId xmlns:a16="http://schemas.microsoft.com/office/drawing/2014/main" id="{9D3D66F4-A2DC-5D20-7DD8-EE4E52D3E52D}"/>
              </a:ext>
            </a:extLst>
          </p:cNvPr>
          <p:cNvSpPr/>
          <p:nvPr userDrawn="1"/>
        </p:nvSpPr>
        <p:spPr>
          <a:xfrm>
            <a:off x="59580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number of services offered on Google Cloud marketplace 2024, by category</a:t>
            </a:r>
          </a:p>
        </p:txBody>
      </p:sp>
      <p:sp>
        <p:nvSpPr>
          <p:cNvPr id="58" name="New shape">
            <a:extLst>
              <a:ext uri="{FF2B5EF4-FFF2-40B4-BE49-F238E27FC236}">
                <a16:creationId xmlns:a16="http://schemas.microsoft.com/office/drawing/2014/main" id="{A2994D8F-3D20-9DE0-8418-7CDCB285C8AA}"/>
              </a:ext>
            </a:extLst>
          </p:cNvPr>
          <p:cNvSpPr/>
          <p:nvPr userDrawn="1"/>
        </p:nvSpPr>
        <p:spPr>
          <a:xfrm>
            <a:off x="109152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28</a:t>
            </a:r>
          </a:p>
        </p:txBody>
      </p:sp>
      <p:sp>
        <p:nvSpPr>
          <p:cNvPr id="59" name="New shape">
            <a:extLst>
              <a:ext uri="{FF2B5EF4-FFF2-40B4-BE49-F238E27FC236}">
                <a16:creationId xmlns:a16="http://schemas.microsoft.com/office/drawing/2014/main" id="{8BB599D6-3CC3-D0EE-89BB-AF9C7A294C57}"/>
              </a:ext>
            </a:extLst>
          </p:cNvPr>
          <p:cNvSpPr/>
          <p:nvPr userDrawn="1"/>
        </p:nvSpPr>
        <p:spPr>
          <a:xfrm>
            <a:off x="59580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ML solutions on Google Cloud marketplace 2024, by type</a:t>
            </a:r>
          </a:p>
        </p:txBody>
      </p:sp>
      <p:sp>
        <p:nvSpPr>
          <p:cNvPr id="60" name="New shape">
            <a:extLst>
              <a:ext uri="{FF2B5EF4-FFF2-40B4-BE49-F238E27FC236}">
                <a16:creationId xmlns:a16="http://schemas.microsoft.com/office/drawing/2014/main" id="{15930196-651C-27D4-0751-6F86E3FA73FE}"/>
              </a:ext>
            </a:extLst>
          </p:cNvPr>
          <p:cNvSpPr/>
          <p:nvPr userDrawn="1"/>
        </p:nvSpPr>
        <p:spPr>
          <a:xfrm>
            <a:off x="109152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29</a:t>
            </a:r>
          </a:p>
        </p:txBody>
      </p:sp>
      <p:sp>
        <p:nvSpPr>
          <p:cNvPr id="61" name="New shape">
            <a:extLst>
              <a:ext uri="{FF2B5EF4-FFF2-40B4-BE49-F238E27FC236}">
                <a16:creationId xmlns:a16="http://schemas.microsoft.com/office/drawing/2014/main" id="{2951A9FB-F577-04BE-3DB6-5A358379654D}"/>
              </a:ext>
            </a:extLst>
          </p:cNvPr>
          <p:cNvSpPr/>
          <p:nvPr userDrawn="1"/>
        </p:nvSpPr>
        <p:spPr>
          <a:xfrm>
            <a:off x="59580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Amazon Web Services annual revenue 2013-2023</a:t>
            </a:r>
          </a:p>
        </p:txBody>
      </p:sp>
      <p:sp>
        <p:nvSpPr>
          <p:cNvPr id="62" name="New shape">
            <a:extLst>
              <a:ext uri="{FF2B5EF4-FFF2-40B4-BE49-F238E27FC236}">
                <a16:creationId xmlns:a16="http://schemas.microsoft.com/office/drawing/2014/main" id="{46EE3BA3-C45C-724E-F4E0-D7F11E002963}"/>
              </a:ext>
            </a:extLst>
          </p:cNvPr>
          <p:cNvSpPr/>
          <p:nvPr userDrawn="1"/>
        </p:nvSpPr>
        <p:spPr>
          <a:xfrm>
            <a:off x="109152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30</a:t>
            </a:r>
          </a:p>
        </p:txBody>
      </p:sp>
      <p:sp>
        <p:nvSpPr>
          <p:cNvPr id="63" name="New shape">
            <a:extLst>
              <a:ext uri="{FF2B5EF4-FFF2-40B4-BE49-F238E27FC236}">
                <a16:creationId xmlns:a16="http://schemas.microsoft.com/office/drawing/2014/main" id="{288C3D17-BBAA-0953-6A2F-4B4BBFD63D48}"/>
              </a:ext>
            </a:extLst>
          </p:cNvPr>
          <p:cNvSpPr/>
          <p:nvPr userDrawn="1"/>
        </p:nvSpPr>
        <p:spPr>
          <a:xfrm>
            <a:off x="59580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number of products and services offered on AWS marketplace 2024, by category</a:t>
            </a:r>
          </a:p>
        </p:txBody>
      </p:sp>
      <p:sp>
        <p:nvSpPr>
          <p:cNvPr id="64" name="New shape">
            <a:extLst>
              <a:ext uri="{FF2B5EF4-FFF2-40B4-BE49-F238E27FC236}">
                <a16:creationId xmlns:a16="http://schemas.microsoft.com/office/drawing/2014/main" id="{19DB49EF-7FAE-500B-8804-7E6848C79344}"/>
              </a:ext>
            </a:extLst>
          </p:cNvPr>
          <p:cNvSpPr/>
          <p:nvPr userDrawn="1"/>
        </p:nvSpPr>
        <p:spPr>
          <a:xfrm>
            <a:off x="5958000" y="3902745"/>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05 Impact</a:t>
            </a:r>
          </a:p>
        </p:txBody>
      </p:sp>
      <p:sp>
        <p:nvSpPr>
          <p:cNvPr id="65" name="New shape">
            <a:extLst>
              <a:ext uri="{FF2B5EF4-FFF2-40B4-BE49-F238E27FC236}">
                <a16:creationId xmlns:a16="http://schemas.microsoft.com/office/drawing/2014/main" id="{122B0714-3026-E7E4-775A-FCDD6C015471}"/>
              </a:ext>
            </a:extLst>
          </p:cNvPr>
          <p:cNvSpPr/>
          <p:nvPr userDrawn="1"/>
        </p:nvSpPr>
        <p:spPr>
          <a:xfrm>
            <a:off x="10915200" y="4136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32</a:t>
            </a:r>
          </a:p>
        </p:txBody>
      </p:sp>
      <p:sp>
        <p:nvSpPr>
          <p:cNvPr id="66" name="New shape">
            <a:extLst>
              <a:ext uri="{FF2B5EF4-FFF2-40B4-BE49-F238E27FC236}">
                <a16:creationId xmlns:a16="http://schemas.microsoft.com/office/drawing/2014/main" id="{1A9E8C01-5F04-7DCD-CA85-93A621AC0E34}"/>
              </a:ext>
            </a:extLst>
          </p:cNvPr>
          <p:cNvSpPr/>
          <p:nvPr userDrawn="1"/>
        </p:nvSpPr>
        <p:spPr>
          <a:xfrm>
            <a:off x="5958000" y="4136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AI/ML impact on business supply chains worldwide from 2023 to 2025</a:t>
            </a:r>
          </a:p>
        </p:txBody>
      </p:sp>
      <p:sp>
        <p:nvSpPr>
          <p:cNvPr id="67" name="New shape">
            <a:extLst>
              <a:ext uri="{FF2B5EF4-FFF2-40B4-BE49-F238E27FC236}">
                <a16:creationId xmlns:a16="http://schemas.microsoft.com/office/drawing/2014/main" id="{4720DB58-7104-71AD-2272-FBF85845E3D7}"/>
              </a:ext>
            </a:extLst>
          </p:cNvPr>
          <p:cNvSpPr/>
          <p:nvPr userDrawn="1"/>
        </p:nvSpPr>
        <p:spPr>
          <a:xfrm>
            <a:off x="10915200" y="4306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33</a:t>
            </a:r>
          </a:p>
        </p:txBody>
      </p:sp>
      <p:sp>
        <p:nvSpPr>
          <p:cNvPr id="68" name="New shape">
            <a:extLst>
              <a:ext uri="{FF2B5EF4-FFF2-40B4-BE49-F238E27FC236}">
                <a16:creationId xmlns:a16="http://schemas.microsoft.com/office/drawing/2014/main" id="{0135F6BF-3F27-D074-BD16-C16690AEA0F0}"/>
              </a:ext>
            </a:extLst>
          </p:cNvPr>
          <p:cNvSpPr/>
          <p:nvPr userDrawn="1"/>
        </p:nvSpPr>
        <p:spPr>
          <a:xfrm>
            <a:off x="5958000" y="4306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Impact of AI and ML use on retail performance 2022-2024</a:t>
            </a:r>
          </a:p>
        </p:txBody>
      </p:sp>
      <p:sp>
        <p:nvSpPr>
          <p:cNvPr id="69" name="New shape">
            <a:extLst>
              <a:ext uri="{FF2B5EF4-FFF2-40B4-BE49-F238E27FC236}">
                <a16:creationId xmlns:a16="http://schemas.microsoft.com/office/drawing/2014/main" id="{54D6C4AB-5256-604E-C80B-404417238196}"/>
              </a:ext>
            </a:extLst>
          </p:cNvPr>
          <p:cNvSpPr/>
          <p:nvPr userDrawn="1"/>
        </p:nvSpPr>
        <p:spPr>
          <a:xfrm>
            <a:off x="10915200" y="4476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34</a:t>
            </a:r>
          </a:p>
        </p:txBody>
      </p:sp>
      <p:sp>
        <p:nvSpPr>
          <p:cNvPr id="70" name="New shape">
            <a:extLst>
              <a:ext uri="{FF2B5EF4-FFF2-40B4-BE49-F238E27FC236}">
                <a16:creationId xmlns:a16="http://schemas.microsoft.com/office/drawing/2014/main" id="{7E10C5C0-998B-950B-725F-BB21396C6296}"/>
              </a:ext>
            </a:extLst>
          </p:cNvPr>
          <p:cNvSpPr/>
          <p:nvPr userDrawn="1"/>
        </p:nvSpPr>
        <p:spPr>
          <a:xfrm>
            <a:off x="5958000" y="4476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dirty="0">
                <a:solidFill>
                  <a:srgbClr val="0F2741"/>
                </a:solidFill>
                <a:latin typeface="Open Sans"/>
              </a:rPr>
              <a:t>IT skills with expected increase in demand due to AI worldwide 2023</a:t>
            </a:r>
          </a:p>
        </p:txBody>
      </p:sp>
    </p:spTree>
    <p:extLst>
      <p:ext uri="{BB962C8B-B14F-4D97-AF65-F5344CB8AC3E}">
        <p14:creationId xmlns:p14="http://schemas.microsoft.com/office/powerpoint/2010/main" val="159414527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able of Content">
    <p:spTree>
      <p:nvGrpSpPr>
        <p:cNvPr id="1" name=""/>
        <p:cNvGrpSpPr/>
        <p:nvPr/>
      </p:nvGrpSpPr>
      <p:grpSpPr>
        <a:xfrm>
          <a:off x="0" y="0"/>
          <a:ext cx="0" cy="0"/>
          <a:chOff x="0" y="0"/>
          <a:chExt cx="0" cy="0"/>
        </a:xfrm>
      </p:grpSpPr>
      <p:sp>
        <p:nvSpPr>
          <p:cNvPr id="5" name="New shape">
            <a:extLst>
              <a:ext uri="{FF2B5EF4-FFF2-40B4-BE49-F238E27FC236}">
                <a16:creationId xmlns:a16="http://schemas.microsoft.com/office/drawing/2014/main" id="{56485931-49FD-8E49-01DE-0B5BB5759D4B}"/>
              </a:ext>
            </a:extLst>
          </p:cNvPr>
          <p:cNvSpPr/>
          <p:nvPr userDrawn="1"/>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a:extLst>
              <a:ext uri="{FF2B5EF4-FFF2-40B4-BE49-F238E27FC236}">
                <a16:creationId xmlns:a16="http://schemas.microsoft.com/office/drawing/2014/main" id="{575324E4-F7CF-6512-F2E7-1FA1F1FEC208}"/>
              </a:ext>
            </a:extLst>
          </p:cNvPr>
          <p:cNvSpPr/>
          <p:nvPr userDrawn="1"/>
        </p:nvSpPr>
        <p:spPr>
          <a:xfrm>
            <a:off x="-7200" y="-7200"/>
            <a:ext cx="12211200" cy="54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a:extLst>
              <a:ext uri="{FF2B5EF4-FFF2-40B4-BE49-F238E27FC236}">
                <a16:creationId xmlns:a16="http://schemas.microsoft.com/office/drawing/2014/main" id="{2D1C7C46-9272-ECC9-EB97-30DCD4C4C424}"/>
              </a:ext>
            </a:extLst>
          </p:cNvPr>
          <p:cNvSpPr/>
          <p:nvPr userDrawn="1"/>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10" name="New shape">
            <a:extLst>
              <a:ext uri="{FF2B5EF4-FFF2-40B4-BE49-F238E27FC236}">
                <a16:creationId xmlns:a16="http://schemas.microsoft.com/office/drawing/2014/main" id="{3A8FA964-41FE-00E0-1551-706B6E7B7746}"/>
              </a:ext>
            </a:extLst>
          </p:cNvPr>
          <p:cNvSpPr/>
          <p:nvPr userDrawn="1"/>
        </p:nvSpPr>
        <p:spPr>
          <a:xfrm>
            <a:off x="586800" y="18828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dirty="0">
                <a:solidFill>
                  <a:srgbClr val="0A85E6"/>
                </a:solidFill>
                <a:latin typeface="Open Sans"/>
              </a:rPr>
              <a:t>01 Overview</a:t>
            </a:r>
          </a:p>
        </p:txBody>
      </p:sp>
      <p:sp>
        <p:nvSpPr>
          <p:cNvPr id="11" name="New shape">
            <a:extLst>
              <a:ext uri="{FF2B5EF4-FFF2-40B4-BE49-F238E27FC236}">
                <a16:creationId xmlns:a16="http://schemas.microsoft.com/office/drawing/2014/main" id="{CAFDB39E-DB2F-A522-81EF-AE291A070306}"/>
              </a:ext>
            </a:extLst>
          </p:cNvPr>
          <p:cNvSpPr/>
          <p:nvPr userDrawn="1"/>
        </p:nvSpPr>
        <p:spPr>
          <a:xfrm>
            <a:off x="5544000" y="21162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dirty="0">
                <a:solidFill>
                  <a:srgbClr val="0F2741"/>
                </a:solidFill>
                <a:latin typeface="Open Sans"/>
                <a:hlinkClick r:id="" action="ppaction://noaction">
                  <a:extLst>
                    <a:ext uri="{A12FA001-AC4F-418D-AE19-62706E023703}">
                      <ahyp:hlinkClr xmlns:ahyp="http://schemas.microsoft.com/office/drawing/2018/hyperlinkcolor" val="tx"/>
                    </a:ext>
                  </a:extLst>
                </a:hlinkClick>
              </a:rPr>
              <a:t>03</a:t>
            </a:r>
          </a:p>
        </p:txBody>
      </p:sp>
      <p:sp>
        <p:nvSpPr>
          <p:cNvPr id="12" name="New shape">
            <a:extLst>
              <a:ext uri="{FF2B5EF4-FFF2-40B4-BE49-F238E27FC236}">
                <a16:creationId xmlns:a16="http://schemas.microsoft.com/office/drawing/2014/main" id="{2D29AD07-2700-6655-30B8-BE0C4E3DAFB7}"/>
              </a:ext>
            </a:extLst>
          </p:cNvPr>
          <p:cNvSpPr/>
          <p:nvPr userDrawn="1"/>
        </p:nvSpPr>
        <p:spPr>
          <a:xfrm>
            <a:off x="586800" y="21162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dirty="0">
                <a:solidFill>
                  <a:srgbClr val="0F2741"/>
                </a:solidFill>
                <a:latin typeface="Open Sans"/>
              </a:rPr>
              <a:t>Market size of AI technologies worldwide 2020-2030, by segment</a:t>
            </a:r>
          </a:p>
        </p:txBody>
      </p:sp>
      <p:sp>
        <p:nvSpPr>
          <p:cNvPr id="13" name="New shape">
            <a:extLst>
              <a:ext uri="{FF2B5EF4-FFF2-40B4-BE49-F238E27FC236}">
                <a16:creationId xmlns:a16="http://schemas.microsoft.com/office/drawing/2014/main" id="{CC7DBA4E-8806-B8DB-DD11-4912BE61D2F2}"/>
              </a:ext>
            </a:extLst>
          </p:cNvPr>
          <p:cNvSpPr/>
          <p:nvPr userDrawn="1"/>
        </p:nvSpPr>
        <p:spPr>
          <a:xfrm>
            <a:off x="5544000" y="22865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04</a:t>
            </a:r>
          </a:p>
        </p:txBody>
      </p:sp>
      <p:sp>
        <p:nvSpPr>
          <p:cNvPr id="14" name="New shape">
            <a:extLst>
              <a:ext uri="{FF2B5EF4-FFF2-40B4-BE49-F238E27FC236}">
                <a16:creationId xmlns:a16="http://schemas.microsoft.com/office/drawing/2014/main" id="{FAC9CAB2-06A5-5033-B884-0E3E4CBFF45F}"/>
              </a:ext>
            </a:extLst>
          </p:cNvPr>
          <p:cNvSpPr/>
          <p:nvPr userDrawn="1"/>
        </p:nvSpPr>
        <p:spPr>
          <a:xfrm>
            <a:off x="586800" y="22865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Worldwide machine learning market size from 2020-2030</a:t>
            </a:r>
          </a:p>
        </p:txBody>
      </p:sp>
      <p:sp>
        <p:nvSpPr>
          <p:cNvPr id="15" name="New shape">
            <a:extLst>
              <a:ext uri="{FF2B5EF4-FFF2-40B4-BE49-F238E27FC236}">
                <a16:creationId xmlns:a16="http://schemas.microsoft.com/office/drawing/2014/main" id="{58B7E7E3-3087-2CC2-1F9E-F4A520268804}"/>
              </a:ext>
            </a:extLst>
          </p:cNvPr>
          <p:cNvSpPr/>
          <p:nvPr userDrawn="1"/>
        </p:nvSpPr>
        <p:spPr>
          <a:xfrm>
            <a:off x="5544000" y="2456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05</a:t>
            </a:r>
          </a:p>
        </p:txBody>
      </p:sp>
      <p:sp>
        <p:nvSpPr>
          <p:cNvPr id="16" name="New shape">
            <a:extLst>
              <a:ext uri="{FF2B5EF4-FFF2-40B4-BE49-F238E27FC236}">
                <a16:creationId xmlns:a16="http://schemas.microsoft.com/office/drawing/2014/main" id="{EAF23449-0252-C1BA-3E21-3B856F1CF6A7}"/>
              </a:ext>
            </a:extLst>
          </p:cNvPr>
          <p:cNvSpPr/>
          <p:nvPr userDrawn="1"/>
        </p:nvSpPr>
        <p:spPr>
          <a:xfrm>
            <a:off x="586800" y="2456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dirty="0">
                <a:solidFill>
                  <a:srgbClr val="0F2741"/>
                </a:solidFill>
                <a:latin typeface="Open Sans"/>
              </a:rPr>
              <a:t>Global machine learning market growth from 2021-2030</a:t>
            </a:r>
          </a:p>
        </p:txBody>
      </p:sp>
      <p:sp>
        <p:nvSpPr>
          <p:cNvPr id="17" name="New shape">
            <a:extLst>
              <a:ext uri="{FF2B5EF4-FFF2-40B4-BE49-F238E27FC236}">
                <a16:creationId xmlns:a16="http://schemas.microsoft.com/office/drawing/2014/main" id="{EBF9BD96-15D0-EA6F-D9F4-E0F19CFBAC4C}"/>
              </a:ext>
            </a:extLst>
          </p:cNvPr>
          <p:cNvSpPr/>
          <p:nvPr userDrawn="1"/>
        </p:nvSpPr>
        <p:spPr>
          <a:xfrm>
            <a:off x="5544000" y="2627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06</a:t>
            </a:r>
          </a:p>
        </p:txBody>
      </p:sp>
      <p:sp>
        <p:nvSpPr>
          <p:cNvPr id="18" name="New shape">
            <a:extLst>
              <a:ext uri="{FF2B5EF4-FFF2-40B4-BE49-F238E27FC236}">
                <a16:creationId xmlns:a16="http://schemas.microsoft.com/office/drawing/2014/main" id="{03A84833-D641-BA3F-A85D-5539BB126D93}"/>
              </a:ext>
            </a:extLst>
          </p:cNvPr>
          <p:cNvSpPr/>
          <p:nvPr userDrawn="1"/>
        </p:nvSpPr>
        <p:spPr>
          <a:xfrm>
            <a:off x="586800" y="2627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Size of the ML market globally in 2023, by region</a:t>
            </a:r>
          </a:p>
        </p:txBody>
      </p:sp>
      <p:sp>
        <p:nvSpPr>
          <p:cNvPr id="19" name="New shape">
            <a:extLst>
              <a:ext uri="{FF2B5EF4-FFF2-40B4-BE49-F238E27FC236}">
                <a16:creationId xmlns:a16="http://schemas.microsoft.com/office/drawing/2014/main" id="{18AC9662-5B21-17E4-E625-F9DF323B2DD1}"/>
              </a:ext>
            </a:extLst>
          </p:cNvPr>
          <p:cNvSpPr/>
          <p:nvPr userDrawn="1"/>
        </p:nvSpPr>
        <p:spPr>
          <a:xfrm>
            <a:off x="5544000" y="2797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07</a:t>
            </a:r>
          </a:p>
        </p:txBody>
      </p:sp>
      <p:sp>
        <p:nvSpPr>
          <p:cNvPr id="20" name="New shape">
            <a:extLst>
              <a:ext uri="{FF2B5EF4-FFF2-40B4-BE49-F238E27FC236}">
                <a16:creationId xmlns:a16="http://schemas.microsoft.com/office/drawing/2014/main" id="{B1915BD7-146C-F25C-245B-701D5747DBCD}"/>
              </a:ext>
            </a:extLst>
          </p:cNvPr>
          <p:cNvSpPr/>
          <p:nvPr userDrawn="1"/>
        </p:nvSpPr>
        <p:spPr>
          <a:xfrm>
            <a:off x="586800" y="2797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Size of the machine learning market in various countries in 2024</a:t>
            </a:r>
          </a:p>
        </p:txBody>
      </p:sp>
      <p:sp>
        <p:nvSpPr>
          <p:cNvPr id="21" name="New shape">
            <a:extLst>
              <a:ext uri="{FF2B5EF4-FFF2-40B4-BE49-F238E27FC236}">
                <a16:creationId xmlns:a16="http://schemas.microsoft.com/office/drawing/2014/main" id="{92E417E1-26AA-768C-25DD-17355AB3032E}"/>
              </a:ext>
            </a:extLst>
          </p:cNvPr>
          <p:cNvSpPr/>
          <p:nvPr userDrawn="1"/>
        </p:nvSpPr>
        <p:spPr>
          <a:xfrm>
            <a:off x="586800" y="3094633"/>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02 Regional overview</a:t>
            </a:r>
          </a:p>
        </p:txBody>
      </p:sp>
      <p:sp>
        <p:nvSpPr>
          <p:cNvPr id="22" name="New shape">
            <a:extLst>
              <a:ext uri="{FF2B5EF4-FFF2-40B4-BE49-F238E27FC236}">
                <a16:creationId xmlns:a16="http://schemas.microsoft.com/office/drawing/2014/main" id="{97050E65-FD3E-A14A-EC3B-0A0C197C575C}"/>
              </a:ext>
            </a:extLst>
          </p:cNvPr>
          <p:cNvSpPr/>
          <p:nvPr userDrawn="1"/>
        </p:nvSpPr>
        <p:spPr>
          <a:xfrm>
            <a:off x="5544000" y="332807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09</a:t>
            </a:r>
          </a:p>
        </p:txBody>
      </p:sp>
      <p:sp>
        <p:nvSpPr>
          <p:cNvPr id="23" name="New shape">
            <a:extLst>
              <a:ext uri="{FF2B5EF4-FFF2-40B4-BE49-F238E27FC236}">
                <a16:creationId xmlns:a16="http://schemas.microsoft.com/office/drawing/2014/main" id="{342C25E0-9A2E-A075-7425-173DB28E7EB2}"/>
              </a:ext>
            </a:extLst>
          </p:cNvPr>
          <p:cNvSpPr/>
          <p:nvPr userDrawn="1"/>
        </p:nvSpPr>
        <p:spPr>
          <a:xfrm>
            <a:off x="586800" y="332807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Machine learning market size in the United States from 2020-2030</a:t>
            </a:r>
          </a:p>
        </p:txBody>
      </p:sp>
      <p:sp>
        <p:nvSpPr>
          <p:cNvPr id="24" name="New shape">
            <a:extLst>
              <a:ext uri="{FF2B5EF4-FFF2-40B4-BE49-F238E27FC236}">
                <a16:creationId xmlns:a16="http://schemas.microsoft.com/office/drawing/2014/main" id="{8F6312C8-66F2-CD4C-0196-965AA7284C49}"/>
              </a:ext>
            </a:extLst>
          </p:cNvPr>
          <p:cNvSpPr/>
          <p:nvPr userDrawn="1"/>
        </p:nvSpPr>
        <p:spPr>
          <a:xfrm>
            <a:off x="5544000" y="349835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10</a:t>
            </a:r>
          </a:p>
        </p:txBody>
      </p:sp>
      <p:sp>
        <p:nvSpPr>
          <p:cNvPr id="25" name="New shape">
            <a:extLst>
              <a:ext uri="{FF2B5EF4-FFF2-40B4-BE49-F238E27FC236}">
                <a16:creationId xmlns:a16="http://schemas.microsoft.com/office/drawing/2014/main" id="{206707EA-0F7E-17BD-71D9-C052CE8CF223}"/>
              </a:ext>
            </a:extLst>
          </p:cNvPr>
          <p:cNvSpPr/>
          <p:nvPr userDrawn="1"/>
        </p:nvSpPr>
        <p:spPr>
          <a:xfrm>
            <a:off x="586800" y="349835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Machine learning market growth in the U.S. from 2021-2030</a:t>
            </a:r>
          </a:p>
        </p:txBody>
      </p:sp>
      <p:sp>
        <p:nvSpPr>
          <p:cNvPr id="26" name="New shape">
            <a:extLst>
              <a:ext uri="{FF2B5EF4-FFF2-40B4-BE49-F238E27FC236}">
                <a16:creationId xmlns:a16="http://schemas.microsoft.com/office/drawing/2014/main" id="{8340D969-2F08-0D00-DF7B-DBD85C8C8718}"/>
              </a:ext>
            </a:extLst>
          </p:cNvPr>
          <p:cNvSpPr/>
          <p:nvPr userDrawn="1"/>
        </p:nvSpPr>
        <p:spPr>
          <a:xfrm>
            <a:off x="5544000" y="366863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11</a:t>
            </a:r>
          </a:p>
        </p:txBody>
      </p:sp>
      <p:sp>
        <p:nvSpPr>
          <p:cNvPr id="27" name="New shape">
            <a:extLst>
              <a:ext uri="{FF2B5EF4-FFF2-40B4-BE49-F238E27FC236}">
                <a16:creationId xmlns:a16="http://schemas.microsoft.com/office/drawing/2014/main" id="{AA0EB3C3-BB10-5282-8874-EC56BDBE945E}"/>
              </a:ext>
            </a:extLst>
          </p:cNvPr>
          <p:cNvSpPr/>
          <p:nvPr userDrawn="1"/>
        </p:nvSpPr>
        <p:spPr>
          <a:xfrm>
            <a:off x="586800" y="366863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dirty="0">
                <a:solidFill>
                  <a:srgbClr val="0F2741"/>
                </a:solidFill>
                <a:latin typeface="Open Sans"/>
              </a:rPr>
              <a:t>Machine learning market size in Europe from 2020-2030</a:t>
            </a:r>
          </a:p>
        </p:txBody>
      </p:sp>
      <p:sp>
        <p:nvSpPr>
          <p:cNvPr id="28" name="New shape">
            <a:extLst>
              <a:ext uri="{FF2B5EF4-FFF2-40B4-BE49-F238E27FC236}">
                <a16:creationId xmlns:a16="http://schemas.microsoft.com/office/drawing/2014/main" id="{2A902872-CFEE-05C7-9247-2819AEE76CC7}"/>
              </a:ext>
            </a:extLst>
          </p:cNvPr>
          <p:cNvSpPr/>
          <p:nvPr userDrawn="1"/>
        </p:nvSpPr>
        <p:spPr>
          <a:xfrm>
            <a:off x="5544000" y="383891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12</a:t>
            </a:r>
          </a:p>
        </p:txBody>
      </p:sp>
      <p:sp>
        <p:nvSpPr>
          <p:cNvPr id="29" name="New shape">
            <a:extLst>
              <a:ext uri="{FF2B5EF4-FFF2-40B4-BE49-F238E27FC236}">
                <a16:creationId xmlns:a16="http://schemas.microsoft.com/office/drawing/2014/main" id="{97F76C04-1400-8206-0793-15814AC648D9}"/>
              </a:ext>
            </a:extLst>
          </p:cNvPr>
          <p:cNvSpPr/>
          <p:nvPr userDrawn="1"/>
        </p:nvSpPr>
        <p:spPr>
          <a:xfrm>
            <a:off x="586800" y="383891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Machine learning market growth in Europe from 2021-2030</a:t>
            </a:r>
          </a:p>
        </p:txBody>
      </p:sp>
      <p:sp>
        <p:nvSpPr>
          <p:cNvPr id="30" name="New shape">
            <a:extLst>
              <a:ext uri="{FF2B5EF4-FFF2-40B4-BE49-F238E27FC236}">
                <a16:creationId xmlns:a16="http://schemas.microsoft.com/office/drawing/2014/main" id="{F2DCA380-F0F8-80C3-5F5D-6AD2DBB4709A}"/>
              </a:ext>
            </a:extLst>
          </p:cNvPr>
          <p:cNvSpPr/>
          <p:nvPr userDrawn="1"/>
        </p:nvSpPr>
        <p:spPr>
          <a:xfrm>
            <a:off x="5544000" y="4009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13</a:t>
            </a:r>
          </a:p>
        </p:txBody>
      </p:sp>
      <p:sp>
        <p:nvSpPr>
          <p:cNvPr id="31" name="New shape">
            <a:extLst>
              <a:ext uri="{FF2B5EF4-FFF2-40B4-BE49-F238E27FC236}">
                <a16:creationId xmlns:a16="http://schemas.microsoft.com/office/drawing/2014/main" id="{3A5432DA-7CD0-0DA5-D28A-C27A9313AD9F}"/>
              </a:ext>
            </a:extLst>
          </p:cNvPr>
          <p:cNvSpPr/>
          <p:nvPr userDrawn="1"/>
        </p:nvSpPr>
        <p:spPr>
          <a:xfrm>
            <a:off x="586800" y="4009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Market size of machine learning United Kingdom 2020-2030</a:t>
            </a:r>
          </a:p>
        </p:txBody>
      </p:sp>
      <p:sp>
        <p:nvSpPr>
          <p:cNvPr id="32" name="New shape">
            <a:extLst>
              <a:ext uri="{FF2B5EF4-FFF2-40B4-BE49-F238E27FC236}">
                <a16:creationId xmlns:a16="http://schemas.microsoft.com/office/drawing/2014/main" id="{80A5EF43-CC94-FC46-A428-A3B9E0DA60A4}"/>
              </a:ext>
            </a:extLst>
          </p:cNvPr>
          <p:cNvSpPr/>
          <p:nvPr userDrawn="1"/>
        </p:nvSpPr>
        <p:spPr>
          <a:xfrm>
            <a:off x="5544000" y="4179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14</a:t>
            </a:r>
          </a:p>
        </p:txBody>
      </p:sp>
      <p:sp>
        <p:nvSpPr>
          <p:cNvPr id="33" name="New shape">
            <a:extLst>
              <a:ext uri="{FF2B5EF4-FFF2-40B4-BE49-F238E27FC236}">
                <a16:creationId xmlns:a16="http://schemas.microsoft.com/office/drawing/2014/main" id="{30A4165A-4B88-C2FC-BCA9-E5FFDBC9CA21}"/>
              </a:ext>
            </a:extLst>
          </p:cNvPr>
          <p:cNvSpPr/>
          <p:nvPr userDrawn="1"/>
        </p:nvSpPr>
        <p:spPr>
          <a:xfrm>
            <a:off x="586800" y="4179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Growth of the machine learning market in the UK from 2021-2030</a:t>
            </a:r>
          </a:p>
        </p:txBody>
      </p:sp>
      <p:sp>
        <p:nvSpPr>
          <p:cNvPr id="34" name="New shape">
            <a:extLst>
              <a:ext uri="{FF2B5EF4-FFF2-40B4-BE49-F238E27FC236}">
                <a16:creationId xmlns:a16="http://schemas.microsoft.com/office/drawing/2014/main" id="{11DE50CA-269E-408B-7556-726DC87F148D}"/>
              </a:ext>
            </a:extLst>
          </p:cNvPr>
          <p:cNvSpPr/>
          <p:nvPr userDrawn="1"/>
        </p:nvSpPr>
        <p:spPr>
          <a:xfrm>
            <a:off x="5544000" y="4349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15</a:t>
            </a:r>
          </a:p>
        </p:txBody>
      </p:sp>
      <p:sp>
        <p:nvSpPr>
          <p:cNvPr id="35" name="New shape">
            <a:extLst>
              <a:ext uri="{FF2B5EF4-FFF2-40B4-BE49-F238E27FC236}">
                <a16:creationId xmlns:a16="http://schemas.microsoft.com/office/drawing/2014/main" id="{C42948B5-0794-93FA-DF4E-69714E07CD78}"/>
              </a:ext>
            </a:extLst>
          </p:cNvPr>
          <p:cNvSpPr/>
          <p:nvPr userDrawn="1"/>
        </p:nvSpPr>
        <p:spPr>
          <a:xfrm>
            <a:off x="586800" y="4349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Machine learning market size in the Nordics from 2020-2030</a:t>
            </a:r>
          </a:p>
        </p:txBody>
      </p:sp>
      <p:sp>
        <p:nvSpPr>
          <p:cNvPr id="36" name="New shape">
            <a:extLst>
              <a:ext uri="{FF2B5EF4-FFF2-40B4-BE49-F238E27FC236}">
                <a16:creationId xmlns:a16="http://schemas.microsoft.com/office/drawing/2014/main" id="{865883BD-0A54-316A-6042-B0A4460C80C9}"/>
              </a:ext>
            </a:extLst>
          </p:cNvPr>
          <p:cNvSpPr/>
          <p:nvPr userDrawn="1"/>
        </p:nvSpPr>
        <p:spPr>
          <a:xfrm>
            <a:off x="5544000" y="4520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16</a:t>
            </a:r>
          </a:p>
        </p:txBody>
      </p:sp>
      <p:sp>
        <p:nvSpPr>
          <p:cNvPr id="37" name="New shape">
            <a:extLst>
              <a:ext uri="{FF2B5EF4-FFF2-40B4-BE49-F238E27FC236}">
                <a16:creationId xmlns:a16="http://schemas.microsoft.com/office/drawing/2014/main" id="{6D8B46A3-A5B2-3A93-F506-DF4BFC0E3560}"/>
              </a:ext>
            </a:extLst>
          </p:cNvPr>
          <p:cNvSpPr/>
          <p:nvPr userDrawn="1"/>
        </p:nvSpPr>
        <p:spPr>
          <a:xfrm>
            <a:off x="586800" y="4520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Machine learning market size growth in the Nordics from 2021-2030</a:t>
            </a:r>
          </a:p>
        </p:txBody>
      </p:sp>
      <p:sp>
        <p:nvSpPr>
          <p:cNvPr id="38" name="New shape">
            <a:extLst>
              <a:ext uri="{FF2B5EF4-FFF2-40B4-BE49-F238E27FC236}">
                <a16:creationId xmlns:a16="http://schemas.microsoft.com/office/drawing/2014/main" id="{6AAE6559-E770-58BD-CEF4-436D304C4D53}"/>
              </a:ext>
            </a:extLst>
          </p:cNvPr>
          <p:cNvSpPr/>
          <p:nvPr userDrawn="1"/>
        </p:nvSpPr>
        <p:spPr>
          <a:xfrm>
            <a:off x="586800" y="48173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03 Development</a:t>
            </a:r>
          </a:p>
        </p:txBody>
      </p:sp>
      <p:sp>
        <p:nvSpPr>
          <p:cNvPr id="39" name="New shape">
            <a:extLst>
              <a:ext uri="{FF2B5EF4-FFF2-40B4-BE49-F238E27FC236}">
                <a16:creationId xmlns:a16="http://schemas.microsoft.com/office/drawing/2014/main" id="{3100CF09-B481-2036-3478-7004427F866A}"/>
              </a:ext>
            </a:extLst>
          </p:cNvPr>
          <p:cNvSpPr/>
          <p:nvPr userDrawn="1"/>
        </p:nvSpPr>
        <p:spPr>
          <a:xfrm>
            <a:off x="5544000" y="50507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18</a:t>
            </a:r>
          </a:p>
        </p:txBody>
      </p:sp>
      <p:sp>
        <p:nvSpPr>
          <p:cNvPr id="40" name="New shape">
            <a:extLst>
              <a:ext uri="{FF2B5EF4-FFF2-40B4-BE49-F238E27FC236}">
                <a16:creationId xmlns:a16="http://schemas.microsoft.com/office/drawing/2014/main" id="{B167ADDC-3054-1393-04B6-DECF413D376B}"/>
              </a:ext>
            </a:extLst>
          </p:cNvPr>
          <p:cNvSpPr/>
          <p:nvPr userDrawn="1"/>
        </p:nvSpPr>
        <p:spPr>
          <a:xfrm>
            <a:off x="586800" y="50507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Funding of Machine Learning Operations/Platform startups worldwide 2024</a:t>
            </a:r>
          </a:p>
        </p:txBody>
      </p:sp>
      <p:sp>
        <p:nvSpPr>
          <p:cNvPr id="41" name="New shape">
            <a:extLst>
              <a:ext uri="{FF2B5EF4-FFF2-40B4-BE49-F238E27FC236}">
                <a16:creationId xmlns:a16="http://schemas.microsoft.com/office/drawing/2014/main" id="{F81D3FA7-0730-8681-C0F7-04E511F76C50}"/>
              </a:ext>
            </a:extLst>
          </p:cNvPr>
          <p:cNvSpPr/>
          <p:nvPr userDrawn="1"/>
        </p:nvSpPr>
        <p:spPr>
          <a:xfrm>
            <a:off x="5544000" y="52210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19</a:t>
            </a:r>
          </a:p>
        </p:txBody>
      </p:sp>
      <p:sp>
        <p:nvSpPr>
          <p:cNvPr id="42" name="New shape">
            <a:extLst>
              <a:ext uri="{FF2B5EF4-FFF2-40B4-BE49-F238E27FC236}">
                <a16:creationId xmlns:a16="http://schemas.microsoft.com/office/drawing/2014/main" id="{EF58632A-615A-F117-19E0-19E18513FBC7}"/>
              </a:ext>
            </a:extLst>
          </p:cNvPr>
          <p:cNvSpPr/>
          <p:nvPr userDrawn="1"/>
        </p:nvSpPr>
        <p:spPr>
          <a:xfrm>
            <a:off x="586800" y="52210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notable machine learning models globally in 2023, by geographic area</a:t>
            </a:r>
          </a:p>
        </p:txBody>
      </p:sp>
      <p:sp>
        <p:nvSpPr>
          <p:cNvPr id="43" name="New shape">
            <a:extLst>
              <a:ext uri="{FF2B5EF4-FFF2-40B4-BE49-F238E27FC236}">
                <a16:creationId xmlns:a16="http://schemas.microsoft.com/office/drawing/2014/main" id="{AD0F14C9-6DC8-75ED-79F6-2FBF3DC2D7D1}"/>
              </a:ext>
            </a:extLst>
          </p:cNvPr>
          <p:cNvSpPr/>
          <p:nvPr userDrawn="1"/>
        </p:nvSpPr>
        <p:spPr>
          <a:xfrm>
            <a:off x="5544000" y="53912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20</a:t>
            </a:r>
          </a:p>
        </p:txBody>
      </p:sp>
      <p:sp>
        <p:nvSpPr>
          <p:cNvPr id="44" name="New shape">
            <a:extLst>
              <a:ext uri="{FF2B5EF4-FFF2-40B4-BE49-F238E27FC236}">
                <a16:creationId xmlns:a16="http://schemas.microsoft.com/office/drawing/2014/main" id="{4B8EE240-DDFC-F876-BEA4-0A0BE5CB6B3F}"/>
              </a:ext>
            </a:extLst>
          </p:cNvPr>
          <p:cNvSpPr/>
          <p:nvPr userDrawn="1"/>
        </p:nvSpPr>
        <p:spPr>
          <a:xfrm>
            <a:off x="586800" y="53912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Desired usage of ML and generative AI by commericial leaders 2023</a:t>
            </a:r>
          </a:p>
        </p:txBody>
      </p:sp>
      <p:sp>
        <p:nvSpPr>
          <p:cNvPr id="45" name="New shape">
            <a:extLst>
              <a:ext uri="{FF2B5EF4-FFF2-40B4-BE49-F238E27FC236}">
                <a16:creationId xmlns:a16="http://schemas.microsoft.com/office/drawing/2014/main" id="{8DA4D0E7-69E6-4903-7333-81AF5987F146}"/>
              </a:ext>
            </a:extLst>
          </p:cNvPr>
          <p:cNvSpPr/>
          <p:nvPr userDrawn="1"/>
        </p:nvSpPr>
        <p:spPr>
          <a:xfrm>
            <a:off x="109152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21</a:t>
            </a:r>
          </a:p>
        </p:txBody>
      </p:sp>
      <p:sp>
        <p:nvSpPr>
          <p:cNvPr id="46" name="New shape">
            <a:extLst>
              <a:ext uri="{FF2B5EF4-FFF2-40B4-BE49-F238E27FC236}">
                <a16:creationId xmlns:a16="http://schemas.microsoft.com/office/drawing/2014/main" id="{AB6CD0AC-ED1F-881A-9525-61F4F2EA450B}"/>
              </a:ext>
            </a:extLst>
          </p:cNvPr>
          <p:cNvSpPr/>
          <p:nvPr userDrawn="1"/>
        </p:nvSpPr>
        <p:spPr>
          <a:xfrm>
            <a:off x="59580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Usage of ML and generative AI by commercial leaders 2023</a:t>
            </a:r>
          </a:p>
        </p:txBody>
      </p:sp>
      <p:sp>
        <p:nvSpPr>
          <p:cNvPr id="47" name="New shape">
            <a:extLst>
              <a:ext uri="{FF2B5EF4-FFF2-40B4-BE49-F238E27FC236}">
                <a16:creationId xmlns:a16="http://schemas.microsoft.com/office/drawing/2014/main" id="{6746985F-FA7E-3C35-0335-09D7D469979D}"/>
              </a:ext>
            </a:extLst>
          </p:cNvPr>
          <p:cNvSpPr/>
          <p:nvPr userDrawn="1"/>
        </p:nvSpPr>
        <p:spPr>
          <a:xfrm>
            <a:off x="109152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22</a:t>
            </a:r>
          </a:p>
        </p:txBody>
      </p:sp>
      <p:sp>
        <p:nvSpPr>
          <p:cNvPr id="48" name="New shape">
            <a:extLst>
              <a:ext uri="{FF2B5EF4-FFF2-40B4-BE49-F238E27FC236}">
                <a16:creationId xmlns:a16="http://schemas.microsoft.com/office/drawing/2014/main" id="{6BE6E07E-A41E-2B0F-C41B-6B19B605DE29}"/>
              </a:ext>
            </a:extLst>
          </p:cNvPr>
          <p:cNvSpPr/>
          <p:nvPr userDrawn="1"/>
        </p:nvSpPr>
        <p:spPr>
          <a:xfrm>
            <a:off x="59580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foundation models in global organizations in 2023</a:t>
            </a:r>
          </a:p>
        </p:txBody>
      </p:sp>
      <p:sp>
        <p:nvSpPr>
          <p:cNvPr id="49" name="New shape">
            <a:extLst>
              <a:ext uri="{FF2B5EF4-FFF2-40B4-BE49-F238E27FC236}">
                <a16:creationId xmlns:a16="http://schemas.microsoft.com/office/drawing/2014/main" id="{49E7FCE6-F44C-55BD-045F-7CFA0F459BD2}"/>
              </a:ext>
            </a:extLst>
          </p:cNvPr>
          <p:cNvSpPr/>
          <p:nvPr userDrawn="1"/>
        </p:nvSpPr>
        <p:spPr>
          <a:xfrm>
            <a:off x="5958000" y="2350356"/>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04 Companies</a:t>
            </a:r>
          </a:p>
        </p:txBody>
      </p:sp>
      <p:sp>
        <p:nvSpPr>
          <p:cNvPr id="50" name="New shape">
            <a:extLst>
              <a:ext uri="{FF2B5EF4-FFF2-40B4-BE49-F238E27FC236}">
                <a16:creationId xmlns:a16="http://schemas.microsoft.com/office/drawing/2014/main" id="{208EE730-8039-75D0-FDEE-4DDE4CF528B7}"/>
              </a:ext>
            </a:extLst>
          </p:cNvPr>
          <p:cNvSpPr/>
          <p:nvPr userDrawn="1"/>
        </p:nvSpPr>
        <p:spPr>
          <a:xfrm>
            <a:off x="10915200" y="2583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24</a:t>
            </a:r>
          </a:p>
        </p:txBody>
      </p:sp>
      <p:sp>
        <p:nvSpPr>
          <p:cNvPr id="51" name="New shape">
            <a:extLst>
              <a:ext uri="{FF2B5EF4-FFF2-40B4-BE49-F238E27FC236}">
                <a16:creationId xmlns:a16="http://schemas.microsoft.com/office/drawing/2014/main" id="{67FD879D-0A42-8640-C0B0-D0D8BD236725}"/>
              </a:ext>
            </a:extLst>
          </p:cNvPr>
          <p:cNvSpPr/>
          <p:nvPr userDrawn="1"/>
        </p:nvSpPr>
        <p:spPr>
          <a:xfrm>
            <a:off x="5958000" y="2583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Microsoft's revenue 2008-2025, by fiscal quarter</a:t>
            </a:r>
          </a:p>
        </p:txBody>
      </p:sp>
      <p:sp>
        <p:nvSpPr>
          <p:cNvPr id="52" name="New shape">
            <a:extLst>
              <a:ext uri="{FF2B5EF4-FFF2-40B4-BE49-F238E27FC236}">
                <a16:creationId xmlns:a16="http://schemas.microsoft.com/office/drawing/2014/main" id="{58973106-7A23-9294-AA25-C9B52E537B37}"/>
              </a:ext>
            </a:extLst>
          </p:cNvPr>
          <p:cNvSpPr/>
          <p:nvPr userDrawn="1"/>
        </p:nvSpPr>
        <p:spPr>
          <a:xfrm>
            <a:off x="10915200" y="2754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25</a:t>
            </a:r>
          </a:p>
        </p:txBody>
      </p:sp>
      <p:sp>
        <p:nvSpPr>
          <p:cNvPr id="53" name="New shape">
            <a:extLst>
              <a:ext uri="{FF2B5EF4-FFF2-40B4-BE49-F238E27FC236}">
                <a16:creationId xmlns:a16="http://schemas.microsoft.com/office/drawing/2014/main" id="{093ADE5D-5871-7923-FF92-022A54552544}"/>
              </a:ext>
            </a:extLst>
          </p:cNvPr>
          <p:cNvSpPr/>
          <p:nvPr userDrawn="1"/>
        </p:nvSpPr>
        <p:spPr>
          <a:xfrm>
            <a:off x="5958000" y="2754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number of leading services offered on Microsoft Azure 2024, by category</a:t>
            </a:r>
          </a:p>
        </p:txBody>
      </p:sp>
      <p:sp>
        <p:nvSpPr>
          <p:cNvPr id="54" name="New shape">
            <a:extLst>
              <a:ext uri="{FF2B5EF4-FFF2-40B4-BE49-F238E27FC236}">
                <a16:creationId xmlns:a16="http://schemas.microsoft.com/office/drawing/2014/main" id="{A855882A-B758-CBCA-603C-647D63BF35CC}"/>
              </a:ext>
            </a:extLst>
          </p:cNvPr>
          <p:cNvSpPr/>
          <p:nvPr userDrawn="1"/>
        </p:nvSpPr>
        <p:spPr>
          <a:xfrm>
            <a:off x="10915200" y="2924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26</a:t>
            </a:r>
          </a:p>
        </p:txBody>
      </p:sp>
      <p:sp>
        <p:nvSpPr>
          <p:cNvPr id="55" name="New shape">
            <a:extLst>
              <a:ext uri="{FF2B5EF4-FFF2-40B4-BE49-F238E27FC236}">
                <a16:creationId xmlns:a16="http://schemas.microsoft.com/office/drawing/2014/main" id="{76ACD9B0-A756-C268-B203-8A6FE963B40F}"/>
              </a:ext>
            </a:extLst>
          </p:cNvPr>
          <p:cNvSpPr/>
          <p:nvPr userDrawn="1"/>
        </p:nvSpPr>
        <p:spPr>
          <a:xfrm>
            <a:off x="5958000" y="2924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Alphabet: global annual revenue 2011-2024</a:t>
            </a:r>
          </a:p>
        </p:txBody>
      </p:sp>
      <p:sp>
        <p:nvSpPr>
          <p:cNvPr id="56" name="New shape">
            <a:extLst>
              <a:ext uri="{FF2B5EF4-FFF2-40B4-BE49-F238E27FC236}">
                <a16:creationId xmlns:a16="http://schemas.microsoft.com/office/drawing/2014/main" id="{85CD9878-DACC-A33E-A097-0E353BCB2EEA}"/>
              </a:ext>
            </a:extLst>
          </p:cNvPr>
          <p:cNvSpPr/>
          <p:nvPr userDrawn="1"/>
        </p:nvSpPr>
        <p:spPr>
          <a:xfrm>
            <a:off x="109152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27</a:t>
            </a:r>
          </a:p>
        </p:txBody>
      </p:sp>
      <p:sp>
        <p:nvSpPr>
          <p:cNvPr id="57" name="New shape">
            <a:extLst>
              <a:ext uri="{FF2B5EF4-FFF2-40B4-BE49-F238E27FC236}">
                <a16:creationId xmlns:a16="http://schemas.microsoft.com/office/drawing/2014/main" id="{9D3D66F4-A2DC-5D20-7DD8-EE4E52D3E52D}"/>
              </a:ext>
            </a:extLst>
          </p:cNvPr>
          <p:cNvSpPr/>
          <p:nvPr userDrawn="1"/>
        </p:nvSpPr>
        <p:spPr>
          <a:xfrm>
            <a:off x="59580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number of services offered on Google Cloud marketplace 2024, by category</a:t>
            </a:r>
          </a:p>
        </p:txBody>
      </p:sp>
      <p:sp>
        <p:nvSpPr>
          <p:cNvPr id="58" name="New shape">
            <a:extLst>
              <a:ext uri="{FF2B5EF4-FFF2-40B4-BE49-F238E27FC236}">
                <a16:creationId xmlns:a16="http://schemas.microsoft.com/office/drawing/2014/main" id="{A2994D8F-3D20-9DE0-8418-7CDCB285C8AA}"/>
              </a:ext>
            </a:extLst>
          </p:cNvPr>
          <p:cNvSpPr/>
          <p:nvPr userDrawn="1"/>
        </p:nvSpPr>
        <p:spPr>
          <a:xfrm>
            <a:off x="109152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28</a:t>
            </a:r>
          </a:p>
        </p:txBody>
      </p:sp>
      <p:sp>
        <p:nvSpPr>
          <p:cNvPr id="59" name="New shape">
            <a:extLst>
              <a:ext uri="{FF2B5EF4-FFF2-40B4-BE49-F238E27FC236}">
                <a16:creationId xmlns:a16="http://schemas.microsoft.com/office/drawing/2014/main" id="{8BB599D6-3CC3-D0EE-89BB-AF9C7A294C57}"/>
              </a:ext>
            </a:extLst>
          </p:cNvPr>
          <p:cNvSpPr/>
          <p:nvPr userDrawn="1"/>
        </p:nvSpPr>
        <p:spPr>
          <a:xfrm>
            <a:off x="59580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ML solutions on Google Cloud marketplace 2024, by type</a:t>
            </a:r>
          </a:p>
        </p:txBody>
      </p:sp>
      <p:sp>
        <p:nvSpPr>
          <p:cNvPr id="60" name="New shape">
            <a:extLst>
              <a:ext uri="{FF2B5EF4-FFF2-40B4-BE49-F238E27FC236}">
                <a16:creationId xmlns:a16="http://schemas.microsoft.com/office/drawing/2014/main" id="{15930196-651C-27D4-0751-6F86E3FA73FE}"/>
              </a:ext>
            </a:extLst>
          </p:cNvPr>
          <p:cNvSpPr/>
          <p:nvPr userDrawn="1"/>
        </p:nvSpPr>
        <p:spPr>
          <a:xfrm>
            <a:off x="109152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29</a:t>
            </a:r>
          </a:p>
        </p:txBody>
      </p:sp>
      <p:sp>
        <p:nvSpPr>
          <p:cNvPr id="61" name="New shape">
            <a:extLst>
              <a:ext uri="{FF2B5EF4-FFF2-40B4-BE49-F238E27FC236}">
                <a16:creationId xmlns:a16="http://schemas.microsoft.com/office/drawing/2014/main" id="{2951A9FB-F577-04BE-3DB6-5A358379654D}"/>
              </a:ext>
            </a:extLst>
          </p:cNvPr>
          <p:cNvSpPr/>
          <p:nvPr userDrawn="1"/>
        </p:nvSpPr>
        <p:spPr>
          <a:xfrm>
            <a:off x="59580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Amazon Web Services annual revenue 2013-2023</a:t>
            </a:r>
          </a:p>
        </p:txBody>
      </p:sp>
      <p:sp>
        <p:nvSpPr>
          <p:cNvPr id="62" name="New shape">
            <a:extLst>
              <a:ext uri="{FF2B5EF4-FFF2-40B4-BE49-F238E27FC236}">
                <a16:creationId xmlns:a16="http://schemas.microsoft.com/office/drawing/2014/main" id="{46EE3BA3-C45C-724E-F4E0-D7F11E002963}"/>
              </a:ext>
            </a:extLst>
          </p:cNvPr>
          <p:cNvSpPr/>
          <p:nvPr userDrawn="1"/>
        </p:nvSpPr>
        <p:spPr>
          <a:xfrm>
            <a:off x="109152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30</a:t>
            </a:r>
          </a:p>
        </p:txBody>
      </p:sp>
      <p:sp>
        <p:nvSpPr>
          <p:cNvPr id="63" name="New shape">
            <a:extLst>
              <a:ext uri="{FF2B5EF4-FFF2-40B4-BE49-F238E27FC236}">
                <a16:creationId xmlns:a16="http://schemas.microsoft.com/office/drawing/2014/main" id="{288C3D17-BBAA-0953-6A2F-4B4BBFD63D48}"/>
              </a:ext>
            </a:extLst>
          </p:cNvPr>
          <p:cNvSpPr/>
          <p:nvPr userDrawn="1"/>
        </p:nvSpPr>
        <p:spPr>
          <a:xfrm>
            <a:off x="59580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number of products and services offered on AWS marketplace 2024, by category</a:t>
            </a:r>
          </a:p>
        </p:txBody>
      </p:sp>
      <p:sp>
        <p:nvSpPr>
          <p:cNvPr id="64" name="New shape">
            <a:extLst>
              <a:ext uri="{FF2B5EF4-FFF2-40B4-BE49-F238E27FC236}">
                <a16:creationId xmlns:a16="http://schemas.microsoft.com/office/drawing/2014/main" id="{19DB49EF-7FAE-500B-8804-7E6848C79344}"/>
              </a:ext>
            </a:extLst>
          </p:cNvPr>
          <p:cNvSpPr/>
          <p:nvPr userDrawn="1"/>
        </p:nvSpPr>
        <p:spPr>
          <a:xfrm>
            <a:off x="5958000" y="3902745"/>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05 Impact</a:t>
            </a:r>
          </a:p>
        </p:txBody>
      </p:sp>
      <p:sp>
        <p:nvSpPr>
          <p:cNvPr id="65" name="New shape">
            <a:extLst>
              <a:ext uri="{FF2B5EF4-FFF2-40B4-BE49-F238E27FC236}">
                <a16:creationId xmlns:a16="http://schemas.microsoft.com/office/drawing/2014/main" id="{122B0714-3026-E7E4-775A-FCDD6C015471}"/>
              </a:ext>
            </a:extLst>
          </p:cNvPr>
          <p:cNvSpPr/>
          <p:nvPr userDrawn="1"/>
        </p:nvSpPr>
        <p:spPr>
          <a:xfrm>
            <a:off x="10915200" y="4136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32</a:t>
            </a:r>
          </a:p>
        </p:txBody>
      </p:sp>
      <p:sp>
        <p:nvSpPr>
          <p:cNvPr id="66" name="New shape">
            <a:extLst>
              <a:ext uri="{FF2B5EF4-FFF2-40B4-BE49-F238E27FC236}">
                <a16:creationId xmlns:a16="http://schemas.microsoft.com/office/drawing/2014/main" id="{1A9E8C01-5F04-7DCD-CA85-93A621AC0E34}"/>
              </a:ext>
            </a:extLst>
          </p:cNvPr>
          <p:cNvSpPr/>
          <p:nvPr userDrawn="1"/>
        </p:nvSpPr>
        <p:spPr>
          <a:xfrm>
            <a:off x="5958000" y="4136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AI/ML impact on business supply chains worldwide from 2023 to 2025</a:t>
            </a:r>
          </a:p>
        </p:txBody>
      </p:sp>
      <p:sp>
        <p:nvSpPr>
          <p:cNvPr id="67" name="New shape">
            <a:extLst>
              <a:ext uri="{FF2B5EF4-FFF2-40B4-BE49-F238E27FC236}">
                <a16:creationId xmlns:a16="http://schemas.microsoft.com/office/drawing/2014/main" id="{4720DB58-7104-71AD-2272-FBF85845E3D7}"/>
              </a:ext>
            </a:extLst>
          </p:cNvPr>
          <p:cNvSpPr/>
          <p:nvPr userDrawn="1"/>
        </p:nvSpPr>
        <p:spPr>
          <a:xfrm>
            <a:off x="10915200" y="4306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33</a:t>
            </a:r>
          </a:p>
        </p:txBody>
      </p:sp>
      <p:sp>
        <p:nvSpPr>
          <p:cNvPr id="68" name="New shape">
            <a:extLst>
              <a:ext uri="{FF2B5EF4-FFF2-40B4-BE49-F238E27FC236}">
                <a16:creationId xmlns:a16="http://schemas.microsoft.com/office/drawing/2014/main" id="{0135F6BF-3F27-D074-BD16-C16690AEA0F0}"/>
              </a:ext>
            </a:extLst>
          </p:cNvPr>
          <p:cNvSpPr/>
          <p:nvPr userDrawn="1"/>
        </p:nvSpPr>
        <p:spPr>
          <a:xfrm>
            <a:off x="5958000" y="4306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Impact of AI and ML use on retail performance 2022-2024</a:t>
            </a:r>
          </a:p>
        </p:txBody>
      </p:sp>
      <p:sp>
        <p:nvSpPr>
          <p:cNvPr id="69" name="New shape">
            <a:extLst>
              <a:ext uri="{FF2B5EF4-FFF2-40B4-BE49-F238E27FC236}">
                <a16:creationId xmlns:a16="http://schemas.microsoft.com/office/drawing/2014/main" id="{54D6C4AB-5256-604E-C80B-404417238196}"/>
              </a:ext>
            </a:extLst>
          </p:cNvPr>
          <p:cNvSpPr/>
          <p:nvPr userDrawn="1"/>
        </p:nvSpPr>
        <p:spPr>
          <a:xfrm>
            <a:off x="10915200" y="4476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 action="ppaction://noaction">
                  <a:extLst>
                    <a:ext uri="{A12FA001-AC4F-418D-AE19-62706E023703}">
                      <ahyp:hlinkClr xmlns:ahyp="http://schemas.microsoft.com/office/drawing/2018/hyperlinkcolor" val="tx"/>
                    </a:ext>
                  </a:extLst>
                </a:hlinkClick>
              </a:rPr>
              <a:t>34</a:t>
            </a:r>
          </a:p>
        </p:txBody>
      </p:sp>
      <p:sp>
        <p:nvSpPr>
          <p:cNvPr id="70" name="New shape">
            <a:extLst>
              <a:ext uri="{FF2B5EF4-FFF2-40B4-BE49-F238E27FC236}">
                <a16:creationId xmlns:a16="http://schemas.microsoft.com/office/drawing/2014/main" id="{7E10C5C0-998B-950B-725F-BB21396C6296}"/>
              </a:ext>
            </a:extLst>
          </p:cNvPr>
          <p:cNvSpPr/>
          <p:nvPr userDrawn="1"/>
        </p:nvSpPr>
        <p:spPr>
          <a:xfrm>
            <a:off x="5958000" y="4476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dirty="0">
                <a:solidFill>
                  <a:srgbClr val="0F2741"/>
                </a:solidFill>
                <a:latin typeface="Open Sans"/>
              </a:rPr>
              <a:t>IT skills with expected increase in demand due to AI worldwide 2023</a:t>
            </a:r>
          </a:p>
        </p:txBody>
      </p:sp>
    </p:spTree>
    <p:extLst>
      <p:ext uri="{BB962C8B-B14F-4D97-AF65-F5344CB8AC3E}">
        <p14:creationId xmlns:p14="http://schemas.microsoft.com/office/powerpoint/2010/main" val="383154249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087B031-DD27-1F53-A90F-00DD3E619A8C}"/>
              </a:ext>
            </a:extLst>
          </p:cNvPr>
          <p:cNvSpPr>
            <a:spLocks noGrp="1"/>
          </p:cNvSpPr>
          <p:nvPr>
            <p:ph type="sldNum" sz="quarter" idx="10"/>
          </p:nvPr>
        </p:nvSpPr>
        <p:spPr>
          <a:xfrm>
            <a:off x="152400" y="6174000"/>
            <a:ext cx="457200" cy="342000"/>
          </a:xfrm>
          <a:prstGeom prst="rect">
            <a:avLst/>
          </a:prstGeom>
        </p:spPr>
        <p:txBody>
          <a:bodyPr/>
          <a:lstStyle/>
          <a:p>
            <a:fld id="{93AE1883-0942-4AA3-9DB2-9C7C3A0314B1}" type="slidenum">
              <a:rPr lang="en-US" smtClean="0"/>
              <a:pPr/>
              <a:t>‹#›</a:t>
            </a:fld>
            <a:endParaRPr lang="en-US" dirty="0"/>
          </a:p>
        </p:txBody>
      </p:sp>
    </p:spTree>
    <p:extLst>
      <p:ext uri="{BB962C8B-B14F-4D97-AF65-F5344CB8AC3E}">
        <p14:creationId xmlns:p14="http://schemas.microsoft.com/office/powerpoint/2010/main" val="337761191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ody_with_bullets">
    <p:spTree>
      <p:nvGrpSpPr>
        <p:cNvPr id="1" name=""/>
        <p:cNvGrpSpPr/>
        <p:nvPr/>
      </p:nvGrpSpPr>
      <p:grpSpPr>
        <a:xfrm>
          <a:off x="0" y="0"/>
          <a:ext cx="0" cy="0"/>
          <a:chOff x="0" y="0"/>
          <a:chExt cx="0" cy="0"/>
        </a:xfrm>
      </p:grpSpPr>
      <p:sp>
        <p:nvSpPr>
          <p:cNvPr id="8" name="New shape">
            <a:extLst>
              <a:ext uri="{FF2B5EF4-FFF2-40B4-BE49-F238E27FC236}">
                <a16:creationId xmlns:a16="http://schemas.microsoft.com/office/drawing/2014/main" id="{3D7E43E8-6BDF-D804-C505-7FB74C27C79C}"/>
              </a:ext>
            </a:extLst>
          </p:cNvPr>
          <p:cNvSpPr/>
          <p:nvPr userDrawn="1"/>
        </p:nvSpPr>
        <p:spPr>
          <a:xfrm>
            <a:off x="-7200" y="-7200"/>
            <a:ext cx="12211200" cy="5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a:extLst>
              <a:ext uri="{FF2B5EF4-FFF2-40B4-BE49-F238E27FC236}">
                <a16:creationId xmlns:a16="http://schemas.microsoft.com/office/drawing/2014/main" id="{C6414462-F71E-C9F2-9967-8AD3D8CD9957}"/>
              </a:ext>
            </a:extLst>
          </p:cNvPr>
          <p:cNvSpPr/>
          <p:nvPr userDrawn="1"/>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dirty="0">
                <a:solidFill>
                  <a:srgbClr val="0F2741"/>
                </a:solidFill>
                <a:latin typeface="Open Sans"/>
              </a:rPr>
              <a:t>Description: </a:t>
            </a:r>
            <a:r>
              <a:rPr sz="600" b="0" dirty="0">
                <a:solidFill>
                  <a:srgbClr val="0F2741"/>
                </a:solidFill>
                <a:latin typeface="Open Sans"/>
              </a:rPr>
              <a:t>Most commercial leader executives feel that their organization is using generative AI rarely and machine learning sometimes in 2023. 20 percent of commercial leaders also feel that their organization use both technologies often. </a:t>
            </a:r>
            <a:r>
              <a:rPr sz="600" b="0" dirty="0">
                <a:solidFill>
                  <a:srgbClr val="0F2741"/>
                </a:solidFill>
                <a:latin typeface="Open Sans"/>
                <a:hlinkClick r:id="rId3">
                  <a:extLst>
                    <a:ext uri="{A12FA001-AC4F-418D-AE19-62706E023703}">
                      <ahyp:hlinkClr xmlns:ahyp="http://schemas.microsoft.com/office/drawing/2018/hyperlinkcolor" val="tx"/>
                    </a:ext>
                  </a:extLst>
                </a:hlinkClick>
              </a:rPr>
              <a:t>Read more</a:t>
            </a:r>
          </a:p>
          <a:p>
            <a:r>
              <a:rPr sz="600" b="1" dirty="0">
                <a:solidFill>
                  <a:srgbClr val="0F2741"/>
                </a:solidFill>
                <a:latin typeface="Open Sans"/>
              </a:rPr>
              <a:t>Note(s): </a:t>
            </a:r>
            <a:r>
              <a:rPr sz="600" b="0" dirty="0">
                <a:solidFill>
                  <a:srgbClr val="0F2741"/>
                </a:solidFill>
                <a:latin typeface="Open Sans"/>
              </a:rPr>
              <a:t>Worldwide; 2023; Senior executives in significant global B2B and B2C sales and marketing organizations*</a:t>
            </a:r>
          </a:p>
          <a:p>
            <a:r>
              <a:rPr sz="600" b="1" dirty="0">
                <a:solidFill>
                  <a:srgbClr val="0F2741"/>
                </a:solidFill>
                <a:latin typeface="Open Sans"/>
              </a:rPr>
              <a:t>Source(s): </a:t>
            </a:r>
            <a:r>
              <a:rPr sz="600" b="0" dirty="0">
                <a:solidFill>
                  <a:srgbClr val="0F2741"/>
                </a:solidFill>
                <a:latin typeface="Open Sans"/>
              </a:rPr>
              <a:t>McKinsey &amp; Company </a:t>
            </a:r>
          </a:p>
        </p:txBody>
      </p:sp>
      <p:sp>
        <p:nvSpPr>
          <p:cNvPr id="10" name="New shape">
            <a:extLst>
              <a:ext uri="{FF2B5EF4-FFF2-40B4-BE49-F238E27FC236}">
                <a16:creationId xmlns:a16="http://schemas.microsoft.com/office/drawing/2014/main" id="{26C790A7-57CA-988C-C366-3B369FA1ABAD}"/>
              </a:ext>
            </a:extLst>
          </p:cNvPr>
          <p:cNvSpPr/>
          <p:nvPr userDrawn="1"/>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11" name="ChartObject">
            <a:extLst>
              <a:ext uri="{FF2B5EF4-FFF2-40B4-BE49-F238E27FC236}">
                <a16:creationId xmlns:a16="http://schemas.microsoft.com/office/drawing/2014/main" id="{F399B422-2CF8-F038-AD2D-CF09C45B3B12}"/>
              </a:ext>
            </a:extLst>
          </p:cNvPr>
          <p:cNvGraphicFramePr/>
          <p:nvPr userDrawn="1">
            <p:extLst>
              <p:ext uri="{D42A27DB-BD31-4B8C-83A1-F6EECF244321}">
                <p14:modId xmlns:p14="http://schemas.microsoft.com/office/powerpoint/2010/main" val="3955290874"/>
              </p:ext>
            </p:extLst>
          </p:nvPr>
        </p:nvGraphicFramePr>
        <p:xfrm>
          <a:off x="586800" y="1882800"/>
          <a:ext cx="6880800" cy="4148550"/>
        </p:xfrm>
        <a:graphic>
          <a:graphicData uri="http://schemas.openxmlformats.org/drawingml/2006/chart">
            <c:chart xmlns:c="http://schemas.openxmlformats.org/drawingml/2006/chart" xmlns:r="http://schemas.openxmlformats.org/officeDocument/2006/relationships" r:id="rId4"/>
          </a:graphicData>
        </a:graphic>
      </p:graphicFrame>
      <p:sp>
        <p:nvSpPr>
          <p:cNvPr id="13" name="New shape">
            <a:extLst>
              <a:ext uri="{FF2B5EF4-FFF2-40B4-BE49-F238E27FC236}">
                <a16:creationId xmlns:a16="http://schemas.microsoft.com/office/drawing/2014/main" id="{3FB27B6B-D981-570B-FA9D-36E347A8670B}"/>
              </a:ext>
            </a:extLst>
          </p:cNvPr>
          <p:cNvSpPr/>
          <p:nvPr userDrawn="1"/>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10000"/>
          </a:bodyPr>
          <a:lstStyle/>
          <a:p>
            <a:pPr algn="l">
              <a:lnSpc>
                <a:spcPct val="100000"/>
              </a:lnSpc>
              <a:spcAft>
                <a:spcPct val="20000"/>
              </a:spcAft>
            </a:pPr>
            <a:r>
              <a:rPr sz="2500" dirty="0">
                <a:solidFill>
                  <a:srgbClr val="0F2741"/>
                </a:solidFill>
                <a:latin typeface="Open Sans Light"/>
              </a:rPr>
              <a:t>Extent of which commercial leaders feel their organizations are using machine learning (ML) or generative artificial intelligence (AI) in 2023</a:t>
            </a:r>
          </a:p>
        </p:txBody>
      </p:sp>
      <p:sp>
        <p:nvSpPr>
          <p:cNvPr id="14" name="New shape">
            <a:extLst>
              <a:ext uri="{FF2B5EF4-FFF2-40B4-BE49-F238E27FC236}">
                <a16:creationId xmlns:a16="http://schemas.microsoft.com/office/drawing/2014/main" id="{F66C59B6-BE9F-1063-C413-48FD069EF352}"/>
              </a:ext>
            </a:extLst>
          </p:cNvPr>
          <p:cNvSpPr/>
          <p:nvPr userDrawn="1"/>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Usage of ML and generative AI by commercial leaders 2023</a:t>
            </a:r>
          </a:p>
        </p:txBody>
      </p:sp>
      <p:sp>
        <p:nvSpPr>
          <p:cNvPr id="2" name="New shape">
            <a:extLst>
              <a:ext uri="{FF2B5EF4-FFF2-40B4-BE49-F238E27FC236}">
                <a16:creationId xmlns:a16="http://schemas.microsoft.com/office/drawing/2014/main" id="{29D7E2A1-695B-0740-F4AD-587A29F14647}"/>
              </a:ext>
            </a:extLst>
          </p:cNvPr>
          <p:cNvSpPr/>
          <p:nvPr userDrawn="1"/>
        </p:nvSpPr>
        <p:spPr>
          <a:xfrm rot="5400000">
            <a:off x="5447041" y="3846841"/>
            <a:ext cx="4598998" cy="51719"/>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26E526B-2D00-F01F-C586-E86AFCA9C29C}"/>
              </a:ext>
            </a:extLst>
          </p:cNvPr>
          <p:cNvSpPr txBox="1"/>
          <p:nvPr userDrawn="1"/>
        </p:nvSpPr>
        <p:spPr>
          <a:xfrm>
            <a:off x="7831301" y="1621800"/>
            <a:ext cx="3604200" cy="369332"/>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Open Sans Light" panose="020B0306030504020204" pitchFamily="34" charset="0"/>
                <a:ea typeface="Open Sans Light" panose="020B0306030504020204" pitchFamily="34" charset="0"/>
                <a:cs typeface="Open Sans Light" panose="020B0306030504020204" pitchFamily="34" charset="0"/>
              </a:rPr>
              <a:t>Text</a:t>
            </a:r>
            <a:endParaRPr lang="en-IN"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4" name="Slide Number Placeholder 5">
            <a:extLst>
              <a:ext uri="{FF2B5EF4-FFF2-40B4-BE49-F238E27FC236}">
                <a16:creationId xmlns:a16="http://schemas.microsoft.com/office/drawing/2014/main" id="{824DBB06-C6C5-2031-DFC4-B52DF1C4AD30}"/>
              </a:ext>
            </a:extLst>
          </p:cNvPr>
          <p:cNvSpPr>
            <a:spLocks noGrp="1"/>
          </p:cNvSpPr>
          <p:nvPr>
            <p:ph type="sldNum" sz="quarter" idx="4"/>
          </p:nvPr>
        </p:nvSpPr>
        <p:spPr>
          <a:xfrm>
            <a:off x="152400" y="6174000"/>
            <a:ext cx="457200" cy="342000"/>
          </a:xfrm>
          <a:prstGeom prst="rect">
            <a:avLst/>
          </a:prstGeom>
        </p:spPr>
        <p:txBody>
          <a:bodyPr/>
          <a:lstStyle>
            <a:lvl1pPr>
              <a:defRPr sz="1400"/>
            </a:lvl1pPr>
          </a:lstStyle>
          <a:p>
            <a:fld id="{93AE1883-0942-4AA3-9DB2-9C7C3A0314B1}" type="slidenum">
              <a:rPr lang="en-US" smtClean="0"/>
              <a:pPr/>
              <a:t>‹#›</a:t>
            </a:fld>
            <a:endParaRPr lang="en-US" dirty="0"/>
          </a:p>
        </p:txBody>
      </p:sp>
      <p:sp>
        <p:nvSpPr>
          <p:cNvPr id="5" name="New shape">
            <a:extLst>
              <a:ext uri="{FF2B5EF4-FFF2-40B4-BE49-F238E27FC236}">
                <a16:creationId xmlns:a16="http://schemas.microsoft.com/office/drawing/2014/main" id="{E18C83B0-F868-0DB1-3E54-B4313E553CC3}"/>
              </a:ext>
            </a:extLst>
          </p:cNvPr>
          <p:cNvSpPr/>
          <p:nvPr userDrawn="1"/>
        </p:nvSpPr>
        <p:spPr>
          <a:xfrm>
            <a:off x="500400" y="6228000"/>
            <a:ext cx="50400" cy="23400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12667718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_with_two_diagrams">
    <p:spTree>
      <p:nvGrpSpPr>
        <p:cNvPr id="1" name=""/>
        <p:cNvGrpSpPr/>
        <p:nvPr/>
      </p:nvGrpSpPr>
      <p:grpSpPr>
        <a:xfrm>
          <a:off x="0" y="0"/>
          <a:ext cx="0" cy="0"/>
          <a:chOff x="0" y="0"/>
          <a:chExt cx="0" cy="0"/>
        </a:xfrm>
      </p:grpSpPr>
      <p:sp>
        <p:nvSpPr>
          <p:cNvPr id="8" name="New shape">
            <a:extLst>
              <a:ext uri="{FF2B5EF4-FFF2-40B4-BE49-F238E27FC236}">
                <a16:creationId xmlns:a16="http://schemas.microsoft.com/office/drawing/2014/main" id="{3D7E43E8-6BDF-D804-C505-7FB74C27C79C}"/>
              </a:ext>
            </a:extLst>
          </p:cNvPr>
          <p:cNvSpPr/>
          <p:nvPr userDrawn="1"/>
        </p:nvSpPr>
        <p:spPr>
          <a:xfrm>
            <a:off x="-7200" y="-7200"/>
            <a:ext cx="12211200" cy="5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a:extLst>
              <a:ext uri="{FF2B5EF4-FFF2-40B4-BE49-F238E27FC236}">
                <a16:creationId xmlns:a16="http://schemas.microsoft.com/office/drawing/2014/main" id="{C6414462-F71E-C9F2-9967-8AD3D8CD9957}"/>
              </a:ext>
            </a:extLst>
          </p:cNvPr>
          <p:cNvSpPr/>
          <p:nvPr userDrawn="1"/>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dirty="0">
                <a:solidFill>
                  <a:srgbClr val="0F2741"/>
                </a:solidFill>
                <a:latin typeface="Open Sans"/>
              </a:rPr>
              <a:t>Description: </a:t>
            </a:r>
            <a:r>
              <a:rPr sz="600" b="0" dirty="0">
                <a:solidFill>
                  <a:srgbClr val="0F2741"/>
                </a:solidFill>
                <a:latin typeface="Open Sans"/>
              </a:rPr>
              <a:t>Most commercial leader executives feel that their organization is using generative AI rarely and machine learning sometimes in 2023. 20 percent of commercial leaders also feel that their organization use both technologies often. </a:t>
            </a:r>
            <a:r>
              <a:rPr sz="600" b="0" dirty="0">
                <a:solidFill>
                  <a:srgbClr val="0F2741"/>
                </a:solidFill>
                <a:latin typeface="Open Sans"/>
                <a:hlinkClick r:id="rId3">
                  <a:extLst>
                    <a:ext uri="{A12FA001-AC4F-418D-AE19-62706E023703}">
                      <ahyp:hlinkClr xmlns:ahyp="http://schemas.microsoft.com/office/drawing/2018/hyperlinkcolor" val="tx"/>
                    </a:ext>
                  </a:extLst>
                </a:hlinkClick>
              </a:rPr>
              <a:t>Read more</a:t>
            </a:r>
          </a:p>
          <a:p>
            <a:r>
              <a:rPr sz="600" b="1" dirty="0">
                <a:solidFill>
                  <a:srgbClr val="0F2741"/>
                </a:solidFill>
                <a:latin typeface="Open Sans"/>
              </a:rPr>
              <a:t>Note(s): </a:t>
            </a:r>
            <a:r>
              <a:rPr sz="600" b="0" dirty="0">
                <a:solidFill>
                  <a:srgbClr val="0F2741"/>
                </a:solidFill>
                <a:latin typeface="Open Sans"/>
              </a:rPr>
              <a:t>Worldwide; 2023; Senior executives in significant global B2B and B2C sales and marketing organizations*</a:t>
            </a:r>
          </a:p>
          <a:p>
            <a:r>
              <a:rPr sz="600" b="1" dirty="0">
                <a:solidFill>
                  <a:srgbClr val="0F2741"/>
                </a:solidFill>
                <a:latin typeface="Open Sans"/>
              </a:rPr>
              <a:t>Source(s): </a:t>
            </a:r>
            <a:r>
              <a:rPr sz="600" b="0" dirty="0">
                <a:solidFill>
                  <a:srgbClr val="0F2741"/>
                </a:solidFill>
                <a:latin typeface="Open Sans"/>
              </a:rPr>
              <a:t>McKinsey &amp; Company </a:t>
            </a:r>
          </a:p>
        </p:txBody>
      </p:sp>
      <p:sp>
        <p:nvSpPr>
          <p:cNvPr id="10" name="New shape">
            <a:extLst>
              <a:ext uri="{FF2B5EF4-FFF2-40B4-BE49-F238E27FC236}">
                <a16:creationId xmlns:a16="http://schemas.microsoft.com/office/drawing/2014/main" id="{26C790A7-57CA-988C-C366-3B369FA1ABAD}"/>
              </a:ext>
            </a:extLst>
          </p:cNvPr>
          <p:cNvSpPr/>
          <p:nvPr userDrawn="1"/>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11" name="ChartObject">
            <a:extLst>
              <a:ext uri="{FF2B5EF4-FFF2-40B4-BE49-F238E27FC236}">
                <a16:creationId xmlns:a16="http://schemas.microsoft.com/office/drawing/2014/main" id="{F399B422-2CF8-F038-AD2D-CF09C45B3B12}"/>
              </a:ext>
            </a:extLst>
          </p:cNvPr>
          <p:cNvGraphicFramePr/>
          <p:nvPr userDrawn="1">
            <p:extLst>
              <p:ext uri="{D42A27DB-BD31-4B8C-83A1-F6EECF244321}">
                <p14:modId xmlns:p14="http://schemas.microsoft.com/office/powerpoint/2010/main" val="1784610577"/>
              </p:ext>
            </p:extLst>
          </p:nvPr>
        </p:nvGraphicFramePr>
        <p:xfrm>
          <a:off x="586800" y="1991132"/>
          <a:ext cx="5204400" cy="4040218"/>
        </p:xfrm>
        <a:graphic>
          <a:graphicData uri="http://schemas.openxmlformats.org/drawingml/2006/chart">
            <c:chart xmlns:c="http://schemas.openxmlformats.org/drawingml/2006/chart" xmlns:r="http://schemas.openxmlformats.org/officeDocument/2006/relationships" r:id="rId4"/>
          </a:graphicData>
        </a:graphic>
      </p:graphicFrame>
      <p:sp>
        <p:nvSpPr>
          <p:cNvPr id="13" name="New shape">
            <a:extLst>
              <a:ext uri="{FF2B5EF4-FFF2-40B4-BE49-F238E27FC236}">
                <a16:creationId xmlns:a16="http://schemas.microsoft.com/office/drawing/2014/main" id="{3FB27B6B-D981-570B-FA9D-36E347A8670B}"/>
              </a:ext>
            </a:extLst>
          </p:cNvPr>
          <p:cNvSpPr/>
          <p:nvPr userDrawn="1"/>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lang="en-US" sz="2500" dirty="0">
                <a:solidFill>
                  <a:srgbClr val="0F2741"/>
                </a:solidFill>
                <a:latin typeface="Open Sans Light"/>
              </a:rPr>
              <a:t>Heading</a:t>
            </a:r>
            <a:endParaRPr sz="2500" dirty="0">
              <a:solidFill>
                <a:srgbClr val="0F2741"/>
              </a:solidFill>
              <a:latin typeface="Open Sans Light"/>
            </a:endParaRPr>
          </a:p>
        </p:txBody>
      </p:sp>
      <p:sp>
        <p:nvSpPr>
          <p:cNvPr id="2" name="New shape">
            <a:extLst>
              <a:ext uri="{FF2B5EF4-FFF2-40B4-BE49-F238E27FC236}">
                <a16:creationId xmlns:a16="http://schemas.microsoft.com/office/drawing/2014/main" id="{29D7E2A1-695B-0740-F4AD-587A29F14647}"/>
              </a:ext>
            </a:extLst>
          </p:cNvPr>
          <p:cNvSpPr/>
          <p:nvPr userDrawn="1"/>
        </p:nvSpPr>
        <p:spPr>
          <a:xfrm rot="5400000" flipV="1">
            <a:off x="3651511" y="3748149"/>
            <a:ext cx="4895984" cy="45719"/>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26E526B-2D00-F01F-C586-E86AFCA9C29C}"/>
              </a:ext>
            </a:extLst>
          </p:cNvPr>
          <p:cNvSpPr txBox="1"/>
          <p:nvPr userDrawn="1"/>
        </p:nvSpPr>
        <p:spPr>
          <a:xfrm>
            <a:off x="6340481" y="1260000"/>
            <a:ext cx="3604200" cy="369332"/>
          </a:xfrm>
          <a:prstGeom prst="rect">
            <a:avLst/>
          </a:prstGeom>
          <a:noFill/>
        </p:spPr>
        <p:txBody>
          <a:bodyPr wrap="square" rtlCol="0">
            <a:spAutoFit/>
          </a:bodyPr>
          <a:lstStyle/>
          <a:p>
            <a:pPr marL="0" indent="0">
              <a:buFont typeface="Arial" panose="020B0604020202020204" pitchFamily="34" charset="0"/>
              <a:buNone/>
            </a:pPr>
            <a:r>
              <a:rPr lang="en-US" sz="1800" dirty="0">
                <a:latin typeface="Open Sans Light" panose="020B0306030504020204" pitchFamily="34" charset="0"/>
                <a:ea typeface="Open Sans Light" panose="020B0306030504020204" pitchFamily="34" charset="0"/>
                <a:cs typeface="Open Sans Light" panose="020B0306030504020204" pitchFamily="34" charset="0"/>
              </a:rPr>
              <a:t>Text</a:t>
            </a:r>
            <a:endParaRPr lang="en-IN" dirty="0">
              <a:latin typeface="Open Sans Light" panose="020B0306030504020204" pitchFamily="34" charset="0"/>
              <a:ea typeface="Open Sans Light" panose="020B0306030504020204" pitchFamily="34" charset="0"/>
              <a:cs typeface="Open Sans Light" panose="020B0306030504020204" pitchFamily="34" charset="0"/>
            </a:endParaRPr>
          </a:p>
        </p:txBody>
      </p:sp>
      <p:graphicFrame>
        <p:nvGraphicFramePr>
          <p:cNvPr id="4" name="ChartObject">
            <a:extLst>
              <a:ext uri="{FF2B5EF4-FFF2-40B4-BE49-F238E27FC236}">
                <a16:creationId xmlns:a16="http://schemas.microsoft.com/office/drawing/2014/main" id="{B2A99701-74C7-899E-1E18-95FF32DFFB26}"/>
              </a:ext>
            </a:extLst>
          </p:cNvPr>
          <p:cNvGraphicFramePr/>
          <p:nvPr userDrawn="1">
            <p:extLst>
              <p:ext uri="{D42A27DB-BD31-4B8C-83A1-F6EECF244321}">
                <p14:modId xmlns:p14="http://schemas.microsoft.com/office/powerpoint/2010/main" val="1328141435"/>
              </p:ext>
            </p:extLst>
          </p:nvPr>
        </p:nvGraphicFramePr>
        <p:xfrm>
          <a:off x="6407806" y="1991132"/>
          <a:ext cx="5204400" cy="4040218"/>
        </p:xfrm>
        <a:graphic>
          <a:graphicData uri="http://schemas.openxmlformats.org/drawingml/2006/chart">
            <c:chart xmlns:c="http://schemas.openxmlformats.org/drawingml/2006/chart" xmlns:r="http://schemas.openxmlformats.org/officeDocument/2006/relationships" r:id="rId5"/>
          </a:graphicData>
        </a:graphic>
      </p:graphicFrame>
      <p:sp>
        <p:nvSpPr>
          <p:cNvPr id="5" name="TextBox 4">
            <a:extLst>
              <a:ext uri="{FF2B5EF4-FFF2-40B4-BE49-F238E27FC236}">
                <a16:creationId xmlns:a16="http://schemas.microsoft.com/office/drawing/2014/main" id="{C20CC58D-0CD8-7307-38B0-1A3E2A66F9A2}"/>
              </a:ext>
            </a:extLst>
          </p:cNvPr>
          <p:cNvSpPr txBox="1"/>
          <p:nvPr userDrawn="1"/>
        </p:nvSpPr>
        <p:spPr>
          <a:xfrm>
            <a:off x="586800" y="1265189"/>
            <a:ext cx="3604200" cy="369332"/>
          </a:xfrm>
          <a:prstGeom prst="rect">
            <a:avLst/>
          </a:prstGeom>
          <a:noFill/>
        </p:spPr>
        <p:txBody>
          <a:bodyPr wrap="square" rtlCol="0">
            <a:spAutoFit/>
          </a:bodyPr>
          <a:lstStyle/>
          <a:p>
            <a:pPr marL="0" indent="0">
              <a:buFont typeface="Arial" panose="020B0604020202020204" pitchFamily="34" charset="0"/>
              <a:buNone/>
            </a:pPr>
            <a:r>
              <a:rPr lang="en-US" sz="1800" dirty="0">
                <a:latin typeface="Open Sans Light" panose="020B0306030504020204" pitchFamily="34" charset="0"/>
                <a:ea typeface="Open Sans Light" panose="020B0306030504020204" pitchFamily="34" charset="0"/>
                <a:cs typeface="Open Sans Light" panose="020B0306030504020204" pitchFamily="34" charset="0"/>
              </a:rPr>
              <a:t>Text</a:t>
            </a:r>
            <a:endParaRPr lang="en-IN"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Slide Number Placeholder 5">
            <a:extLst>
              <a:ext uri="{FF2B5EF4-FFF2-40B4-BE49-F238E27FC236}">
                <a16:creationId xmlns:a16="http://schemas.microsoft.com/office/drawing/2014/main" id="{B881A2E1-1483-8F2F-A36C-E6D5477B1582}"/>
              </a:ext>
            </a:extLst>
          </p:cNvPr>
          <p:cNvSpPr>
            <a:spLocks noGrp="1"/>
          </p:cNvSpPr>
          <p:nvPr>
            <p:ph type="sldNum" sz="quarter" idx="4"/>
          </p:nvPr>
        </p:nvSpPr>
        <p:spPr>
          <a:xfrm>
            <a:off x="152400" y="6174000"/>
            <a:ext cx="457200" cy="342000"/>
          </a:xfrm>
          <a:prstGeom prst="rect">
            <a:avLst/>
          </a:prstGeom>
        </p:spPr>
        <p:txBody>
          <a:bodyPr/>
          <a:lstStyle>
            <a:lvl1pPr>
              <a:defRPr sz="1400"/>
            </a:lvl1pPr>
          </a:lstStyle>
          <a:p>
            <a:fld id="{93AE1883-0942-4AA3-9DB2-9C7C3A0314B1}" type="slidenum">
              <a:rPr lang="en-US" smtClean="0"/>
              <a:pPr/>
              <a:t>‹#›</a:t>
            </a:fld>
            <a:endParaRPr lang="en-US" dirty="0"/>
          </a:p>
        </p:txBody>
      </p:sp>
      <p:sp>
        <p:nvSpPr>
          <p:cNvPr id="7" name="New shape">
            <a:extLst>
              <a:ext uri="{FF2B5EF4-FFF2-40B4-BE49-F238E27FC236}">
                <a16:creationId xmlns:a16="http://schemas.microsoft.com/office/drawing/2014/main" id="{9A7045FD-8B37-CB29-E0EE-FB9DCD950B9E}"/>
              </a:ext>
            </a:extLst>
          </p:cNvPr>
          <p:cNvSpPr/>
          <p:nvPr userDrawn="1"/>
        </p:nvSpPr>
        <p:spPr>
          <a:xfrm>
            <a:off x="500400" y="6228000"/>
            <a:ext cx="50400" cy="234000"/>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9056491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erence">
    <p:spTree>
      <p:nvGrpSpPr>
        <p:cNvPr id="1" name=""/>
        <p:cNvGrpSpPr/>
        <p:nvPr/>
      </p:nvGrpSpPr>
      <p:grpSpPr>
        <a:xfrm>
          <a:off x="0" y="0"/>
          <a:ext cx="0" cy="0"/>
          <a:chOff x="0" y="0"/>
          <a:chExt cx="0" cy="0"/>
        </a:xfrm>
      </p:grpSpPr>
      <p:sp>
        <p:nvSpPr>
          <p:cNvPr id="8" name="New shape">
            <a:extLst>
              <a:ext uri="{FF2B5EF4-FFF2-40B4-BE49-F238E27FC236}">
                <a16:creationId xmlns:a16="http://schemas.microsoft.com/office/drawing/2014/main" id="{3D7E43E8-6BDF-D804-C505-7FB74C27C79C}"/>
              </a:ext>
            </a:extLst>
          </p:cNvPr>
          <p:cNvSpPr/>
          <p:nvPr userDrawn="1"/>
        </p:nvSpPr>
        <p:spPr>
          <a:xfrm>
            <a:off x="-7200" y="-7200"/>
            <a:ext cx="12211200" cy="5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a:extLst>
              <a:ext uri="{FF2B5EF4-FFF2-40B4-BE49-F238E27FC236}">
                <a16:creationId xmlns:a16="http://schemas.microsoft.com/office/drawing/2014/main" id="{3FB27B6B-D981-570B-FA9D-36E347A8670B}"/>
              </a:ext>
            </a:extLst>
          </p:cNvPr>
          <p:cNvSpPr/>
          <p:nvPr userDrawn="1"/>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lang="en-US" sz="2500" dirty="0">
                <a:solidFill>
                  <a:srgbClr val="0F2741"/>
                </a:solidFill>
                <a:latin typeface="Open Sans Light"/>
              </a:rPr>
              <a:t>Reference</a:t>
            </a:r>
            <a:endParaRPr sz="2500" dirty="0">
              <a:solidFill>
                <a:srgbClr val="0F2741"/>
              </a:solidFill>
              <a:latin typeface="Open Sans Light"/>
            </a:endParaRPr>
          </a:p>
        </p:txBody>
      </p:sp>
      <p:sp>
        <p:nvSpPr>
          <p:cNvPr id="5" name="TextBox 4">
            <a:extLst>
              <a:ext uri="{FF2B5EF4-FFF2-40B4-BE49-F238E27FC236}">
                <a16:creationId xmlns:a16="http://schemas.microsoft.com/office/drawing/2014/main" id="{C20CC58D-0CD8-7307-38B0-1A3E2A66F9A2}"/>
              </a:ext>
            </a:extLst>
          </p:cNvPr>
          <p:cNvSpPr txBox="1"/>
          <p:nvPr userDrawn="1"/>
        </p:nvSpPr>
        <p:spPr>
          <a:xfrm>
            <a:off x="586800" y="1265189"/>
            <a:ext cx="3604200" cy="307777"/>
          </a:xfrm>
          <a:prstGeom prst="rect">
            <a:avLst/>
          </a:prstGeom>
          <a:noFill/>
        </p:spPr>
        <p:txBody>
          <a:bodyPr wrap="square" rtlCol="0">
            <a:spAutoFit/>
          </a:bodyPr>
          <a:lstStyle/>
          <a:p>
            <a:pPr marL="0" indent="0">
              <a:buFont typeface="Arial" panose="020B0604020202020204" pitchFamily="34" charset="0"/>
              <a:buNone/>
            </a:pPr>
            <a:r>
              <a:rPr lang="en-US" sz="1400" dirty="0">
                <a:latin typeface="Open Sans Light" panose="020B0306030504020204" pitchFamily="34" charset="0"/>
                <a:ea typeface="Open Sans Light" panose="020B0306030504020204" pitchFamily="34" charset="0"/>
                <a:cs typeface="Open Sans Light" panose="020B0306030504020204" pitchFamily="34" charset="0"/>
              </a:rPr>
              <a:t>Text</a:t>
            </a:r>
            <a:endParaRPr lang="en-IN"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Slide Number Placeholder 5">
            <a:extLst>
              <a:ext uri="{FF2B5EF4-FFF2-40B4-BE49-F238E27FC236}">
                <a16:creationId xmlns:a16="http://schemas.microsoft.com/office/drawing/2014/main" id="{2B697442-3E26-BBF1-CF03-E9BA006D5543}"/>
              </a:ext>
            </a:extLst>
          </p:cNvPr>
          <p:cNvSpPr>
            <a:spLocks noGrp="1"/>
          </p:cNvSpPr>
          <p:nvPr>
            <p:ph type="sldNum" sz="quarter" idx="4"/>
          </p:nvPr>
        </p:nvSpPr>
        <p:spPr>
          <a:xfrm>
            <a:off x="152400" y="6174000"/>
            <a:ext cx="457200" cy="342000"/>
          </a:xfrm>
          <a:prstGeom prst="rect">
            <a:avLst/>
          </a:prstGeom>
        </p:spPr>
        <p:txBody>
          <a:bodyPr/>
          <a:lstStyle>
            <a:lvl1pPr>
              <a:defRPr sz="1400"/>
            </a:lvl1pPr>
          </a:lstStyle>
          <a:p>
            <a:fld id="{93AE1883-0942-4AA3-9DB2-9C7C3A0314B1}" type="slidenum">
              <a:rPr lang="en-US" smtClean="0"/>
              <a:pPr/>
              <a:t>‹#›</a:t>
            </a:fld>
            <a:endParaRPr lang="en-US" dirty="0"/>
          </a:p>
        </p:txBody>
      </p:sp>
    </p:spTree>
    <p:extLst>
      <p:ext uri="{BB962C8B-B14F-4D97-AF65-F5344CB8AC3E}">
        <p14:creationId xmlns:p14="http://schemas.microsoft.com/office/powerpoint/2010/main" val="2912842905"/>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 Points only">
    <p:spTree>
      <p:nvGrpSpPr>
        <p:cNvPr id="1" name=""/>
        <p:cNvGrpSpPr/>
        <p:nvPr/>
      </p:nvGrpSpPr>
      <p:grpSpPr>
        <a:xfrm>
          <a:off x="0" y="0"/>
          <a:ext cx="0" cy="0"/>
          <a:chOff x="0" y="0"/>
          <a:chExt cx="0" cy="0"/>
        </a:xfrm>
      </p:grpSpPr>
      <p:sp>
        <p:nvSpPr>
          <p:cNvPr id="8" name="New shape">
            <a:extLst>
              <a:ext uri="{FF2B5EF4-FFF2-40B4-BE49-F238E27FC236}">
                <a16:creationId xmlns:a16="http://schemas.microsoft.com/office/drawing/2014/main" id="{3D7E43E8-6BDF-D804-C505-7FB74C27C79C}"/>
              </a:ext>
            </a:extLst>
          </p:cNvPr>
          <p:cNvSpPr/>
          <p:nvPr userDrawn="1"/>
        </p:nvSpPr>
        <p:spPr>
          <a:xfrm>
            <a:off x="-7200" y="-7200"/>
            <a:ext cx="12211200" cy="5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a:extLst>
              <a:ext uri="{FF2B5EF4-FFF2-40B4-BE49-F238E27FC236}">
                <a16:creationId xmlns:a16="http://schemas.microsoft.com/office/drawing/2014/main" id="{3FB27B6B-D981-570B-FA9D-36E347A8670B}"/>
              </a:ext>
            </a:extLst>
          </p:cNvPr>
          <p:cNvSpPr/>
          <p:nvPr userDrawn="1"/>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lang="en-US" sz="2500" dirty="0">
                <a:solidFill>
                  <a:srgbClr val="0F2741"/>
                </a:solidFill>
                <a:latin typeface="Open Sans Light"/>
              </a:rPr>
              <a:t>Reference</a:t>
            </a:r>
            <a:endParaRPr sz="2500" dirty="0">
              <a:solidFill>
                <a:srgbClr val="0F2741"/>
              </a:solidFill>
              <a:latin typeface="Open Sans Light"/>
            </a:endParaRPr>
          </a:p>
        </p:txBody>
      </p:sp>
      <p:sp>
        <p:nvSpPr>
          <p:cNvPr id="5" name="TextBox 4">
            <a:extLst>
              <a:ext uri="{FF2B5EF4-FFF2-40B4-BE49-F238E27FC236}">
                <a16:creationId xmlns:a16="http://schemas.microsoft.com/office/drawing/2014/main" id="{C20CC58D-0CD8-7307-38B0-1A3E2A66F9A2}"/>
              </a:ext>
            </a:extLst>
          </p:cNvPr>
          <p:cNvSpPr txBox="1"/>
          <p:nvPr userDrawn="1"/>
        </p:nvSpPr>
        <p:spPr>
          <a:xfrm>
            <a:off x="586800" y="1265189"/>
            <a:ext cx="3604200" cy="2229456"/>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1800" dirty="0">
                <a:latin typeface="Open Sans Light" panose="020B0306030504020204" pitchFamily="34" charset="0"/>
                <a:ea typeface="Open Sans Light" panose="020B0306030504020204" pitchFamily="34" charset="0"/>
                <a:cs typeface="Open Sans Light" panose="020B0306030504020204" pitchFamily="34" charset="0"/>
              </a:rPr>
              <a:t>Bullet 01</a:t>
            </a:r>
          </a:p>
          <a:p>
            <a:pPr marL="285750" indent="-285750">
              <a:lnSpc>
                <a:spcPct val="200000"/>
              </a:lnSpc>
              <a:buFont typeface="Arial" panose="020B0604020202020204" pitchFamily="34" charset="0"/>
              <a:buChar char="•"/>
            </a:pPr>
            <a:r>
              <a:rPr lang="en-US" sz="1800" dirty="0">
                <a:latin typeface="Open Sans Light" panose="020B0306030504020204" pitchFamily="34" charset="0"/>
                <a:ea typeface="Open Sans Light" panose="020B0306030504020204" pitchFamily="34" charset="0"/>
                <a:cs typeface="Open Sans Light" panose="020B0306030504020204" pitchFamily="34" charset="0"/>
              </a:rPr>
              <a:t>Bullet 02</a:t>
            </a:r>
          </a:p>
          <a:p>
            <a:pPr marL="285750" indent="-285750">
              <a:lnSpc>
                <a:spcPct val="200000"/>
              </a:lnSpc>
              <a:buFont typeface="Arial" panose="020B0604020202020204" pitchFamily="34" charset="0"/>
              <a:buChar char="•"/>
            </a:pPr>
            <a:r>
              <a:rPr lang="en-US" sz="1800" dirty="0">
                <a:latin typeface="Open Sans Light" panose="020B0306030504020204" pitchFamily="34" charset="0"/>
                <a:ea typeface="Open Sans Light" panose="020B0306030504020204" pitchFamily="34" charset="0"/>
                <a:cs typeface="Open Sans Light" panose="020B0306030504020204" pitchFamily="34" charset="0"/>
              </a:rPr>
              <a:t>Bullet 03</a:t>
            </a:r>
          </a:p>
          <a:p>
            <a:pPr marL="285750" indent="-285750">
              <a:lnSpc>
                <a:spcPct val="200000"/>
              </a:lnSpc>
              <a:buFont typeface="Arial" panose="020B0604020202020204" pitchFamily="34" charset="0"/>
              <a:buChar char="•"/>
            </a:pPr>
            <a:r>
              <a:rPr lang="en-US" sz="1800" dirty="0">
                <a:latin typeface="Open Sans Light" panose="020B0306030504020204" pitchFamily="34" charset="0"/>
                <a:ea typeface="Open Sans Light" panose="020B0306030504020204" pitchFamily="34" charset="0"/>
                <a:cs typeface="Open Sans Light" panose="020B0306030504020204" pitchFamily="34" charset="0"/>
              </a:rPr>
              <a:t>Bullet 04</a:t>
            </a:r>
            <a:endParaRPr lang="en-IN" sz="1800"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Slide Number Placeholder 5">
            <a:extLst>
              <a:ext uri="{FF2B5EF4-FFF2-40B4-BE49-F238E27FC236}">
                <a16:creationId xmlns:a16="http://schemas.microsoft.com/office/drawing/2014/main" id="{2B697442-3E26-BBF1-CF03-E9BA006D5543}"/>
              </a:ext>
            </a:extLst>
          </p:cNvPr>
          <p:cNvSpPr>
            <a:spLocks noGrp="1"/>
          </p:cNvSpPr>
          <p:nvPr>
            <p:ph type="sldNum" sz="quarter" idx="4"/>
          </p:nvPr>
        </p:nvSpPr>
        <p:spPr>
          <a:xfrm>
            <a:off x="152400" y="6174000"/>
            <a:ext cx="457200" cy="342000"/>
          </a:xfrm>
          <a:prstGeom prst="rect">
            <a:avLst/>
          </a:prstGeom>
        </p:spPr>
        <p:txBody>
          <a:bodyPr/>
          <a:lstStyle>
            <a:lvl1pPr>
              <a:defRPr sz="1400"/>
            </a:lvl1pPr>
          </a:lstStyle>
          <a:p>
            <a:fld id="{93AE1883-0942-4AA3-9DB2-9C7C3A0314B1}" type="slidenum">
              <a:rPr lang="en-US" smtClean="0"/>
              <a:pPr/>
              <a:t>‹#›</a:t>
            </a:fld>
            <a:endParaRPr lang="en-US" dirty="0"/>
          </a:p>
        </p:txBody>
      </p:sp>
    </p:spTree>
    <p:extLst>
      <p:ext uri="{BB962C8B-B14F-4D97-AF65-F5344CB8AC3E}">
        <p14:creationId xmlns:p14="http://schemas.microsoft.com/office/powerpoint/2010/main" val="116381127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087B031-DD27-1F53-A90F-00DD3E619A8C}"/>
              </a:ext>
            </a:extLst>
          </p:cNvPr>
          <p:cNvSpPr>
            <a:spLocks noGrp="1"/>
          </p:cNvSpPr>
          <p:nvPr>
            <p:ph type="sldNum" sz="quarter" idx="10"/>
          </p:nvPr>
        </p:nvSpPr>
        <p:spPr>
          <a:xfrm>
            <a:off x="152400" y="6174000"/>
            <a:ext cx="457200" cy="342000"/>
          </a:xfrm>
          <a:prstGeom prst="rect">
            <a:avLst/>
          </a:prstGeom>
        </p:spPr>
        <p:txBody>
          <a:bodyPr/>
          <a:lstStyle/>
          <a:p>
            <a:fld id="{93AE1883-0942-4AA3-9DB2-9C7C3A0314B1}" type="slidenum">
              <a:rPr lang="en-US" smtClean="0"/>
              <a:pPr/>
              <a:t>‹#›</a:t>
            </a:fld>
            <a:endParaRPr lang="en-US" dirty="0"/>
          </a:p>
        </p:txBody>
      </p:sp>
      <p:pic>
        <p:nvPicPr>
          <p:cNvPr id="2" name="Picture 1">
            <a:extLst>
              <a:ext uri="{FF2B5EF4-FFF2-40B4-BE49-F238E27FC236}">
                <a16:creationId xmlns:a16="http://schemas.microsoft.com/office/drawing/2014/main" id="{E4A6A1EC-98F2-1FDC-F35A-087A7756023E}"/>
              </a:ext>
            </a:extLst>
          </p:cNvPr>
          <p:cNvPicPr>
            <a:picLocks noChangeAspect="1"/>
          </p:cNvPicPr>
          <p:nvPr userDrawn="1"/>
        </p:nvPicPr>
        <p:blipFill>
          <a:blip r:embed="rId2"/>
          <a:stretch>
            <a:fillRect/>
          </a:stretch>
        </p:blipFill>
        <p:spPr>
          <a:xfrm>
            <a:off x="4831931" y="2575926"/>
            <a:ext cx="2528137" cy="1706147"/>
          </a:xfrm>
          <a:prstGeom prst="rect">
            <a:avLst/>
          </a:prstGeom>
        </p:spPr>
      </p:pic>
    </p:spTree>
    <p:extLst>
      <p:ext uri="{BB962C8B-B14F-4D97-AF65-F5344CB8AC3E}">
        <p14:creationId xmlns:p14="http://schemas.microsoft.com/office/powerpoint/2010/main" val="255554385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New shape">
            <a:extLst>
              <a:ext uri="{FF2B5EF4-FFF2-40B4-BE49-F238E27FC236}">
                <a16:creationId xmlns:a16="http://schemas.microsoft.com/office/drawing/2014/main" id="{52FB3C92-F33F-7B70-DBDC-BA9B07EAAFB2}"/>
              </a:ext>
            </a:extLst>
          </p:cNvPr>
          <p:cNvSpPr/>
          <p:nvPr userDrawn="1"/>
        </p:nvSpPr>
        <p:spPr>
          <a:xfrm>
            <a:off x="-7200" y="-7200"/>
            <a:ext cx="12211200" cy="54000"/>
          </a:xfrm>
          <a:prstGeom prst="rect">
            <a:avLst/>
          </a:prstGeom>
          <a:blipFill>
            <a:blip r:embed="rId1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8" name="Picture 17">
            <a:extLst>
              <a:ext uri="{FF2B5EF4-FFF2-40B4-BE49-F238E27FC236}">
                <a16:creationId xmlns:a16="http://schemas.microsoft.com/office/drawing/2014/main" id="{847776FF-FC66-B1AC-EF88-8DEC70482340}"/>
              </a:ext>
            </a:extLst>
          </p:cNvPr>
          <p:cNvPicPr>
            <a:picLocks noChangeAspect="1"/>
          </p:cNvPicPr>
          <p:nvPr userDrawn="1"/>
        </p:nvPicPr>
        <p:blipFill>
          <a:blip r:embed="rId14"/>
          <a:stretch>
            <a:fillRect/>
          </a:stretch>
        </p:blipFill>
        <p:spPr>
          <a:xfrm>
            <a:off x="10892062" y="6081579"/>
            <a:ext cx="828675" cy="559242"/>
          </a:xfrm>
          <a:prstGeom prst="rect">
            <a:avLst/>
          </a:prstGeom>
        </p:spPr>
      </p:pic>
    </p:spTree>
  </p:cSld>
  <p:clrMap bg1="lt1" tx1="dk1" bg2="lt2" tx2="dk2" accent1="accent1" accent2="accent2" accent3="accent3" accent4="accent4" accent5="accent5" accent6="accent6" hlink="hlink" folHlink="folHlink"/>
  <p:sldLayoutIdLst>
    <p:sldLayoutId id="2147483655" r:id="rId1"/>
    <p:sldLayoutId id="2147483649" r:id="rId2"/>
    <p:sldLayoutId id="2147483664" r:id="rId3"/>
    <p:sldLayoutId id="2147483660" r:id="rId4"/>
    <p:sldLayoutId id="2147483665" r:id="rId5"/>
    <p:sldLayoutId id="2147483661" r:id="rId6"/>
    <p:sldLayoutId id="2147483657" r:id="rId7"/>
    <p:sldLayoutId id="2147483658" r:id="rId8"/>
    <p:sldLayoutId id="2147483659" r:id="rId9"/>
    <p:sldLayoutId id="2147483663" r:id="rId10"/>
    <p:sldLayoutId id="2147483662" r:id="rId11"/>
  </p:sldLayoutIdLst>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www.kaggle.com/datasets/uciml/default-of-credit-card-clients-dataset" TargetMode="External"/><Relationship Id="rId3" Type="http://schemas.openxmlformats.org/officeDocument/2006/relationships/hyperlink" Target="https://archive.ics.uci.edu/ml/datasets/statlog+(australian+credit+approval)" TargetMode="External"/><Relationship Id="rId7" Type="http://schemas.openxmlformats.org/officeDocument/2006/relationships/hyperlink" Target="https://www.kaggle.com/c/home-credit-default-risk" TargetMode="External"/><Relationship Id="rId2" Type="http://schemas.openxmlformats.org/officeDocument/2006/relationships/hyperlink" Target="https://archive.ics.uci.edu/ml/datasets/statlog+(german+credit+data)" TargetMode="External"/><Relationship Id="rId1" Type="http://schemas.openxmlformats.org/officeDocument/2006/relationships/slideLayout" Target="../slideLayouts/slideLayout2.xml"/><Relationship Id="rId6" Type="http://schemas.openxmlformats.org/officeDocument/2006/relationships/hyperlink" Target="https://www.kaggle.com/c/GiveMeSomeCredit" TargetMode="External"/><Relationship Id="rId5" Type="http://schemas.openxmlformats.org/officeDocument/2006/relationships/hyperlink" Target="https://archive.ics.uci.edu/ml/datasets/default+of+credit+card+clients" TargetMode="External"/><Relationship Id="rId4" Type="http://schemas.openxmlformats.org/officeDocument/2006/relationships/hyperlink" Target="https://www.kaggle.com/competitions/amex-default-prediction" TargetMode="External"/><Relationship Id="rId9" Type="http://schemas.openxmlformats.org/officeDocument/2006/relationships/hyperlink" Target="https://dataful.in/datasets/20589/"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i.org/10.1007/s10994-009-5119-5" TargetMode="External"/><Relationship Id="rId7" Type="http://schemas.openxmlformats.org/officeDocument/2006/relationships/hyperlink" Target="https://doi.org/10.21203/rs.3.rs-4665987/v1" TargetMode="External"/><Relationship Id="rId2" Type="http://schemas.openxmlformats.org/officeDocument/2006/relationships/hyperlink" Target="https://doi.org/10.1057/palgrave.jors.2601553" TargetMode="External"/><Relationship Id="rId1" Type="http://schemas.openxmlformats.org/officeDocument/2006/relationships/slideLayout" Target="../slideLayouts/slideLayout2.xml"/><Relationship Id="rId6" Type="http://schemas.openxmlformats.org/officeDocument/2006/relationships/hyperlink" Target="https://doi.org/10.1016/j.eswa.2007.12.020" TargetMode="External"/><Relationship Id="rId5" Type="http://schemas.openxmlformats.org/officeDocument/2006/relationships/hyperlink" Target="https://doi.org/10.1007/s10614-015-9517-9" TargetMode="External"/><Relationship Id="rId4" Type="http://schemas.openxmlformats.org/officeDocument/2006/relationships/hyperlink" Target="https://doi.org/10.1016/j.eswa.2016.02.039"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016/j.ejor.2015.05.030" TargetMode="External"/><Relationship Id="rId2" Type="http://schemas.openxmlformats.org/officeDocument/2006/relationships/hyperlink" Target="https://doi.org/10.1613/jair.953" TargetMode="External"/><Relationship Id="rId1" Type="http://schemas.openxmlformats.org/officeDocument/2006/relationships/slideLayout" Target="../slideLayouts/slideLayout2.xml"/><Relationship Id="rId4" Type="http://schemas.openxmlformats.org/officeDocument/2006/relationships/hyperlink" Target="https://archive.ics.uci.edu/ml/datasets/statlog+(german+credit+data)"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145/2939672.2939778" TargetMode="External"/><Relationship Id="rId2" Type="http://schemas.openxmlformats.org/officeDocument/2006/relationships/hyperlink" Target="https://papers.nips.cc/paper/7062-a-unified-approach-to-interpreting-model-predictions" TargetMode="External"/><Relationship Id="rId1" Type="http://schemas.openxmlformats.org/officeDocument/2006/relationships/slideLayout" Target="../slideLayouts/slideLayout2.xml"/><Relationship Id="rId5" Type="http://schemas.openxmlformats.org/officeDocument/2006/relationships/hyperlink" Target="https://onlinelibrary.wiley.com/journal/1099131x" TargetMode="External"/><Relationship Id="rId4" Type="http://schemas.openxmlformats.org/officeDocument/2006/relationships/hyperlink" Target="https://doi.org/10.1145/3375627.33758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B4DCB4-ACA6-2F13-676D-97990ECE3BAB}"/>
              </a:ext>
            </a:extLst>
          </p:cNvPr>
          <p:cNvSpPr>
            <a:spLocks noGrp="1"/>
          </p:cNvSpPr>
          <p:nvPr>
            <p:ph type="body" sz="quarter" idx="10"/>
          </p:nvPr>
        </p:nvSpPr>
        <p:spPr>
          <a:xfrm>
            <a:off x="496888" y="2075688"/>
            <a:ext cx="7019925" cy="1886712"/>
          </a:xfrm>
        </p:spPr>
        <p:txBody>
          <a:bodyPr/>
          <a:lstStyle/>
          <a:p>
            <a:r>
              <a:rPr lang="en-US" sz="3200" b="1" dirty="0"/>
              <a:t>Integrating Predictive and Generative AI for Explainable </a:t>
            </a:r>
            <a:r>
              <a:rPr lang="en-IN" sz="3200" b="1" dirty="0"/>
              <a:t>Credit Risk</a:t>
            </a:r>
            <a:endParaRPr lang="en-US" sz="3200" b="1" dirty="0"/>
          </a:p>
        </p:txBody>
      </p:sp>
      <p:sp>
        <p:nvSpPr>
          <p:cNvPr id="4" name="Text Placeholder 1">
            <a:extLst>
              <a:ext uri="{FF2B5EF4-FFF2-40B4-BE49-F238E27FC236}">
                <a16:creationId xmlns:a16="http://schemas.microsoft.com/office/drawing/2014/main" id="{FDF3801E-46D4-37A5-9236-D57D1ADEBC82}"/>
              </a:ext>
            </a:extLst>
          </p:cNvPr>
          <p:cNvSpPr txBox="1">
            <a:spLocks/>
          </p:cNvSpPr>
          <p:nvPr/>
        </p:nvSpPr>
        <p:spPr>
          <a:xfrm>
            <a:off x="496888" y="4101148"/>
            <a:ext cx="7019925" cy="1595563"/>
          </a:xfrm>
          <a:prstGeom prst="rect">
            <a:avLst/>
          </a:prstGeom>
        </p:spPr>
        <p:txBody>
          <a:bodyPr/>
          <a:lstStyle>
            <a:lvl1pPr marL="0" indent="0" algn="l" defTabSz="914400" rtl="0" eaLnBrk="1" latinLnBrk="0" hangingPunct="1">
              <a:lnSpc>
                <a:spcPct val="150000"/>
              </a:lnSpc>
              <a:spcBef>
                <a:spcPct val="20000"/>
              </a:spcBef>
              <a:buFont typeface="Arial" pitchFamily="34" charset="0"/>
              <a:buNone/>
              <a:defRPr lang="en-US" sz="2400" kern="1200" dirty="0" smtClean="0">
                <a:solidFill>
                  <a:srgbClr val="0F2741"/>
                </a:solidFill>
                <a:latin typeface="Open Sans Light"/>
                <a:ea typeface="+mn-ea"/>
                <a:cs typeface="+mn-cs"/>
              </a:defRPr>
            </a:lvl1pPr>
            <a:lvl2pPr marL="457200" indent="0" algn="l" defTabSz="914400" rtl="0" eaLnBrk="1" latinLnBrk="0" hangingPunct="1">
              <a:spcBef>
                <a:spcPct val="20000"/>
              </a:spcBef>
              <a:buFont typeface="Arial" pitchFamily="34" charset="0"/>
              <a:buNone/>
              <a:defRPr lang="en-US" sz="2400" kern="1200" dirty="0" smtClean="0">
                <a:solidFill>
                  <a:srgbClr val="0F2741"/>
                </a:solidFill>
                <a:latin typeface="Open Sans Light"/>
                <a:ea typeface="+mn-ea"/>
                <a:cs typeface="+mn-cs"/>
              </a:defRPr>
            </a:lvl2pPr>
            <a:lvl3pPr marL="914400" indent="0" algn="l" defTabSz="914400" rtl="0" eaLnBrk="1" latinLnBrk="0" hangingPunct="1">
              <a:spcBef>
                <a:spcPct val="20000"/>
              </a:spcBef>
              <a:buFont typeface="Arial" pitchFamily="34" charset="0"/>
              <a:buNone/>
              <a:defRPr lang="en-US" sz="2400" kern="1200" dirty="0" smtClean="0">
                <a:solidFill>
                  <a:srgbClr val="0F2741"/>
                </a:solidFill>
                <a:latin typeface="Open Sans Light"/>
                <a:ea typeface="+mn-ea"/>
                <a:cs typeface="+mn-cs"/>
              </a:defRPr>
            </a:lvl3pPr>
            <a:lvl4pPr marL="1371600" indent="0" algn="l" defTabSz="914400" rtl="0" eaLnBrk="1" latinLnBrk="0" hangingPunct="1">
              <a:spcBef>
                <a:spcPct val="20000"/>
              </a:spcBef>
              <a:buFont typeface="Arial" pitchFamily="34" charset="0"/>
              <a:buNone/>
              <a:defRPr lang="en-US" sz="2400" kern="1200" dirty="0" smtClean="0">
                <a:solidFill>
                  <a:srgbClr val="0F2741"/>
                </a:solidFill>
                <a:latin typeface="Open Sans Light"/>
                <a:ea typeface="+mn-ea"/>
                <a:cs typeface="+mn-cs"/>
              </a:defRPr>
            </a:lvl4pPr>
            <a:lvl5pPr marL="1828800" indent="0" algn="l" defTabSz="914400" rtl="0" eaLnBrk="1" latinLnBrk="0" hangingPunct="1">
              <a:spcBef>
                <a:spcPct val="20000"/>
              </a:spcBef>
              <a:buFont typeface="Arial" pitchFamily="34" charset="0"/>
              <a:buNone/>
              <a:defRPr lang="en-IN" sz="2400" kern="1200" dirty="0">
                <a:solidFill>
                  <a:srgbClr val="0F2741"/>
                </a:solidFill>
                <a:latin typeface="Open Sans Ligh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00000"/>
              </a:lnSpc>
            </a:pPr>
            <a:r>
              <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rPr>
              <a:t>Ravi Kumar Jain</a:t>
            </a:r>
          </a:p>
          <a:p>
            <a:pPr>
              <a:lnSpc>
                <a:spcPct val="100000"/>
              </a:lnSpc>
            </a:pPr>
            <a:r>
              <a:rPr lang="en-US" sz="1200" dirty="0">
                <a:solidFill>
                  <a:schemeClr val="tx1"/>
                </a:solidFill>
                <a:latin typeface="Open Sans" panose="020B0606030504020204" pitchFamily="34" charset="0"/>
                <a:ea typeface="Open Sans" panose="020B0606030504020204" pitchFamily="34" charset="0"/>
                <a:cs typeface="Open Sans" panose="020B0606030504020204" pitchFamily="34" charset="0"/>
              </a:rPr>
              <a:t>IIFT Delhi</a:t>
            </a:r>
          </a:p>
        </p:txBody>
      </p:sp>
      <p:sp>
        <p:nvSpPr>
          <p:cNvPr id="6" name="Text Placeholder 5">
            <a:extLst>
              <a:ext uri="{FF2B5EF4-FFF2-40B4-BE49-F238E27FC236}">
                <a16:creationId xmlns:a16="http://schemas.microsoft.com/office/drawing/2014/main" id="{45443CF6-4A82-1BA4-677B-0F2F2EC6837F}"/>
              </a:ext>
            </a:extLst>
          </p:cNvPr>
          <p:cNvSpPr>
            <a:spLocks noGrp="1"/>
          </p:cNvSpPr>
          <p:nvPr>
            <p:ph type="body" sz="quarter" idx="11"/>
          </p:nvPr>
        </p:nvSpPr>
        <p:spPr/>
        <p:txBody>
          <a:bodyPr/>
          <a:lstStyle/>
          <a:p>
            <a:r>
              <a:rPr lang="en-US" dirty="0"/>
              <a:t>Conference Paper</a:t>
            </a:r>
            <a:endParaRPr lang="en-IN" dirty="0"/>
          </a:p>
        </p:txBody>
      </p:sp>
    </p:spTree>
    <p:extLst>
      <p:ext uri="{BB962C8B-B14F-4D97-AF65-F5344CB8AC3E}">
        <p14:creationId xmlns:p14="http://schemas.microsoft.com/office/powerpoint/2010/main" val="121764634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62CCE-2A76-75DD-DACC-BDA5AFADB6E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3A2841-93BA-7F31-6995-1271CD0B1920}"/>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2</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0E46418-359A-8985-31F5-52486E6AA14E}"/>
              </a:ext>
            </a:extLst>
          </p:cNvPr>
          <p:cNvSpPr>
            <a:spLocks noGrp="1"/>
          </p:cNvSpPr>
          <p:nvPr>
            <p:ph type="body" sz="quarter" idx="10"/>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Classification model families and configuration space</a:t>
            </a:r>
          </a:p>
        </p:txBody>
      </p:sp>
      <p:sp>
        <p:nvSpPr>
          <p:cNvPr id="5" name="Text Placeholder 4">
            <a:extLst>
              <a:ext uri="{FF2B5EF4-FFF2-40B4-BE49-F238E27FC236}">
                <a16:creationId xmlns:a16="http://schemas.microsoft.com/office/drawing/2014/main" id="{CC0376BE-3E07-205B-F01D-1873058D8F8B}"/>
              </a:ext>
            </a:extLst>
          </p:cNvPr>
          <p:cNvSpPr>
            <a:spLocks noGrp="1"/>
          </p:cNvSpPr>
          <p:nvPr>
            <p:ph type="body" sz="quarter" idx="12"/>
          </p:nvPr>
        </p:nvSpPr>
        <p:spPr/>
        <p:txBody>
          <a:bodyPr/>
          <a:lstStyle/>
          <a:p>
            <a:endParaRPr lang="en-IN" sz="1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4BAC719-E383-04CC-643F-FC4319867968}"/>
              </a:ext>
            </a:extLst>
          </p:cNvPr>
          <p:cNvPicPr>
            <a:picLocks noChangeAspect="1"/>
          </p:cNvPicPr>
          <p:nvPr/>
        </p:nvPicPr>
        <p:blipFill>
          <a:blip r:embed="rId2"/>
          <a:srcRect t="9740"/>
          <a:stretch>
            <a:fillRect/>
          </a:stretch>
        </p:blipFill>
        <p:spPr>
          <a:xfrm>
            <a:off x="685800" y="2514600"/>
            <a:ext cx="9398483" cy="3530801"/>
          </a:xfrm>
          <a:prstGeom prst="rect">
            <a:avLst/>
          </a:prstGeom>
        </p:spPr>
      </p:pic>
      <p:sp>
        <p:nvSpPr>
          <p:cNvPr id="10" name="Text Placeholder 3">
            <a:extLst>
              <a:ext uri="{FF2B5EF4-FFF2-40B4-BE49-F238E27FC236}">
                <a16:creationId xmlns:a16="http://schemas.microsoft.com/office/drawing/2014/main" id="{7419FBAF-ACAF-28FD-628B-D38847A5589C}"/>
              </a:ext>
            </a:extLst>
          </p:cNvPr>
          <p:cNvSpPr>
            <a:spLocks noGrp="1"/>
          </p:cNvSpPr>
          <p:nvPr>
            <p:ph type="body" sz="quarter" idx="11"/>
          </p:nvPr>
        </p:nvSpPr>
        <p:spPr>
          <a:xfrm>
            <a:off x="609600" y="1310947"/>
            <a:ext cx="10286999" cy="746453"/>
          </a:xfrm>
        </p:spPr>
        <p:txBody>
          <a:bodyPr/>
          <a:lstStyle/>
          <a:p>
            <a:pPr>
              <a:lnSpc>
                <a:spcPts val="2200"/>
              </a:lnSpc>
            </a:pPr>
            <a:r>
              <a:rPr lang="en-US" sz="1600" b="1" dirty="0">
                <a:solidFill>
                  <a:schemeClr val="tx1"/>
                </a:solidFill>
              </a:rPr>
              <a:t>Banking &amp; Risk</a:t>
            </a:r>
            <a:endParaRPr lang="en-US" sz="1600" dirty="0">
              <a:solidFill>
                <a:schemeClr val="tx1"/>
              </a:solidFill>
            </a:endParaRPr>
          </a:p>
          <a:p>
            <a:pPr>
              <a:lnSpc>
                <a:spcPts val="2200"/>
              </a:lnSpc>
            </a:pPr>
            <a:endParaRPr lang="en-US" sz="1600" b="1" dirty="0">
              <a:solidFill>
                <a:schemeClr val="tx1"/>
              </a:solidFill>
            </a:endParaRPr>
          </a:p>
        </p:txBody>
      </p:sp>
    </p:spTree>
    <p:extLst>
      <p:ext uri="{BB962C8B-B14F-4D97-AF65-F5344CB8AC3E}">
        <p14:creationId xmlns:p14="http://schemas.microsoft.com/office/powerpoint/2010/main" val="381124365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C4E6F4-D636-159F-C62E-52DB920410B9}"/>
              </a:ext>
            </a:extLst>
          </p:cNvPr>
          <p:cNvSpPr>
            <a:spLocks noGrp="1"/>
          </p:cNvSpPr>
          <p:nvPr>
            <p:ph type="sldNum" sz="quarter" idx="10"/>
          </p:nvPr>
        </p:nvSpPr>
        <p:spPr/>
        <p:txBody>
          <a:bodyPr/>
          <a:lstStyle/>
          <a:p>
            <a:fld id="{93AE1883-0942-4AA3-9DB2-9C7C3A0314B1}" type="slidenum">
              <a:rPr lang="en-US" smtClean="0">
                <a:latin typeface="Times New Roman" panose="02020603050405020304" pitchFamily="18" charset="0"/>
                <a:cs typeface="Times New Roman" panose="02020603050405020304" pitchFamily="18" charset="0"/>
              </a:rPr>
              <a:pPr/>
              <a:t>3</a:t>
            </a:fld>
            <a:endParaRPr lang="en-US" dirty="0">
              <a:latin typeface="Times New Roman" panose="02020603050405020304" pitchFamily="18" charset="0"/>
              <a:cs typeface="Times New Roman" panose="02020603050405020304" pitchFamily="18" charset="0"/>
            </a:endParaRPr>
          </a:p>
        </p:txBody>
      </p:sp>
      <p:sp>
        <p:nvSpPr>
          <p:cNvPr id="3" name="New shape">
            <a:extLst>
              <a:ext uri="{FF2B5EF4-FFF2-40B4-BE49-F238E27FC236}">
                <a16:creationId xmlns:a16="http://schemas.microsoft.com/office/drawing/2014/main" id="{7A2F4CD8-6D4A-A075-D543-4539D716E453}"/>
              </a:ext>
            </a:extLst>
          </p:cNvPr>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New shape">
            <a:extLst>
              <a:ext uri="{FF2B5EF4-FFF2-40B4-BE49-F238E27FC236}">
                <a16:creationId xmlns:a16="http://schemas.microsoft.com/office/drawing/2014/main" id="{2CD2FDCE-565B-E1E0-CFB7-0EDBF1028768}"/>
              </a:ext>
            </a:extLst>
          </p:cNvPr>
          <p:cNvSpPr/>
          <p:nvPr/>
        </p:nvSpPr>
        <p:spPr>
          <a:xfrm>
            <a:off x="-7200" y="-7200"/>
            <a:ext cx="12211200" cy="54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New shape">
            <a:extLst>
              <a:ext uri="{FF2B5EF4-FFF2-40B4-BE49-F238E27FC236}">
                <a16:creationId xmlns:a16="http://schemas.microsoft.com/office/drawing/2014/main" id="{2C601647-A6C0-A933-282F-3C8F86D4945C}"/>
              </a:ext>
            </a:extLst>
          </p:cNvPr>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lang="en-US" sz="3200" dirty="0">
                <a:solidFill>
                  <a:srgbClr val="0F2741"/>
                </a:solidFill>
                <a:latin typeface="Times New Roman" panose="02020603050405020304" pitchFamily="18" charset="0"/>
                <a:cs typeface="Times New Roman" panose="02020603050405020304" pitchFamily="18" charset="0"/>
              </a:rPr>
              <a:t>Agenda</a:t>
            </a:r>
            <a:endParaRPr sz="3200" dirty="0">
              <a:solidFill>
                <a:srgbClr val="0F2741"/>
              </a:solidFill>
              <a:latin typeface="Times New Roman" panose="02020603050405020304" pitchFamily="18" charset="0"/>
              <a:cs typeface="Times New Roman" panose="02020603050405020304" pitchFamily="18" charset="0"/>
            </a:endParaRPr>
          </a:p>
        </p:txBody>
      </p:sp>
      <p:sp>
        <p:nvSpPr>
          <p:cNvPr id="6" name="New shape">
            <a:extLst>
              <a:ext uri="{FF2B5EF4-FFF2-40B4-BE49-F238E27FC236}">
                <a16:creationId xmlns:a16="http://schemas.microsoft.com/office/drawing/2014/main" id="{93DF2352-70D2-CA45-C5C5-E5C732B06346}"/>
              </a:ext>
            </a:extLst>
          </p:cNvPr>
          <p:cNvSpPr/>
          <p:nvPr/>
        </p:nvSpPr>
        <p:spPr>
          <a:xfrm>
            <a:off x="723600" y="1472220"/>
            <a:ext cx="5371200" cy="33755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nSpc>
                <a:spcPct val="150000"/>
              </a:lnSpc>
              <a:buNone/>
            </a:pPr>
            <a:r>
              <a:rPr lang="en-IN" dirty="0">
                <a:solidFill>
                  <a:schemeClr val="tx1"/>
                </a:solidFill>
              </a:rPr>
              <a:t>01 Introduction</a:t>
            </a:r>
            <a:br>
              <a:rPr lang="en-IN" dirty="0">
                <a:solidFill>
                  <a:schemeClr val="tx1"/>
                </a:solidFill>
              </a:rPr>
            </a:br>
            <a:r>
              <a:rPr lang="en-IN" dirty="0">
                <a:solidFill>
                  <a:schemeClr val="tx1"/>
                </a:solidFill>
              </a:rPr>
              <a:t>02 Literature Review</a:t>
            </a:r>
            <a:br>
              <a:rPr lang="en-IN" dirty="0">
                <a:solidFill>
                  <a:schemeClr val="tx1"/>
                </a:solidFill>
              </a:rPr>
            </a:br>
            <a:r>
              <a:rPr lang="en-IN" dirty="0">
                <a:solidFill>
                  <a:schemeClr val="tx1"/>
                </a:solidFill>
              </a:rPr>
              <a:t>03 Objectives</a:t>
            </a:r>
          </a:p>
          <a:p>
            <a:pPr>
              <a:lnSpc>
                <a:spcPct val="150000"/>
              </a:lnSpc>
              <a:buNone/>
            </a:pPr>
            <a:r>
              <a:rPr lang="en-IN" dirty="0">
                <a:solidFill>
                  <a:schemeClr val="tx1"/>
                </a:solidFill>
              </a:rPr>
              <a:t>04 Research Questions</a:t>
            </a:r>
            <a:br>
              <a:rPr lang="en-IN" dirty="0">
                <a:solidFill>
                  <a:schemeClr val="tx1"/>
                </a:solidFill>
              </a:rPr>
            </a:br>
            <a:r>
              <a:rPr lang="en-IN" dirty="0">
                <a:solidFill>
                  <a:schemeClr val="tx1"/>
                </a:solidFill>
              </a:rPr>
              <a:t>05 Methodology Overview</a:t>
            </a:r>
            <a:br>
              <a:rPr lang="en-IN" dirty="0">
                <a:solidFill>
                  <a:schemeClr val="tx1"/>
                </a:solidFill>
              </a:rPr>
            </a:br>
            <a:r>
              <a:rPr lang="en-IN" dirty="0">
                <a:solidFill>
                  <a:schemeClr val="tx1"/>
                </a:solidFill>
              </a:rPr>
              <a:t>06 Datasets &amp; Variables</a:t>
            </a:r>
            <a:br>
              <a:rPr lang="en-IN" dirty="0">
                <a:solidFill>
                  <a:schemeClr val="tx1"/>
                </a:solidFill>
              </a:rPr>
            </a:br>
            <a:r>
              <a:rPr lang="en-IN" dirty="0">
                <a:solidFill>
                  <a:schemeClr val="tx1"/>
                </a:solidFill>
              </a:rPr>
              <a:t>07 Expected Contributions</a:t>
            </a:r>
            <a:br>
              <a:rPr lang="en-IN" dirty="0">
                <a:solidFill>
                  <a:schemeClr val="tx1"/>
                </a:solidFill>
              </a:rPr>
            </a:br>
            <a:r>
              <a:rPr lang="en-IN" dirty="0">
                <a:solidFill>
                  <a:schemeClr val="tx1"/>
                </a:solidFill>
              </a:rPr>
              <a:t>08 References</a:t>
            </a:r>
          </a:p>
        </p:txBody>
      </p:sp>
    </p:spTree>
    <p:extLst>
      <p:ext uri="{BB962C8B-B14F-4D97-AF65-F5344CB8AC3E}">
        <p14:creationId xmlns:p14="http://schemas.microsoft.com/office/powerpoint/2010/main" val="121270308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42CA7-00EB-8476-240D-82BFDF07F79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40BADE-E2F3-7BBC-1320-CE35F7597889}"/>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4</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CFEC748-2FA7-F44F-B23B-2A7B0A729E24}"/>
              </a:ext>
            </a:extLst>
          </p:cNvPr>
          <p:cNvSpPr>
            <a:spLocks noGrp="1"/>
          </p:cNvSpPr>
          <p:nvPr>
            <p:ph type="body" sz="quarter" idx="10"/>
          </p:nvPr>
        </p:nvSpPr>
        <p:spPr>
          <a:xfrm>
            <a:off x="192837" y="233811"/>
            <a:ext cx="11196725" cy="795599"/>
          </a:xfrm>
        </p:spPr>
        <p:txBody>
          <a:bodyPr/>
          <a:lstStyle/>
          <a:p>
            <a:r>
              <a:rPr lang="en-US" b="1" dirty="0"/>
              <a:t>Algorithm</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5340D70E-DF4C-2AE9-4AE0-D1D570E2DFF0}"/>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E3D5F5E7-80E0-F41B-524E-5B5BC4D3A678}"/>
              </a:ext>
            </a:extLst>
          </p:cNvPr>
          <p:cNvPicPr>
            <a:picLocks noChangeAspect="1"/>
          </p:cNvPicPr>
          <p:nvPr/>
        </p:nvPicPr>
        <p:blipFill>
          <a:blip r:embed="rId2"/>
          <a:stretch>
            <a:fillRect/>
          </a:stretch>
        </p:blipFill>
        <p:spPr>
          <a:xfrm>
            <a:off x="320136" y="2667000"/>
            <a:ext cx="11551728" cy="3184603"/>
          </a:xfrm>
          <a:prstGeom prst="rect">
            <a:avLst/>
          </a:prstGeom>
        </p:spPr>
      </p:pic>
      <p:sp>
        <p:nvSpPr>
          <p:cNvPr id="17" name="Text Placeholder 3">
            <a:extLst>
              <a:ext uri="{FF2B5EF4-FFF2-40B4-BE49-F238E27FC236}">
                <a16:creationId xmlns:a16="http://schemas.microsoft.com/office/drawing/2014/main" id="{43AC13F6-4A43-B2F1-022E-AE7F4D617FF4}"/>
              </a:ext>
            </a:extLst>
          </p:cNvPr>
          <p:cNvSpPr>
            <a:spLocks noGrp="1"/>
          </p:cNvSpPr>
          <p:nvPr>
            <p:ph type="body" sz="quarter" idx="11"/>
          </p:nvPr>
        </p:nvSpPr>
        <p:spPr>
          <a:xfrm>
            <a:off x="609600" y="1310947"/>
            <a:ext cx="10286999" cy="1203653"/>
          </a:xfrm>
        </p:spPr>
        <p:txBody>
          <a:bodyPr/>
          <a:lstStyle/>
          <a:p>
            <a:pPr>
              <a:lnSpc>
                <a:spcPts val="2200"/>
              </a:lnSpc>
            </a:pPr>
            <a:r>
              <a:rPr lang="en-US" sz="1600" b="1" dirty="0">
                <a:solidFill>
                  <a:schemeClr val="tx1"/>
                </a:solidFill>
              </a:rPr>
              <a:t>Banking &amp; Risk</a:t>
            </a:r>
            <a:endParaRPr lang="en-US" sz="1600" dirty="0">
              <a:solidFill>
                <a:schemeClr val="tx1"/>
              </a:solidFill>
            </a:endParaRPr>
          </a:p>
          <a:p>
            <a:pPr marL="742950" lvl="1" indent="-285750">
              <a:lnSpc>
                <a:spcPts val="2200"/>
              </a:lnSpc>
              <a:buFont typeface="Arial" panose="020B0604020202020204" pitchFamily="34" charset="0"/>
              <a:buChar char="•"/>
            </a:pPr>
            <a:r>
              <a:rPr lang="en-US" sz="1600" dirty="0">
                <a:solidFill>
                  <a:schemeClr val="tx1"/>
                </a:solidFill>
              </a:rPr>
              <a:t>Banking underpins economic stability and growth through financial intermediation.</a:t>
            </a:r>
          </a:p>
          <a:p>
            <a:pPr marL="742950" lvl="1" indent="-285750">
              <a:lnSpc>
                <a:spcPts val="2200"/>
              </a:lnSpc>
              <a:buFont typeface="Arial" panose="020B0604020202020204" pitchFamily="34" charset="0"/>
              <a:buChar char="•"/>
            </a:pPr>
            <a:r>
              <a:rPr lang="en-US" sz="1600" dirty="0">
                <a:solidFill>
                  <a:schemeClr val="tx1"/>
                </a:solidFill>
              </a:rPr>
              <a:t>Systemic shocks (e.g. the 2008 crisis) expose vulnerabilities and underline the need for resilient risk frameworks.</a:t>
            </a:r>
          </a:p>
          <a:p>
            <a:pPr>
              <a:lnSpc>
                <a:spcPts val="2200"/>
              </a:lnSpc>
            </a:pPr>
            <a:endParaRPr lang="en-US" sz="1600" b="1" dirty="0">
              <a:solidFill>
                <a:schemeClr val="tx1"/>
              </a:solidFill>
            </a:endParaRPr>
          </a:p>
        </p:txBody>
      </p:sp>
    </p:spTree>
    <p:extLst>
      <p:ext uri="{BB962C8B-B14F-4D97-AF65-F5344CB8AC3E}">
        <p14:creationId xmlns:p14="http://schemas.microsoft.com/office/powerpoint/2010/main" val="58570519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575DF-EAB6-47AC-DCF6-01D83C3E4BD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DFF6C0-8EF8-2866-811C-8BF929F9192E}"/>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5</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06EDD60-CC7B-D8E0-5EC6-A17E74AE9A20}"/>
              </a:ext>
            </a:extLst>
          </p:cNvPr>
          <p:cNvSpPr>
            <a:spLocks noGrp="1"/>
          </p:cNvSpPr>
          <p:nvPr>
            <p:ph type="body" sz="quarter" idx="10"/>
          </p:nvPr>
        </p:nvSpPr>
        <p:spPr>
          <a:xfrm>
            <a:off x="192837" y="233811"/>
            <a:ext cx="11196725" cy="795599"/>
          </a:xfrm>
        </p:spPr>
        <p:txBody>
          <a:bodyPr/>
          <a:lstStyle/>
          <a:p>
            <a:r>
              <a:rPr lang="en-US" b="1" dirty="0"/>
              <a:t>Algorithm</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17" name="Text Placeholder 3">
            <a:extLst>
              <a:ext uri="{FF2B5EF4-FFF2-40B4-BE49-F238E27FC236}">
                <a16:creationId xmlns:a16="http://schemas.microsoft.com/office/drawing/2014/main" id="{A23FBF1E-30B7-75C1-87C4-070BB30E9C9E}"/>
              </a:ext>
            </a:extLst>
          </p:cNvPr>
          <p:cNvSpPr>
            <a:spLocks noGrp="1"/>
          </p:cNvSpPr>
          <p:nvPr>
            <p:ph type="body" sz="quarter" idx="11"/>
          </p:nvPr>
        </p:nvSpPr>
        <p:spPr>
          <a:xfrm>
            <a:off x="609601" y="1310947"/>
            <a:ext cx="2895599" cy="4023053"/>
          </a:xfrm>
        </p:spPr>
        <p:txBody>
          <a:bodyPr/>
          <a:lstStyle/>
          <a:p>
            <a:pPr>
              <a:lnSpc>
                <a:spcPts val="2200"/>
              </a:lnSpc>
            </a:pPr>
            <a:r>
              <a:rPr lang="en-US" sz="1600" b="1" dirty="0">
                <a:solidFill>
                  <a:schemeClr val="tx1"/>
                </a:solidFill>
              </a:rPr>
              <a:t>Banking &amp; Risk</a:t>
            </a:r>
            <a:endParaRPr lang="en-US" sz="1600" dirty="0">
              <a:solidFill>
                <a:schemeClr val="tx1"/>
              </a:solidFill>
            </a:endParaRPr>
          </a:p>
          <a:p>
            <a:pPr marL="285750" indent="-285750">
              <a:lnSpc>
                <a:spcPts val="2200"/>
              </a:lnSpc>
              <a:buFont typeface="Arial" panose="020B0604020202020204" pitchFamily="34" charset="0"/>
              <a:buChar char="•"/>
            </a:pPr>
            <a:r>
              <a:rPr lang="en-US" sz="1600" dirty="0">
                <a:solidFill>
                  <a:schemeClr val="tx1"/>
                </a:solidFill>
              </a:rPr>
              <a:t>Banking underpins economic stability and growth through financial intermediation.</a:t>
            </a:r>
          </a:p>
          <a:p>
            <a:pPr marL="285750" indent="-285750">
              <a:lnSpc>
                <a:spcPts val="2200"/>
              </a:lnSpc>
              <a:buFont typeface="Arial" panose="020B0604020202020204" pitchFamily="34" charset="0"/>
              <a:buChar char="•"/>
            </a:pPr>
            <a:r>
              <a:rPr lang="en-US" sz="1600" dirty="0">
                <a:solidFill>
                  <a:schemeClr val="tx1"/>
                </a:solidFill>
              </a:rPr>
              <a:t>Systemic shocks (e.g. the 2008 crisis) expose vulnerabilities and underline the need for resilient risk frameworks.</a:t>
            </a:r>
          </a:p>
          <a:p>
            <a:pPr>
              <a:lnSpc>
                <a:spcPts val="2200"/>
              </a:lnSpc>
            </a:pPr>
            <a:endParaRPr lang="en-US" sz="1600" b="1" dirty="0">
              <a:solidFill>
                <a:schemeClr val="tx1"/>
              </a:solidFill>
            </a:endParaRPr>
          </a:p>
        </p:txBody>
      </p:sp>
      <p:pic>
        <p:nvPicPr>
          <p:cNvPr id="6" name="Picture 5">
            <a:extLst>
              <a:ext uri="{FF2B5EF4-FFF2-40B4-BE49-F238E27FC236}">
                <a16:creationId xmlns:a16="http://schemas.microsoft.com/office/drawing/2014/main" id="{0BAB2766-00EC-2C38-6289-9F0F9547835D}"/>
              </a:ext>
            </a:extLst>
          </p:cNvPr>
          <p:cNvPicPr>
            <a:picLocks noChangeAspect="1"/>
          </p:cNvPicPr>
          <p:nvPr/>
        </p:nvPicPr>
        <p:blipFill>
          <a:blip r:embed="rId2"/>
          <a:stretch>
            <a:fillRect/>
          </a:stretch>
        </p:blipFill>
        <p:spPr>
          <a:xfrm>
            <a:off x="3776830" y="685800"/>
            <a:ext cx="7928583" cy="53758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6686736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32511-73B3-3D09-603F-96D23FDA43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074C46-3A17-29C7-44AD-E9B43FDE1725}"/>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6</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1478164-D494-AB3D-9404-90E81DA88ECB}"/>
              </a:ext>
            </a:extLst>
          </p:cNvPr>
          <p:cNvSpPr>
            <a:spLocks noGrp="1"/>
          </p:cNvSpPr>
          <p:nvPr>
            <p:ph type="body" sz="quarter" idx="10"/>
          </p:nvPr>
        </p:nvSpPr>
        <p:spPr>
          <a:xfrm>
            <a:off x="192837" y="233811"/>
            <a:ext cx="11196725" cy="795599"/>
          </a:xfrm>
        </p:spPr>
        <p:txBody>
          <a:bodyPr/>
          <a:lstStyle/>
          <a:p>
            <a:r>
              <a:rPr lang="en-US" b="1" dirty="0"/>
              <a:t>Algorithm</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46D640F0-F8D1-C6E3-7195-5FB13DFB7C40}"/>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
        <p:nvSpPr>
          <p:cNvPr id="17" name="Text Placeholder 3">
            <a:extLst>
              <a:ext uri="{FF2B5EF4-FFF2-40B4-BE49-F238E27FC236}">
                <a16:creationId xmlns:a16="http://schemas.microsoft.com/office/drawing/2014/main" id="{E0586C41-CF3D-88F1-4DC8-FBD7F7F9429C}"/>
              </a:ext>
            </a:extLst>
          </p:cNvPr>
          <p:cNvSpPr>
            <a:spLocks noGrp="1"/>
          </p:cNvSpPr>
          <p:nvPr>
            <p:ph type="body" sz="quarter" idx="11"/>
          </p:nvPr>
        </p:nvSpPr>
        <p:spPr>
          <a:xfrm>
            <a:off x="192837" y="914401"/>
            <a:ext cx="3159964" cy="4419600"/>
          </a:xfrm>
        </p:spPr>
        <p:txBody>
          <a:bodyPr/>
          <a:lstStyle/>
          <a:p>
            <a:pPr>
              <a:lnSpc>
                <a:spcPts val="2200"/>
              </a:lnSpc>
            </a:pPr>
            <a:r>
              <a:rPr lang="en-US" sz="1600" b="1" dirty="0">
                <a:solidFill>
                  <a:schemeClr val="tx1"/>
                </a:solidFill>
              </a:rPr>
              <a:t>Banking &amp; Risk</a:t>
            </a:r>
            <a:endParaRPr lang="en-US" sz="1600" dirty="0">
              <a:solidFill>
                <a:schemeClr val="tx1"/>
              </a:solidFill>
            </a:endParaRPr>
          </a:p>
          <a:p>
            <a:pPr marL="285750" indent="-285750">
              <a:lnSpc>
                <a:spcPts val="2200"/>
              </a:lnSpc>
              <a:buFont typeface="Arial" panose="020B0604020202020204" pitchFamily="34" charset="0"/>
              <a:buChar char="•"/>
            </a:pPr>
            <a:r>
              <a:rPr lang="en-US" sz="1600" dirty="0">
                <a:solidFill>
                  <a:schemeClr val="tx1"/>
                </a:solidFill>
              </a:rPr>
              <a:t>Banking underpins economic stability and growth through financial intermediation.</a:t>
            </a:r>
          </a:p>
          <a:p>
            <a:pPr marL="285750" indent="-285750">
              <a:lnSpc>
                <a:spcPts val="2200"/>
              </a:lnSpc>
              <a:buFont typeface="Arial" panose="020B0604020202020204" pitchFamily="34" charset="0"/>
              <a:buChar char="•"/>
            </a:pPr>
            <a:r>
              <a:rPr lang="en-US" sz="1600" dirty="0">
                <a:solidFill>
                  <a:schemeClr val="tx1"/>
                </a:solidFill>
              </a:rPr>
              <a:t>Systemic shocks (e.g. the 2008 crisis) expose vulnerabilities and underline the need for resilient risk frameworks.</a:t>
            </a:r>
          </a:p>
          <a:p>
            <a:pPr>
              <a:lnSpc>
                <a:spcPts val="2200"/>
              </a:lnSpc>
            </a:pPr>
            <a:endParaRPr lang="en-US" sz="1600" b="1" dirty="0">
              <a:solidFill>
                <a:schemeClr val="tx1"/>
              </a:solidFill>
            </a:endParaRPr>
          </a:p>
        </p:txBody>
      </p:sp>
      <p:pic>
        <p:nvPicPr>
          <p:cNvPr id="6" name="Picture 5">
            <a:extLst>
              <a:ext uri="{FF2B5EF4-FFF2-40B4-BE49-F238E27FC236}">
                <a16:creationId xmlns:a16="http://schemas.microsoft.com/office/drawing/2014/main" id="{1F35ACCA-3091-133C-1A2F-163D1E50BC01}"/>
              </a:ext>
            </a:extLst>
          </p:cNvPr>
          <p:cNvPicPr>
            <a:picLocks noChangeAspect="1"/>
          </p:cNvPicPr>
          <p:nvPr/>
        </p:nvPicPr>
        <p:blipFill>
          <a:blip r:embed="rId2"/>
          <a:stretch>
            <a:fillRect/>
          </a:stretch>
        </p:blipFill>
        <p:spPr>
          <a:xfrm>
            <a:off x="3657600" y="714778"/>
            <a:ext cx="8016544" cy="522882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67775009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B46DB-EC81-B6E9-4995-BE97F965E81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823EF7-D629-973B-8F1D-0553499C5813}"/>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7</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9360CF4-D8F0-07CD-1D4B-74D5F3AEBA6B}"/>
              </a:ext>
            </a:extLst>
          </p:cNvPr>
          <p:cNvSpPr>
            <a:spLocks noGrp="1"/>
          </p:cNvSpPr>
          <p:nvPr>
            <p:ph type="body" sz="quarter" idx="10"/>
          </p:nvPr>
        </p:nvSpPr>
        <p:spPr>
          <a:xfrm>
            <a:off x="192837" y="233811"/>
            <a:ext cx="11196725" cy="795599"/>
          </a:xfrm>
        </p:spPr>
        <p:txBody>
          <a:bodyPr/>
          <a:lstStyle/>
          <a:p>
            <a:r>
              <a:rPr lang="en-US" b="1" dirty="0"/>
              <a:t>Algorithm</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DC8976BD-52E0-400B-406A-E36C6AC77740}"/>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
        <p:nvSpPr>
          <p:cNvPr id="17" name="Text Placeholder 3">
            <a:extLst>
              <a:ext uri="{FF2B5EF4-FFF2-40B4-BE49-F238E27FC236}">
                <a16:creationId xmlns:a16="http://schemas.microsoft.com/office/drawing/2014/main" id="{79C99EA8-45AA-32DE-435B-58AACA23230B}"/>
              </a:ext>
            </a:extLst>
          </p:cNvPr>
          <p:cNvSpPr>
            <a:spLocks noGrp="1"/>
          </p:cNvSpPr>
          <p:nvPr>
            <p:ph type="body" sz="quarter" idx="11"/>
          </p:nvPr>
        </p:nvSpPr>
        <p:spPr>
          <a:xfrm>
            <a:off x="192837" y="914401"/>
            <a:ext cx="3159964" cy="4419600"/>
          </a:xfrm>
        </p:spPr>
        <p:txBody>
          <a:bodyPr/>
          <a:lstStyle/>
          <a:p>
            <a:pPr>
              <a:lnSpc>
                <a:spcPts val="2200"/>
              </a:lnSpc>
            </a:pPr>
            <a:r>
              <a:rPr lang="en-US" sz="1600" b="1" dirty="0">
                <a:solidFill>
                  <a:schemeClr val="tx1"/>
                </a:solidFill>
              </a:rPr>
              <a:t>Banking &amp; Risk</a:t>
            </a:r>
            <a:endParaRPr lang="en-US" sz="1600" dirty="0">
              <a:solidFill>
                <a:schemeClr val="tx1"/>
              </a:solidFill>
            </a:endParaRPr>
          </a:p>
          <a:p>
            <a:pPr marL="285750" indent="-285750">
              <a:lnSpc>
                <a:spcPts val="2200"/>
              </a:lnSpc>
              <a:buFont typeface="Arial" panose="020B0604020202020204" pitchFamily="34" charset="0"/>
              <a:buChar char="•"/>
            </a:pPr>
            <a:r>
              <a:rPr lang="en-US" sz="1600" dirty="0">
                <a:solidFill>
                  <a:schemeClr val="tx1"/>
                </a:solidFill>
              </a:rPr>
              <a:t>Banking underpins economic stability and growth through financial intermediation.</a:t>
            </a:r>
          </a:p>
          <a:p>
            <a:pPr marL="285750" indent="-285750">
              <a:lnSpc>
                <a:spcPts val="2200"/>
              </a:lnSpc>
              <a:buFont typeface="Arial" panose="020B0604020202020204" pitchFamily="34" charset="0"/>
              <a:buChar char="•"/>
            </a:pPr>
            <a:r>
              <a:rPr lang="en-US" sz="1600" dirty="0">
                <a:solidFill>
                  <a:schemeClr val="tx1"/>
                </a:solidFill>
              </a:rPr>
              <a:t>Systemic shocks (e.g. the 2008 crisis) expose vulnerabilities and underline the need for resilient risk frameworks.</a:t>
            </a:r>
          </a:p>
          <a:p>
            <a:pPr>
              <a:lnSpc>
                <a:spcPts val="2200"/>
              </a:lnSpc>
            </a:pPr>
            <a:endParaRPr lang="en-US" sz="1600" b="1" dirty="0">
              <a:solidFill>
                <a:schemeClr val="tx1"/>
              </a:solidFill>
            </a:endParaRPr>
          </a:p>
        </p:txBody>
      </p:sp>
      <p:pic>
        <p:nvPicPr>
          <p:cNvPr id="6" name="Picture 5">
            <a:extLst>
              <a:ext uri="{FF2B5EF4-FFF2-40B4-BE49-F238E27FC236}">
                <a16:creationId xmlns:a16="http://schemas.microsoft.com/office/drawing/2014/main" id="{DBD35B92-F2B2-5361-7547-4D7210F61A0D}"/>
              </a:ext>
            </a:extLst>
          </p:cNvPr>
          <p:cNvPicPr>
            <a:picLocks noChangeAspect="1"/>
          </p:cNvPicPr>
          <p:nvPr/>
        </p:nvPicPr>
        <p:blipFill>
          <a:blip r:embed="rId2"/>
          <a:stretch>
            <a:fillRect/>
          </a:stretch>
        </p:blipFill>
        <p:spPr>
          <a:xfrm>
            <a:off x="3657600" y="714778"/>
            <a:ext cx="8016544" cy="522882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68067728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56490-E5C5-F9E7-A6EF-C7080CAB3A2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6A1E0F-03A7-F430-E8BD-010951788E6B}"/>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8</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7A8A20D-0E36-E63E-D8E8-83F25F74B2B0}"/>
              </a:ext>
            </a:extLst>
          </p:cNvPr>
          <p:cNvSpPr>
            <a:spLocks noGrp="1"/>
          </p:cNvSpPr>
          <p:nvPr>
            <p:ph type="body" sz="quarter" idx="10"/>
          </p:nvPr>
        </p:nvSpPr>
        <p:spPr>
          <a:xfrm>
            <a:off x="192837" y="233811"/>
            <a:ext cx="11196725" cy="795599"/>
          </a:xfrm>
        </p:spPr>
        <p:txBody>
          <a:bodyPr/>
          <a:lstStyle/>
          <a:p>
            <a:r>
              <a:rPr lang="en-US" b="1" dirty="0"/>
              <a:t>Algorithm</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B6FDF2D0-1544-2153-E7D8-F451A74B4563}"/>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
        <p:nvSpPr>
          <p:cNvPr id="17" name="Text Placeholder 3">
            <a:extLst>
              <a:ext uri="{FF2B5EF4-FFF2-40B4-BE49-F238E27FC236}">
                <a16:creationId xmlns:a16="http://schemas.microsoft.com/office/drawing/2014/main" id="{331D4834-F0E3-2F83-689F-01ACB40A2C9E}"/>
              </a:ext>
            </a:extLst>
          </p:cNvPr>
          <p:cNvSpPr>
            <a:spLocks noGrp="1"/>
          </p:cNvSpPr>
          <p:nvPr>
            <p:ph type="body" sz="quarter" idx="11"/>
          </p:nvPr>
        </p:nvSpPr>
        <p:spPr>
          <a:xfrm>
            <a:off x="609600" y="1310947"/>
            <a:ext cx="10286999" cy="1203653"/>
          </a:xfrm>
        </p:spPr>
        <p:txBody>
          <a:bodyPr/>
          <a:lstStyle/>
          <a:p>
            <a:pPr>
              <a:lnSpc>
                <a:spcPts val="2200"/>
              </a:lnSpc>
            </a:pPr>
            <a:r>
              <a:rPr lang="en-US" sz="1600" b="1" dirty="0">
                <a:solidFill>
                  <a:schemeClr val="tx1"/>
                </a:solidFill>
              </a:rPr>
              <a:t>Banking &amp; Risk</a:t>
            </a:r>
            <a:endParaRPr lang="en-US" sz="1600" dirty="0">
              <a:solidFill>
                <a:schemeClr val="tx1"/>
              </a:solidFill>
            </a:endParaRPr>
          </a:p>
          <a:p>
            <a:pPr marL="742950" lvl="1" indent="-285750">
              <a:lnSpc>
                <a:spcPts val="2200"/>
              </a:lnSpc>
              <a:buFont typeface="Arial" panose="020B0604020202020204" pitchFamily="34" charset="0"/>
              <a:buChar char="•"/>
            </a:pPr>
            <a:r>
              <a:rPr lang="en-US" sz="1600" dirty="0">
                <a:solidFill>
                  <a:schemeClr val="tx1"/>
                </a:solidFill>
              </a:rPr>
              <a:t>Banking underpins economic stability and growth through financial intermediation.</a:t>
            </a:r>
          </a:p>
          <a:p>
            <a:pPr marL="742950" lvl="1" indent="-285750">
              <a:lnSpc>
                <a:spcPts val="2200"/>
              </a:lnSpc>
              <a:buFont typeface="Arial" panose="020B0604020202020204" pitchFamily="34" charset="0"/>
              <a:buChar char="•"/>
            </a:pPr>
            <a:r>
              <a:rPr lang="en-US" sz="1600" dirty="0">
                <a:solidFill>
                  <a:schemeClr val="tx1"/>
                </a:solidFill>
              </a:rPr>
              <a:t>Systemic shocks (e.g. the 2008 crisis) expose vulnerabilities and underline the need for resilient risk frameworks.</a:t>
            </a:r>
          </a:p>
          <a:p>
            <a:pPr>
              <a:lnSpc>
                <a:spcPts val="2200"/>
              </a:lnSpc>
            </a:pPr>
            <a:endParaRPr lang="en-US" sz="1600" b="1" dirty="0">
              <a:solidFill>
                <a:schemeClr val="tx1"/>
              </a:solidFill>
            </a:endParaRPr>
          </a:p>
        </p:txBody>
      </p:sp>
    </p:spTree>
    <p:extLst>
      <p:ext uri="{BB962C8B-B14F-4D97-AF65-F5344CB8AC3E}">
        <p14:creationId xmlns:p14="http://schemas.microsoft.com/office/powerpoint/2010/main" val="193569482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28D25-E00C-0AD3-5643-1D2BB15D34C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4C2AB0-533A-93D9-F68B-317C5C41000F}"/>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9</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097DA69-756D-BD15-66C9-EB8DF39CCDA7}"/>
              </a:ext>
            </a:extLst>
          </p:cNvPr>
          <p:cNvSpPr>
            <a:spLocks noGrp="1"/>
          </p:cNvSpPr>
          <p:nvPr>
            <p:ph type="body" sz="quarter" idx="10"/>
          </p:nvPr>
        </p:nvSpPr>
        <p:spPr/>
        <p:txBody>
          <a:bodyPr/>
          <a:lstStyle/>
          <a:p>
            <a:r>
              <a:rPr lang="en-US" b="1" dirty="0"/>
              <a:t>Table 2: </a:t>
            </a:r>
            <a:r>
              <a:rPr lang="en-IN" sz="2800" dirty="0">
                <a:solidFill>
                  <a:schemeClr val="tx1"/>
                </a:solidFill>
                <a:latin typeface="Times New Roman" panose="02020603050405020304" pitchFamily="18" charset="0"/>
                <a:cs typeface="Times New Roman" panose="02020603050405020304" pitchFamily="18" charset="0"/>
              </a:rPr>
              <a:t>Generative AI for Basel 3.1</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16719431-9C53-C0FE-85AE-D21007FB0F7C}"/>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83BBC5F0-2895-1C0F-27DE-0FFD9C43CB57}"/>
              </a:ext>
            </a:extLst>
          </p:cNvPr>
          <p:cNvGraphicFramePr>
            <a:graphicFrameLocks noGrp="1"/>
          </p:cNvGraphicFramePr>
          <p:nvPr>
            <p:extLst>
              <p:ext uri="{D42A27DB-BD31-4B8C-83A1-F6EECF244321}">
                <p14:modId xmlns:p14="http://schemas.microsoft.com/office/powerpoint/2010/main" val="3499838203"/>
              </p:ext>
            </p:extLst>
          </p:nvPr>
        </p:nvGraphicFramePr>
        <p:xfrm>
          <a:off x="685800" y="1195713"/>
          <a:ext cx="10667999" cy="2814309"/>
        </p:xfrm>
        <a:graphic>
          <a:graphicData uri="http://schemas.openxmlformats.org/drawingml/2006/table">
            <a:tbl>
              <a:tblPr firstRow="1" firstCol="1" bandRow="1">
                <a:tableStyleId>{6E25E649-3F16-4E02-A733-19D2CDBF48F0}</a:tableStyleId>
              </a:tblPr>
              <a:tblGrid>
                <a:gridCol w="2130640">
                  <a:extLst>
                    <a:ext uri="{9D8B030D-6E8A-4147-A177-3AD203B41FA5}">
                      <a16:colId xmlns:a16="http://schemas.microsoft.com/office/drawing/2014/main" val="2350217568"/>
                    </a:ext>
                  </a:extLst>
                </a:gridCol>
                <a:gridCol w="1921546">
                  <a:extLst>
                    <a:ext uri="{9D8B030D-6E8A-4147-A177-3AD203B41FA5}">
                      <a16:colId xmlns:a16="http://schemas.microsoft.com/office/drawing/2014/main" val="1283052550"/>
                    </a:ext>
                  </a:extLst>
                </a:gridCol>
                <a:gridCol w="1157767">
                  <a:extLst>
                    <a:ext uri="{9D8B030D-6E8A-4147-A177-3AD203B41FA5}">
                      <a16:colId xmlns:a16="http://schemas.microsoft.com/office/drawing/2014/main" val="1334576517"/>
                    </a:ext>
                  </a:extLst>
                </a:gridCol>
                <a:gridCol w="2661580">
                  <a:extLst>
                    <a:ext uri="{9D8B030D-6E8A-4147-A177-3AD203B41FA5}">
                      <a16:colId xmlns:a16="http://schemas.microsoft.com/office/drawing/2014/main" val="1521083324"/>
                    </a:ext>
                  </a:extLst>
                </a:gridCol>
                <a:gridCol w="2796466">
                  <a:extLst>
                    <a:ext uri="{9D8B030D-6E8A-4147-A177-3AD203B41FA5}">
                      <a16:colId xmlns:a16="http://schemas.microsoft.com/office/drawing/2014/main" val="3287144827"/>
                    </a:ext>
                  </a:extLst>
                </a:gridCol>
              </a:tblGrid>
              <a:tr h="185514">
                <a:tc>
                  <a:txBody>
                    <a:bodyPr/>
                    <a:lstStyle/>
                    <a:p>
                      <a:pPr>
                        <a:buNone/>
                        <a:tabLst>
                          <a:tab pos="90170" algn="l"/>
                        </a:tabLst>
                      </a:pPr>
                      <a:r>
                        <a:rPr lang="en-IN" sz="1050" b="1" dirty="0">
                          <a:effectLst/>
                          <a:latin typeface="Times New Roman" panose="02020603050405020304" pitchFamily="18" charset="0"/>
                          <a:ea typeface="Times New Roman" panose="02020603050405020304" pitchFamily="18" charset="0"/>
                          <a:cs typeface="Times New Roman" panose="02020603050405020304" pitchFamily="18" charset="0"/>
                        </a:rPr>
                        <a:t>Author / Institution (Year)</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b="1">
                          <a:effectLst/>
                          <a:latin typeface="Times New Roman" panose="02020603050405020304" pitchFamily="18" charset="0"/>
                          <a:ea typeface="Times New Roman" panose="02020603050405020304" pitchFamily="18" charset="0"/>
                          <a:cs typeface="Times New Roman" panose="02020603050405020304" pitchFamily="18" charset="0"/>
                        </a:rPr>
                        <a:t>Contribution</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b="1">
                          <a:effectLst/>
                          <a:latin typeface="Times New Roman" panose="02020603050405020304" pitchFamily="18" charset="0"/>
                          <a:ea typeface="Times New Roman" panose="02020603050405020304" pitchFamily="18" charset="0"/>
                          <a:cs typeface="Times New Roman" panose="02020603050405020304" pitchFamily="18" charset="0"/>
                        </a:rPr>
                        <a:t>Model / Method</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b="1">
                          <a:effectLst/>
                          <a:latin typeface="Times New Roman" panose="02020603050405020304" pitchFamily="18" charset="0"/>
                          <a:ea typeface="Times New Roman" panose="02020603050405020304" pitchFamily="18" charset="0"/>
                          <a:cs typeface="Times New Roman" panose="02020603050405020304" pitchFamily="18" charset="0"/>
                        </a:rPr>
                        <a:t>Data / Input</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b="1">
                          <a:effectLst/>
                          <a:latin typeface="Times New Roman" panose="02020603050405020304" pitchFamily="18" charset="0"/>
                          <a:ea typeface="Times New Roman" panose="02020603050405020304" pitchFamily="18" charset="0"/>
                          <a:cs typeface="Times New Roman" panose="02020603050405020304" pitchFamily="18" charset="0"/>
                        </a:rPr>
                        <a:t>Outcome</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52276953"/>
                  </a:ext>
                </a:extLst>
              </a:tr>
              <a:tr h="288787">
                <a:tc>
                  <a:txBody>
                    <a:bodyPr/>
                    <a:lstStyle/>
                    <a:p>
                      <a:pPr>
                        <a:buNone/>
                        <a:tabLst>
                          <a:tab pos="90170" algn="l"/>
                        </a:tabLst>
                      </a:pPr>
                      <a:r>
                        <a:rPr lang="en-IN" sz="1050" dirty="0">
                          <a:effectLst/>
                          <a:latin typeface="Times New Roman" panose="02020603050405020304" pitchFamily="18" charset="0"/>
                          <a:ea typeface="Times New Roman" panose="02020603050405020304" pitchFamily="18" charset="0"/>
                          <a:cs typeface="Times New Roman" panose="02020603050405020304" pitchFamily="18" charset="0"/>
                        </a:rPr>
                        <a:t>Vaswani et al. (2017)</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Introduced Transformer architecture</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Transformer</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WMT’14 English–German, English–French translation</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Outperformed RNNs/CNNs; parallel training; foundation for modern LLMs</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6890619"/>
                  </a:ext>
                </a:extLst>
              </a:tr>
              <a:tr h="333563">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Devlin et al. (2018)</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dirty="0">
                          <a:effectLst/>
                          <a:latin typeface="Times New Roman" panose="02020603050405020304" pitchFamily="18" charset="0"/>
                          <a:ea typeface="Times New Roman" panose="02020603050405020304" pitchFamily="18" charset="0"/>
                          <a:cs typeface="Times New Roman" panose="02020603050405020304" pitchFamily="18" charset="0"/>
                        </a:rPr>
                        <a:t>Contextual embeddings, bidirectional</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BERT</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Wikipedia + BookCorpus</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Set new SOTA on GLUE, QA, NER</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44041363"/>
                  </a:ext>
                </a:extLst>
              </a:tr>
              <a:tr h="288787">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Radford et al. (2018)</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dirty="0">
                          <a:effectLst/>
                          <a:latin typeface="Times New Roman" panose="02020603050405020304" pitchFamily="18" charset="0"/>
                          <a:ea typeface="Times New Roman" panose="02020603050405020304" pitchFamily="18" charset="0"/>
                          <a:cs typeface="Times New Roman" panose="02020603050405020304" pitchFamily="18" charset="0"/>
                        </a:rPr>
                        <a:t>Generative pretraining for NLP</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GPT</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Web text corpus</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Demonstrated transfer learning in NLP</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70989676"/>
                  </a:ext>
                </a:extLst>
              </a:tr>
              <a:tr h="288787">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Brown et al. (2020)</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dirty="0">
                          <a:effectLst/>
                          <a:latin typeface="Times New Roman" panose="02020603050405020304" pitchFamily="18" charset="0"/>
                          <a:ea typeface="Times New Roman" panose="02020603050405020304" pitchFamily="18" charset="0"/>
                          <a:cs typeface="Times New Roman" panose="02020603050405020304" pitchFamily="18" charset="0"/>
                        </a:rPr>
                        <a:t>Few-shot learning with large models</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GPT-3</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570GB curated web + books</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Strong zero/few-shot reasoning; breakthrough in scaling</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78065977"/>
                  </a:ext>
                </a:extLst>
              </a:tr>
              <a:tr h="250172">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Raffel et al. (2020)</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dirty="0">
                          <a:effectLst/>
                          <a:latin typeface="Times New Roman" panose="02020603050405020304" pitchFamily="18" charset="0"/>
                          <a:ea typeface="Times New Roman" panose="02020603050405020304" pitchFamily="18" charset="0"/>
                          <a:cs typeface="Times New Roman" panose="02020603050405020304" pitchFamily="18" charset="0"/>
                        </a:rPr>
                        <a:t>Unified NLP as text-to-text</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T5</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C4 dataset</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Simplified task framing; strong multi-task performance</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4784318"/>
                  </a:ext>
                </a:extLst>
              </a:tr>
              <a:tr h="416953">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OpenAI (2022)</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Alignment with human intent</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dirty="0" err="1">
                          <a:effectLst/>
                          <a:latin typeface="Times New Roman" panose="02020603050405020304" pitchFamily="18" charset="0"/>
                          <a:ea typeface="Times New Roman" panose="02020603050405020304" pitchFamily="18" charset="0"/>
                          <a:cs typeface="Times New Roman" panose="02020603050405020304" pitchFamily="18" charset="0"/>
                        </a:rPr>
                        <a:t>InstructGPT</a:t>
                      </a:r>
                      <a:r>
                        <a:rPr lang="en-IN" sz="1050" dirty="0">
                          <a:effectLst/>
                          <a:latin typeface="Times New Roman" panose="02020603050405020304" pitchFamily="18" charset="0"/>
                          <a:ea typeface="Times New Roman" panose="02020603050405020304" pitchFamily="18" charset="0"/>
                          <a:cs typeface="Times New Roman" panose="02020603050405020304" pitchFamily="18" charset="0"/>
                        </a:rPr>
                        <a:t> / ChatGPT (GPT-3.5)</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RLHF on web + human feedback</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Improved usability, safe deployment at scale</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89867846"/>
                  </a:ext>
                </a:extLst>
              </a:tr>
              <a:tr h="277478">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Touvron et al. (2023)</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Efficient open-source LLMs</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dirty="0" err="1">
                          <a:effectLst/>
                          <a:latin typeface="Times New Roman" panose="02020603050405020304" pitchFamily="18" charset="0"/>
                          <a:ea typeface="Times New Roman" panose="02020603050405020304" pitchFamily="18" charset="0"/>
                          <a:cs typeface="Times New Roman" panose="02020603050405020304" pitchFamily="18" charset="0"/>
                        </a:rPr>
                        <a:t>LLaMA</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Curated multilingual datasets</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Enabled broader research, efficient fine-tuning</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13230050"/>
                  </a:ext>
                </a:extLst>
              </a:tr>
              <a:tr h="288787">
                <a:tc>
                  <a:txBody>
                    <a:bodyPr/>
                    <a:lstStyle/>
                    <a:p>
                      <a:pPr>
                        <a:buNone/>
                        <a:tabLst>
                          <a:tab pos="90170" algn="l"/>
                        </a:tabLst>
                      </a:pPr>
                      <a:r>
                        <a:rPr lang="en-IN" sz="1050" dirty="0">
                          <a:effectLst/>
                          <a:latin typeface="Times New Roman" panose="02020603050405020304" pitchFamily="18" charset="0"/>
                          <a:ea typeface="Times New Roman" panose="02020603050405020304" pitchFamily="18" charset="0"/>
                          <a:cs typeface="Times New Roman" panose="02020603050405020304" pitchFamily="18" charset="0"/>
                        </a:rPr>
                        <a:t>OpenAI (2023)</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Multimodal, aligned reasoning</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a:effectLst/>
                          <a:latin typeface="Times New Roman" panose="02020603050405020304" pitchFamily="18" charset="0"/>
                          <a:ea typeface="Times New Roman" panose="02020603050405020304" pitchFamily="18" charset="0"/>
                          <a:cs typeface="Times New Roman" panose="02020603050405020304" pitchFamily="18" charset="0"/>
                        </a:rPr>
                        <a:t>GPT-4</a:t>
                      </a:r>
                      <a:endParaRPr lang="en-IN"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dirty="0">
                          <a:effectLst/>
                          <a:latin typeface="Times New Roman" panose="02020603050405020304" pitchFamily="18" charset="0"/>
                          <a:ea typeface="Times New Roman" panose="02020603050405020304" pitchFamily="18" charset="0"/>
                          <a:cs typeface="Times New Roman" panose="02020603050405020304" pitchFamily="18" charset="0"/>
                        </a:rPr>
                        <a:t>Proprietary</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buNone/>
                        <a:tabLst>
                          <a:tab pos="90170" algn="l"/>
                        </a:tabLst>
                      </a:pPr>
                      <a:r>
                        <a:rPr lang="en-IN" sz="1050" dirty="0">
                          <a:effectLst/>
                          <a:latin typeface="Times New Roman" panose="02020603050405020304" pitchFamily="18" charset="0"/>
                          <a:ea typeface="Times New Roman" panose="02020603050405020304" pitchFamily="18" charset="0"/>
                          <a:cs typeface="Times New Roman" panose="02020603050405020304" pitchFamily="18" charset="0"/>
                        </a:rPr>
                        <a:t>Stronger reasoning, multimodal capability</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60284308"/>
                  </a:ext>
                </a:extLst>
              </a:tr>
            </a:tbl>
          </a:graphicData>
        </a:graphic>
      </p:graphicFrame>
    </p:spTree>
    <p:extLst>
      <p:ext uri="{BB962C8B-B14F-4D97-AF65-F5344CB8AC3E}">
        <p14:creationId xmlns:p14="http://schemas.microsoft.com/office/powerpoint/2010/main" val="175163335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CF72C-435D-C816-B3FE-24DBCB261FF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26C32A-169B-92D6-2880-04937F4C391A}"/>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10</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D28CBA8-07E4-88F9-3309-9BA542DC5E6C}"/>
              </a:ext>
            </a:extLst>
          </p:cNvPr>
          <p:cNvSpPr>
            <a:spLocks noGrp="1"/>
          </p:cNvSpPr>
          <p:nvPr>
            <p:ph type="body" sz="quarter" idx="10"/>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Objectives</a:t>
            </a:r>
          </a:p>
        </p:txBody>
      </p:sp>
      <p:sp>
        <p:nvSpPr>
          <p:cNvPr id="4" name="Text Placeholder 3">
            <a:extLst>
              <a:ext uri="{FF2B5EF4-FFF2-40B4-BE49-F238E27FC236}">
                <a16:creationId xmlns:a16="http://schemas.microsoft.com/office/drawing/2014/main" id="{1C90059F-66DA-7FC0-B439-B00234030421}"/>
              </a:ext>
            </a:extLst>
          </p:cNvPr>
          <p:cNvSpPr>
            <a:spLocks noGrp="1"/>
          </p:cNvSpPr>
          <p:nvPr>
            <p:ph type="body" sz="quarter" idx="11"/>
          </p:nvPr>
        </p:nvSpPr>
        <p:spPr>
          <a:xfrm>
            <a:off x="609601" y="1310947"/>
            <a:ext cx="9753600" cy="3794453"/>
          </a:xfrm>
        </p:spPr>
        <p:txBody>
          <a:bodyPr/>
          <a:lstStyle/>
          <a:p>
            <a:pPr marL="342900" indent="-342900">
              <a:lnSpc>
                <a:spcPct val="150000"/>
              </a:lnSpc>
              <a:buFont typeface="+mj-lt"/>
              <a:buAutoNum type="arabicPeriod"/>
            </a:pPr>
            <a:r>
              <a:rPr lang="en-US" sz="1600" dirty="0">
                <a:solidFill>
                  <a:schemeClr val="tx1"/>
                </a:solidFill>
                <a:latin typeface="Times New Roman" panose="02020603050405020304" pitchFamily="18" charset="0"/>
                <a:cs typeface="Times New Roman" panose="02020603050405020304" pitchFamily="18" charset="0"/>
              </a:rPr>
              <a:t>To </a:t>
            </a:r>
            <a:r>
              <a:rPr lang="en-US" sz="1600" b="1" dirty="0">
                <a:solidFill>
                  <a:schemeClr val="tx1"/>
                </a:solidFill>
                <a:latin typeface="Times New Roman" panose="02020603050405020304" pitchFamily="18" charset="0"/>
                <a:cs typeface="Times New Roman" panose="02020603050405020304" pitchFamily="18" charset="0"/>
              </a:rPr>
              <a:t>investigate methods for integrating </a:t>
            </a:r>
            <a:r>
              <a:rPr lang="en-US" sz="1600" dirty="0">
                <a:solidFill>
                  <a:schemeClr val="tx1"/>
                </a:solidFill>
                <a:latin typeface="Times New Roman" panose="02020603050405020304" pitchFamily="18" charset="0"/>
                <a:cs typeface="Times New Roman" panose="02020603050405020304" pitchFamily="18" charset="0"/>
              </a:rPr>
              <a:t>borrower-level credit risk assessments with Basel 3.1 regulatory capital computations to enable real-time evaluation of capital impact at the point of credit origination.</a:t>
            </a:r>
          </a:p>
          <a:p>
            <a:pPr marL="342900" indent="-342900">
              <a:lnSpc>
                <a:spcPct val="150000"/>
              </a:lnSpc>
              <a:buFont typeface="+mj-lt"/>
              <a:buAutoNum type="arabicPeriod"/>
            </a:pPr>
            <a:r>
              <a:rPr lang="en-US" sz="1600" dirty="0">
                <a:solidFill>
                  <a:schemeClr val="tx1"/>
                </a:solidFill>
                <a:latin typeface="Times New Roman" panose="02020603050405020304" pitchFamily="18" charset="0"/>
                <a:cs typeface="Times New Roman" panose="02020603050405020304" pitchFamily="18" charset="0"/>
              </a:rPr>
              <a:t>To </a:t>
            </a:r>
            <a:r>
              <a:rPr lang="en-US" sz="1600" dirty="0" err="1">
                <a:solidFill>
                  <a:schemeClr val="tx1"/>
                </a:solidFill>
                <a:latin typeface="Times New Roman" panose="02020603050405020304" pitchFamily="18" charset="0"/>
                <a:cs typeface="Times New Roman" panose="02020603050405020304" pitchFamily="18" charset="0"/>
              </a:rPr>
              <a:t>analyse</a:t>
            </a:r>
            <a:r>
              <a:rPr lang="en-US" sz="1600" dirty="0">
                <a:solidFill>
                  <a:schemeClr val="tx1"/>
                </a:solidFill>
                <a:latin typeface="Times New Roman" panose="02020603050405020304" pitchFamily="18" charset="0"/>
                <a:cs typeface="Times New Roman" panose="02020603050405020304" pitchFamily="18" charset="0"/>
              </a:rPr>
              <a:t> how the application of predictive and generative AI in credit risk management </a:t>
            </a:r>
            <a:r>
              <a:rPr lang="en-US" sz="1600" b="1" dirty="0">
                <a:solidFill>
                  <a:schemeClr val="tx1"/>
                </a:solidFill>
                <a:latin typeface="Times New Roman" panose="02020603050405020304" pitchFamily="18" charset="0"/>
                <a:cs typeface="Times New Roman" panose="02020603050405020304" pitchFamily="18" charset="0"/>
              </a:rPr>
              <a:t>influences decision quality, risk sensitivity, and compliance with Basel 3.1 </a:t>
            </a:r>
            <a:r>
              <a:rPr lang="en-US" sz="1600" dirty="0">
                <a:solidFill>
                  <a:schemeClr val="tx1"/>
                </a:solidFill>
                <a:latin typeface="Times New Roman" panose="02020603050405020304" pitchFamily="18" charset="0"/>
                <a:cs typeface="Times New Roman" panose="02020603050405020304" pitchFamily="18" charset="0"/>
              </a:rPr>
              <a:t>regulatory requirements.</a:t>
            </a:r>
          </a:p>
          <a:p>
            <a:pPr marL="342900" indent="-342900">
              <a:lnSpc>
                <a:spcPct val="150000"/>
              </a:lnSpc>
              <a:buFont typeface="+mj-lt"/>
              <a:buAutoNum type="arabicPeriod"/>
            </a:pPr>
            <a:r>
              <a:rPr lang="en-US" sz="1600" dirty="0">
                <a:solidFill>
                  <a:schemeClr val="tx1"/>
                </a:solidFill>
                <a:latin typeface="Times New Roman" panose="02020603050405020304" pitchFamily="18" charset="0"/>
                <a:cs typeface="Times New Roman" panose="02020603050405020304" pitchFamily="18" charset="0"/>
              </a:rPr>
              <a:t>To </a:t>
            </a:r>
            <a:r>
              <a:rPr lang="en-US" sz="1600" b="1" dirty="0">
                <a:solidFill>
                  <a:schemeClr val="tx1"/>
                </a:solidFill>
                <a:latin typeface="Times New Roman" panose="02020603050405020304" pitchFamily="18" charset="0"/>
                <a:cs typeface="Times New Roman" panose="02020603050405020304" pitchFamily="18" charset="0"/>
              </a:rPr>
              <a:t>evaluate methods for embedding explainability and fairness </a:t>
            </a:r>
            <a:r>
              <a:rPr lang="en-US" sz="1600" dirty="0">
                <a:solidFill>
                  <a:schemeClr val="tx1"/>
                </a:solidFill>
                <a:latin typeface="Times New Roman" panose="02020603050405020304" pitchFamily="18" charset="0"/>
                <a:cs typeface="Times New Roman" panose="02020603050405020304" pitchFamily="18" charset="0"/>
              </a:rPr>
              <a:t>into AI-based credit risk models, with particular emphasis on ensuring transparency and auditability in line with supervisory expectations.</a:t>
            </a:r>
          </a:p>
          <a:p>
            <a:pPr marL="342900" indent="-342900">
              <a:lnSpc>
                <a:spcPct val="150000"/>
              </a:lnSpc>
              <a:buFont typeface="+mj-lt"/>
              <a:buAutoNum type="arabicPeriod"/>
            </a:pPr>
            <a:r>
              <a:rPr lang="en-US" sz="1600" dirty="0">
                <a:solidFill>
                  <a:schemeClr val="tx1"/>
                </a:solidFill>
                <a:latin typeface="Times New Roman" panose="02020603050405020304" pitchFamily="18" charset="0"/>
                <a:cs typeface="Times New Roman" panose="02020603050405020304" pitchFamily="18" charset="0"/>
              </a:rPr>
              <a:t>To critically </a:t>
            </a:r>
            <a:r>
              <a:rPr lang="en-US" sz="1600" b="1" dirty="0">
                <a:solidFill>
                  <a:schemeClr val="tx1"/>
                </a:solidFill>
                <a:latin typeface="Times New Roman" panose="02020603050405020304" pitchFamily="18" charset="0"/>
                <a:cs typeface="Times New Roman" panose="02020603050405020304" pitchFamily="18" charset="0"/>
              </a:rPr>
              <a:t>assess model interpretation techniques</a:t>
            </a:r>
            <a:r>
              <a:rPr lang="en-US" sz="1600" dirty="0">
                <a:solidFill>
                  <a:schemeClr val="tx1"/>
                </a:solidFill>
                <a:latin typeface="Times New Roman" panose="02020603050405020304" pitchFamily="18" charset="0"/>
                <a:cs typeface="Times New Roman" panose="02020603050405020304" pitchFamily="18" charset="0"/>
              </a:rPr>
              <a:t>—such as feature attribution, fairness metrics, and counterfactual reasoning—to determine their effectiveness in clarifying model behaviour without undermining predictive performance.</a:t>
            </a:r>
          </a:p>
          <a:p>
            <a:pPr marL="342900" indent="-342900">
              <a:lnSpc>
                <a:spcPct val="150000"/>
              </a:lnSpc>
              <a:buFont typeface="+mj-lt"/>
              <a:buAutoNum type="arabicPeriod"/>
            </a:pP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432E4A19-C850-90BC-1755-F28B03BEBD84}"/>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58422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E5CFB-7A65-A6DB-70A5-0821B0ACAD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4BE1BA-4609-2C32-BEA9-AD42420B644F}"/>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11</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BD1F24B-6759-88A6-0C6B-282BEE3124C5}"/>
              </a:ext>
            </a:extLst>
          </p:cNvPr>
          <p:cNvSpPr>
            <a:spLocks noGrp="1"/>
          </p:cNvSpPr>
          <p:nvPr>
            <p:ph type="body" sz="quarter" idx="10"/>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Objectives</a:t>
            </a:r>
          </a:p>
        </p:txBody>
      </p:sp>
      <p:sp>
        <p:nvSpPr>
          <p:cNvPr id="4" name="Text Placeholder 3">
            <a:extLst>
              <a:ext uri="{FF2B5EF4-FFF2-40B4-BE49-F238E27FC236}">
                <a16:creationId xmlns:a16="http://schemas.microsoft.com/office/drawing/2014/main" id="{F1956317-96B7-CD03-08A1-8D6EE0F2381D}"/>
              </a:ext>
            </a:extLst>
          </p:cNvPr>
          <p:cNvSpPr>
            <a:spLocks noGrp="1"/>
          </p:cNvSpPr>
          <p:nvPr>
            <p:ph type="body" sz="quarter" idx="11"/>
          </p:nvPr>
        </p:nvSpPr>
        <p:spPr>
          <a:xfrm>
            <a:off x="609601" y="1310947"/>
            <a:ext cx="9753600" cy="2499053"/>
          </a:xfrm>
        </p:spPr>
        <p:txBody>
          <a:bodyPr/>
          <a:lstStyle/>
          <a:p>
            <a:pPr marL="342900" indent="-342900">
              <a:lnSpc>
                <a:spcPct val="150000"/>
              </a:lnSpc>
              <a:buFont typeface="+mj-lt"/>
              <a:buAutoNum type="arabicPeriod" startAt="5"/>
            </a:pPr>
            <a:r>
              <a:rPr lang="en-US" sz="1600" dirty="0">
                <a:solidFill>
                  <a:schemeClr val="tx1"/>
                </a:solidFill>
                <a:latin typeface="Times New Roman" panose="02020603050405020304" pitchFamily="18" charset="0"/>
                <a:cs typeface="Times New Roman" panose="02020603050405020304" pitchFamily="18" charset="0"/>
              </a:rPr>
              <a:t>To </a:t>
            </a:r>
            <a:r>
              <a:rPr lang="en-US" sz="1600" b="1" dirty="0">
                <a:solidFill>
                  <a:schemeClr val="tx1"/>
                </a:solidFill>
                <a:latin typeface="Times New Roman" panose="02020603050405020304" pitchFamily="18" charset="0"/>
                <a:cs typeface="Times New Roman" panose="02020603050405020304" pitchFamily="18" charset="0"/>
              </a:rPr>
              <a:t>investigate the potential of generative AI for operationalising Basel 3.1 clauses</a:t>
            </a:r>
            <a:r>
              <a:rPr lang="en-US" sz="1600" dirty="0">
                <a:solidFill>
                  <a:schemeClr val="tx1"/>
                </a:solidFill>
                <a:latin typeface="Times New Roman" panose="02020603050405020304" pitchFamily="18" charset="0"/>
                <a:cs typeface="Times New Roman" panose="02020603050405020304" pitchFamily="18" charset="0"/>
              </a:rPr>
              <a:t> by converting complex regulatory provisions into structured, machine-readable logic suitable for integration with predictive model outputs.</a:t>
            </a:r>
          </a:p>
          <a:p>
            <a:pPr marL="342900" indent="-342900">
              <a:lnSpc>
                <a:spcPct val="150000"/>
              </a:lnSpc>
              <a:buFont typeface="+mj-lt"/>
              <a:buAutoNum type="arabicPeriod" startAt="5"/>
            </a:pPr>
            <a:r>
              <a:rPr lang="en-US" sz="1600" dirty="0">
                <a:solidFill>
                  <a:schemeClr val="tx1"/>
                </a:solidFill>
                <a:latin typeface="Times New Roman" panose="02020603050405020304" pitchFamily="18" charset="0"/>
                <a:cs typeface="Times New Roman" panose="02020603050405020304" pitchFamily="18" charset="0"/>
              </a:rPr>
              <a:t>To contribute to the research literature on regulatory alignment by examining both the </a:t>
            </a:r>
            <a:r>
              <a:rPr lang="en-US" sz="1600" b="1" dirty="0">
                <a:solidFill>
                  <a:schemeClr val="tx1"/>
                </a:solidFill>
                <a:latin typeface="Times New Roman" panose="02020603050405020304" pitchFamily="18" charset="0"/>
                <a:cs typeface="Times New Roman" panose="02020603050405020304" pitchFamily="18" charset="0"/>
              </a:rPr>
              <a:t>methodological feasibility and the supervisory implications of combining predictive and generative AI </a:t>
            </a:r>
            <a:r>
              <a:rPr lang="en-US" sz="1600" dirty="0">
                <a:solidFill>
                  <a:schemeClr val="tx1"/>
                </a:solidFill>
                <a:latin typeface="Times New Roman" panose="02020603050405020304" pitchFamily="18" charset="0"/>
                <a:cs typeface="Times New Roman" panose="02020603050405020304" pitchFamily="18" charset="0"/>
              </a:rPr>
              <a:t>for credit risk assessment under Basel 3.1.</a:t>
            </a:r>
          </a:p>
          <a:p>
            <a:pPr marL="342900" indent="-342900">
              <a:lnSpc>
                <a:spcPct val="150000"/>
              </a:lnSpc>
              <a:buFont typeface="+mj-lt"/>
              <a:buAutoNum type="arabicPeriod" startAt="5"/>
            </a:pP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DD46383A-1FA2-D6E8-DEF8-9E4EF11BDA3E}"/>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
        <p:nvSpPr>
          <p:cNvPr id="6" name="Text Placeholder 3">
            <a:extLst>
              <a:ext uri="{FF2B5EF4-FFF2-40B4-BE49-F238E27FC236}">
                <a16:creationId xmlns:a16="http://schemas.microsoft.com/office/drawing/2014/main" id="{D2458909-3547-C81C-7D9E-F06A8770439F}"/>
              </a:ext>
            </a:extLst>
          </p:cNvPr>
          <p:cNvSpPr txBox="1">
            <a:spLocks/>
          </p:cNvSpPr>
          <p:nvPr/>
        </p:nvSpPr>
        <p:spPr>
          <a:xfrm>
            <a:off x="587189" y="3896498"/>
            <a:ext cx="9753600" cy="2004661"/>
          </a:xfrm>
          <a:prstGeom prst="rect">
            <a:avLst/>
          </a:prstGeom>
        </p:spPr>
        <p:txBody>
          <a:bodyPr/>
          <a:lstStyle>
            <a:lvl1pPr marL="0" indent="0" algn="l" defTabSz="914400" rtl="0" eaLnBrk="1" latinLnBrk="0" hangingPunct="1">
              <a:spcBef>
                <a:spcPct val="20000"/>
              </a:spcBef>
              <a:buFont typeface="Arial" pitchFamily="34" charset="0"/>
              <a:buNone/>
              <a:defRPr lang="en-US" sz="1100" kern="1200" dirty="0" smtClean="0">
                <a:solidFill>
                  <a:srgbClr val="455F7C"/>
                </a:solidFill>
                <a:latin typeface="Open Sans"/>
                <a:ea typeface="+mn-ea"/>
                <a:cs typeface="+mn-cs"/>
              </a:defRPr>
            </a:lvl1pPr>
            <a:lvl2pPr marL="457200" indent="0" algn="l" defTabSz="914400" rtl="0" eaLnBrk="1" latinLnBrk="0" hangingPunct="1">
              <a:spcBef>
                <a:spcPct val="20000"/>
              </a:spcBef>
              <a:buFont typeface="Arial" pitchFamily="34" charset="0"/>
              <a:buNone/>
              <a:defRPr lang="en-US" sz="1100" kern="1200" dirty="0" smtClean="0">
                <a:solidFill>
                  <a:srgbClr val="455F7C"/>
                </a:solidFill>
                <a:latin typeface="Open Sans"/>
                <a:ea typeface="+mn-ea"/>
                <a:cs typeface="+mn-cs"/>
              </a:defRPr>
            </a:lvl2pPr>
            <a:lvl3pPr marL="914400" indent="0" algn="l" defTabSz="914400" rtl="0" eaLnBrk="1" latinLnBrk="0" hangingPunct="1">
              <a:spcBef>
                <a:spcPct val="20000"/>
              </a:spcBef>
              <a:buFont typeface="Arial" pitchFamily="34" charset="0"/>
              <a:buNone/>
              <a:defRPr lang="en-US" sz="1100" kern="1200" dirty="0" smtClean="0">
                <a:solidFill>
                  <a:srgbClr val="455F7C"/>
                </a:solidFill>
                <a:latin typeface="Open Sans"/>
                <a:ea typeface="+mn-ea"/>
                <a:cs typeface="+mn-cs"/>
              </a:defRPr>
            </a:lvl3pPr>
            <a:lvl4pPr marL="1371600" indent="0" algn="l" defTabSz="914400" rtl="0" eaLnBrk="1" latinLnBrk="0" hangingPunct="1">
              <a:spcBef>
                <a:spcPct val="20000"/>
              </a:spcBef>
              <a:buFont typeface="Arial" pitchFamily="34" charset="0"/>
              <a:buNone/>
              <a:defRPr lang="en-US" sz="1100" kern="1200" dirty="0" smtClean="0">
                <a:solidFill>
                  <a:srgbClr val="455F7C"/>
                </a:solidFill>
                <a:latin typeface="Open Sans"/>
                <a:ea typeface="+mn-ea"/>
                <a:cs typeface="+mn-cs"/>
              </a:defRPr>
            </a:lvl4pPr>
            <a:lvl5pPr marL="1828800" indent="0" algn="l" defTabSz="914400" rtl="0" eaLnBrk="1" latinLnBrk="0" hangingPunct="1">
              <a:spcBef>
                <a:spcPct val="20000"/>
              </a:spcBef>
              <a:buFont typeface="Arial" pitchFamily="34" charset="0"/>
              <a:buNone/>
              <a:defRPr lang="en-IN" sz="1100" kern="1200" dirty="0">
                <a:solidFill>
                  <a:srgbClr val="455F7C"/>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US" sz="1600" b="1" dirty="0">
                <a:solidFill>
                  <a:schemeClr val="tx1"/>
                </a:solidFill>
                <a:latin typeface="Times New Roman" panose="02020603050405020304" pitchFamily="18" charset="0"/>
                <a:cs typeface="Times New Roman" panose="02020603050405020304" pitchFamily="18" charset="0"/>
              </a:rPr>
              <a:t>Central Research Hypothesis: </a:t>
            </a:r>
          </a:p>
          <a:p>
            <a:pPr algn="ctr">
              <a:lnSpc>
                <a:spcPct val="150000"/>
              </a:lnSpc>
            </a:pPr>
            <a:r>
              <a:rPr lang="en-US" sz="1600" i="1" dirty="0">
                <a:solidFill>
                  <a:schemeClr val="tx1"/>
                </a:solidFill>
                <a:latin typeface="Times New Roman" panose="02020603050405020304" pitchFamily="18" charset="0"/>
                <a:cs typeface="Times New Roman" panose="02020603050405020304" pitchFamily="18" charset="0"/>
              </a:rPr>
              <a:t>An integrated, explainable AI framework that combines predictive modelling with Generative AI–based regulatory logic translation can improve the timeliness, transparency, and Basel 3.1 compliance alignment of credit risk assessment more effectively than existing batch-based or siloed approaches.</a:t>
            </a:r>
          </a:p>
        </p:txBody>
      </p:sp>
    </p:spTree>
    <p:extLst>
      <p:ext uri="{BB962C8B-B14F-4D97-AF65-F5344CB8AC3E}">
        <p14:creationId xmlns:p14="http://schemas.microsoft.com/office/powerpoint/2010/main" val="353307692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D9EF1-39C8-623C-0491-E11BBFDF89B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03EC51-D1F6-7B67-13D1-9763EA7A4C1A}"/>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12</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C009FA4-F629-F7D1-C6EE-2B1AE94F1C66}"/>
              </a:ext>
            </a:extLst>
          </p:cNvPr>
          <p:cNvSpPr>
            <a:spLocks noGrp="1"/>
          </p:cNvSpPr>
          <p:nvPr>
            <p:ph type="body" sz="quarter" idx="10"/>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Research Questions</a:t>
            </a:r>
          </a:p>
        </p:txBody>
      </p:sp>
      <p:sp>
        <p:nvSpPr>
          <p:cNvPr id="4" name="Text Placeholder 3">
            <a:extLst>
              <a:ext uri="{FF2B5EF4-FFF2-40B4-BE49-F238E27FC236}">
                <a16:creationId xmlns:a16="http://schemas.microsoft.com/office/drawing/2014/main" id="{921F02EA-DAAB-C75A-0093-172BC0C52120}"/>
              </a:ext>
            </a:extLst>
          </p:cNvPr>
          <p:cNvSpPr>
            <a:spLocks noGrp="1"/>
          </p:cNvSpPr>
          <p:nvPr>
            <p:ph type="body" sz="quarter" idx="11"/>
          </p:nvPr>
        </p:nvSpPr>
        <p:spPr>
          <a:xfrm>
            <a:off x="609601" y="1310947"/>
            <a:ext cx="9753600" cy="4327853"/>
          </a:xfrm>
        </p:spPr>
        <p:txBody>
          <a:bodyPr/>
          <a:lstStyle/>
          <a:p>
            <a:pPr marL="342900" indent="-342900">
              <a:lnSpc>
                <a:spcPct val="150000"/>
              </a:lnSpc>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To what extent can borrower-level credit risk assessments be integrated </a:t>
            </a:r>
            <a:r>
              <a:rPr lang="en-US" sz="1600" dirty="0">
                <a:solidFill>
                  <a:schemeClr val="tx1"/>
                </a:solidFill>
                <a:latin typeface="Times New Roman" panose="02020603050405020304" pitchFamily="18" charset="0"/>
                <a:cs typeface="Times New Roman" panose="02020603050405020304" pitchFamily="18" charset="0"/>
              </a:rPr>
              <a:t>with Basel 3.1 RWA computations, as demonstrated through simulated frameworks that are auditable and reproducible against supervisory standards?</a:t>
            </a:r>
          </a:p>
          <a:p>
            <a:pPr marL="342900" indent="-342900">
              <a:lnSpc>
                <a:spcPct val="150000"/>
              </a:lnSpc>
              <a:buFont typeface="+mj-lt"/>
              <a:buAutoNum type="arabicPeriod"/>
            </a:pPr>
            <a:r>
              <a:rPr lang="en-US" sz="1600" dirty="0">
                <a:solidFill>
                  <a:schemeClr val="tx1"/>
                </a:solidFill>
                <a:latin typeface="Times New Roman" panose="02020603050405020304" pitchFamily="18" charset="0"/>
                <a:cs typeface="Times New Roman" panose="02020603050405020304" pitchFamily="18" charset="0"/>
              </a:rPr>
              <a:t>How does the </a:t>
            </a:r>
            <a:r>
              <a:rPr lang="en-US" sz="1600" b="1" dirty="0">
                <a:solidFill>
                  <a:schemeClr val="tx1"/>
                </a:solidFill>
                <a:latin typeface="Times New Roman" panose="02020603050405020304" pitchFamily="18" charset="0"/>
                <a:cs typeface="Times New Roman" panose="02020603050405020304" pitchFamily="18" charset="0"/>
              </a:rPr>
              <a:t>application of predictive and generative AI in credit risk assessment affect decision quality, risk sensitivity, and regulatory compliance, as measured by changes in timeliness, capital impact accuracy, and alignment </a:t>
            </a:r>
            <a:r>
              <a:rPr lang="en-US" sz="1600" dirty="0">
                <a:solidFill>
                  <a:schemeClr val="tx1"/>
                </a:solidFill>
                <a:latin typeface="Times New Roman" panose="02020603050405020304" pitchFamily="18" charset="0"/>
                <a:cs typeface="Times New Roman" panose="02020603050405020304" pitchFamily="18" charset="0"/>
              </a:rPr>
              <a:t>with Basel 3.1 provisions?</a:t>
            </a:r>
          </a:p>
          <a:p>
            <a:pPr marL="342900" indent="-342900">
              <a:lnSpc>
                <a:spcPct val="150000"/>
              </a:lnSpc>
              <a:buFont typeface="+mj-lt"/>
              <a:buAutoNum type="arabicPeriod"/>
            </a:pPr>
            <a:r>
              <a:rPr lang="en-US" sz="1600" dirty="0">
                <a:solidFill>
                  <a:schemeClr val="tx1"/>
                </a:solidFill>
                <a:latin typeface="Times New Roman" panose="02020603050405020304" pitchFamily="18" charset="0"/>
                <a:cs typeface="Times New Roman" panose="02020603050405020304" pitchFamily="18" charset="0"/>
              </a:rPr>
              <a:t>In </a:t>
            </a:r>
            <a:r>
              <a:rPr lang="en-US" sz="1600" b="1" dirty="0">
                <a:solidFill>
                  <a:schemeClr val="tx1"/>
                </a:solidFill>
                <a:latin typeface="Times New Roman" panose="02020603050405020304" pitchFamily="18" charset="0"/>
                <a:cs typeface="Times New Roman" panose="02020603050405020304" pitchFamily="18" charset="0"/>
              </a:rPr>
              <a:t>what ways can explainability and fairness be embedded </a:t>
            </a:r>
            <a:r>
              <a:rPr lang="en-US" sz="1600" dirty="0">
                <a:solidFill>
                  <a:schemeClr val="tx1"/>
                </a:solidFill>
                <a:latin typeface="Times New Roman" panose="02020603050405020304" pitchFamily="18" charset="0"/>
                <a:cs typeface="Times New Roman" panose="02020603050405020304" pitchFamily="18" charset="0"/>
              </a:rPr>
              <a:t>within AI-based credit risk models, and how can their adequacy be assessed using regulatory audit criteria such as transparency, traceability, and absence of bias?</a:t>
            </a:r>
          </a:p>
          <a:p>
            <a:pPr marL="342900" indent="-342900">
              <a:lnSpc>
                <a:spcPct val="150000"/>
              </a:lnSpc>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How effective are interpretation techniques</a:t>
            </a:r>
            <a:r>
              <a:rPr lang="en-US" sz="1600" dirty="0">
                <a:solidFill>
                  <a:schemeClr val="tx1"/>
                </a:solidFill>
                <a:latin typeface="Times New Roman" panose="02020603050405020304" pitchFamily="18" charset="0"/>
                <a:cs typeface="Times New Roman" panose="02020603050405020304" pitchFamily="18" charset="0"/>
              </a:rPr>
              <a:t>—such as feature attribution, fairness metrics, and counterfactual reasoning—in clarifying model behaviour, and how can their effectiveness be quantified without compromising predictive performance benchmarks?</a:t>
            </a:r>
          </a:p>
          <a:p>
            <a:pPr marL="342900" indent="-342900">
              <a:lnSpc>
                <a:spcPct val="150000"/>
              </a:lnSpc>
              <a:buFont typeface="+mj-lt"/>
              <a:buAutoNum type="arabicPeriod"/>
            </a:pP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B7514F8A-79D6-F0E9-7892-5F039FD59DF3}"/>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359955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261C3-50E4-45E4-F090-BCF5D46530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06EB2B-2075-2F5A-733F-D1EBFCA89A4E}"/>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13</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D5FD365-0CBF-ADBB-A1AC-D5CF958BC11A}"/>
              </a:ext>
            </a:extLst>
          </p:cNvPr>
          <p:cNvSpPr>
            <a:spLocks noGrp="1"/>
          </p:cNvSpPr>
          <p:nvPr>
            <p:ph type="body" sz="quarter" idx="10"/>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Research Questions</a:t>
            </a:r>
          </a:p>
        </p:txBody>
      </p:sp>
      <p:sp>
        <p:nvSpPr>
          <p:cNvPr id="4" name="Text Placeholder 3">
            <a:extLst>
              <a:ext uri="{FF2B5EF4-FFF2-40B4-BE49-F238E27FC236}">
                <a16:creationId xmlns:a16="http://schemas.microsoft.com/office/drawing/2014/main" id="{0FF47AE8-7829-A860-633E-D9798273F405}"/>
              </a:ext>
            </a:extLst>
          </p:cNvPr>
          <p:cNvSpPr>
            <a:spLocks noGrp="1"/>
          </p:cNvSpPr>
          <p:nvPr>
            <p:ph type="body" sz="quarter" idx="11"/>
          </p:nvPr>
        </p:nvSpPr>
        <p:spPr>
          <a:xfrm>
            <a:off x="609601" y="1310947"/>
            <a:ext cx="9753600" cy="3794453"/>
          </a:xfrm>
        </p:spPr>
        <p:txBody>
          <a:bodyPr/>
          <a:lstStyle/>
          <a:p>
            <a:pPr marL="342900" indent="-342900">
              <a:lnSpc>
                <a:spcPct val="150000"/>
              </a:lnSpc>
              <a:buFont typeface="+mj-lt"/>
              <a:buAutoNum type="arabicPeriod" startAt="5"/>
            </a:pPr>
            <a:r>
              <a:rPr lang="en-US" sz="1600" b="1" dirty="0">
                <a:solidFill>
                  <a:schemeClr val="tx1"/>
                </a:solidFill>
                <a:latin typeface="Times New Roman" panose="02020603050405020304" pitchFamily="18" charset="0"/>
                <a:cs typeface="Times New Roman" panose="02020603050405020304" pitchFamily="18" charset="0"/>
              </a:rPr>
              <a:t>Can generative AI techniques reliably operationalise Basel 3.1 </a:t>
            </a:r>
            <a:r>
              <a:rPr lang="en-US" sz="1600" dirty="0">
                <a:solidFill>
                  <a:schemeClr val="tx1"/>
                </a:solidFill>
                <a:latin typeface="Times New Roman" panose="02020603050405020304" pitchFamily="18" charset="0"/>
                <a:cs typeface="Times New Roman" panose="02020603050405020304" pitchFamily="18" charset="0"/>
              </a:rPr>
              <a:t>clauses by converting complex provisions into machine-readable logic, and how can this reliability be evaluated in terms of translation accuracy, consistency across models, and resulting impact on RWA computations?</a:t>
            </a:r>
          </a:p>
          <a:p>
            <a:pPr marL="342900" indent="-342900">
              <a:lnSpc>
                <a:spcPct val="150000"/>
              </a:lnSpc>
              <a:buFont typeface="+mj-lt"/>
              <a:buAutoNum type="arabicPeriod" startAt="5"/>
            </a:pPr>
            <a:r>
              <a:rPr lang="en-US" sz="1600" b="1" dirty="0">
                <a:solidFill>
                  <a:schemeClr val="tx1"/>
                </a:solidFill>
                <a:latin typeface="Times New Roman" panose="02020603050405020304" pitchFamily="18" charset="0"/>
                <a:cs typeface="Times New Roman" panose="02020603050405020304" pitchFamily="18" charset="0"/>
              </a:rPr>
              <a:t>What are the methodological feasibility and supervisory implications </a:t>
            </a:r>
            <a:r>
              <a:rPr lang="en-US" sz="1600" dirty="0">
                <a:solidFill>
                  <a:schemeClr val="tx1"/>
                </a:solidFill>
                <a:latin typeface="Times New Roman" panose="02020603050405020304" pitchFamily="18" charset="0"/>
                <a:cs typeface="Times New Roman" panose="02020603050405020304" pitchFamily="18" charset="0"/>
              </a:rPr>
              <a:t>of combining predictive and generative AI within credit risk assessment, as evidenced </a:t>
            </a:r>
            <a:r>
              <a:rPr lang="en-US" sz="1600" b="1" dirty="0">
                <a:solidFill>
                  <a:schemeClr val="tx1"/>
                </a:solidFill>
                <a:latin typeface="Times New Roman" panose="02020603050405020304" pitchFamily="18" charset="0"/>
                <a:cs typeface="Times New Roman" panose="02020603050405020304" pitchFamily="18" charset="0"/>
              </a:rPr>
              <a:t>through comparative experiments, error analysis, and alignment with regulatory expectations </a:t>
            </a:r>
            <a:r>
              <a:rPr lang="en-US" sz="1600" dirty="0">
                <a:solidFill>
                  <a:schemeClr val="tx1"/>
                </a:solidFill>
                <a:latin typeface="Times New Roman" panose="02020603050405020304" pitchFamily="18" charset="0"/>
                <a:cs typeface="Times New Roman" panose="02020603050405020304" pitchFamily="18" charset="0"/>
              </a:rPr>
              <a:t>under Basel 3.1?</a:t>
            </a:r>
          </a:p>
          <a:p>
            <a:pPr lvl="1">
              <a:lnSpc>
                <a:spcPct val="150000"/>
              </a:lnSpc>
            </a:pPr>
            <a:endParaRPr lang="en-IN" sz="1600"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E03EBF9D-CE47-284C-1824-5F65862F2053}"/>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632563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414E0-8915-7620-AA26-2923C91724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344569-9872-13E3-7AAF-B19D0F785627}"/>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14</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9618169-8025-0215-B4E2-26307050A5A4}"/>
              </a:ext>
            </a:extLst>
          </p:cNvPr>
          <p:cNvSpPr>
            <a:spLocks noGrp="1"/>
          </p:cNvSpPr>
          <p:nvPr>
            <p:ph type="body" sz="quarter" idx="10"/>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Proposed Methodology</a:t>
            </a:r>
          </a:p>
        </p:txBody>
      </p:sp>
      <p:sp>
        <p:nvSpPr>
          <p:cNvPr id="4" name="Text Placeholder 3">
            <a:extLst>
              <a:ext uri="{FF2B5EF4-FFF2-40B4-BE49-F238E27FC236}">
                <a16:creationId xmlns:a16="http://schemas.microsoft.com/office/drawing/2014/main" id="{E699C01D-034D-0D7D-4940-42FBB4C7860F}"/>
              </a:ext>
            </a:extLst>
          </p:cNvPr>
          <p:cNvSpPr>
            <a:spLocks noGrp="1"/>
          </p:cNvSpPr>
          <p:nvPr>
            <p:ph type="body" sz="quarter" idx="11"/>
          </p:nvPr>
        </p:nvSpPr>
        <p:spPr>
          <a:xfrm>
            <a:off x="609601" y="1310947"/>
            <a:ext cx="9753600" cy="3794453"/>
          </a:xfrm>
        </p:spPr>
        <p:txBody>
          <a:bodyPr/>
          <a:lstStyle/>
          <a:p>
            <a:pPr>
              <a:lnSpc>
                <a:spcPct val="150000"/>
              </a:lnSpc>
            </a:pPr>
            <a:r>
              <a:rPr lang="en-US" sz="1600" dirty="0">
                <a:solidFill>
                  <a:schemeClr val="tx1"/>
                </a:solidFill>
                <a:latin typeface="Times New Roman" panose="02020603050405020304" pitchFamily="18" charset="0"/>
                <a:cs typeface="Times New Roman" panose="02020603050405020304" pitchFamily="18" charset="0"/>
              </a:rPr>
              <a:t>The methodology comprises two interconnected research modules designed to evaluate, in a simulated academic environment, how predictive and generative AI can be jointly applied for credit risk assessment and Basel 3.1 capital impact computation. </a:t>
            </a:r>
          </a:p>
          <a:p>
            <a:pPr>
              <a:lnSpc>
                <a:spcPct val="150000"/>
              </a:lnSpc>
            </a:pPr>
            <a:r>
              <a:rPr lang="en-IN" sz="1600" dirty="0">
                <a:solidFill>
                  <a:schemeClr val="tx1"/>
                </a:solidFill>
                <a:latin typeface="Times New Roman" panose="02020603050405020304" pitchFamily="18" charset="0"/>
                <a:cs typeface="Times New Roman" panose="02020603050405020304" pitchFamily="18" charset="0"/>
              </a:rPr>
              <a:t>Two interconnected research modules tested in a simulated academic environment:</a:t>
            </a:r>
          </a:p>
          <a:p>
            <a:pPr>
              <a:lnSpc>
                <a:spcPct val="150000"/>
              </a:lnSpc>
            </a:pPr>
            <a:r>
              <a:rPr lang="en-IN" sz="1600" b="1" dirty="0">
                <a:solidFill>
                  <a:schemeClr val="tx1"/>
                </a:solidFill>
                <a:latin typeface="Times New Roman" panose="02020603050405020304" pitchFamily="18" charset="0"/>
                <a:cs typeface="Times New Roman" panose="02020603050405020304" pitchFamily="18" charset="0"/>
              </a:rPr>
              <a:t>Module 1 – Credit Risk Prediction Layer</a:t>
            </a:r>
          </a:p>
          <a:p>
            <a:pPr marL="742950" lvl="1" indent="-285750">
              <a:lnSpc>
                <a:spcPct val="15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Estimate borrower-level default risk using ML models (gradient boosting, deep learning, others).</a:t>
            </a:r>
          </a:p>
          <a:p>
            <a:pPr marL="742950" lvl="1" indent="-285750">
              <a:lnSpc>
                <a:spcPct val="15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Public datasets with demographics, loan characteristics, repayment histories.</a:t>
            </a:r>
          </a:p>
          <a:p>
            <a:pPr marL="742950" lvl="1" indent="-285750">
              <a:lnSpc>
                <a:spcPct val="15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Evaluation: ROC-AUC, F1, precision/recall, SHAP consistency, fairness indicators.</a:t>
            </a:r>
          </a:p>
        </p:txBody>
      </p:sp>
      <p:sp>
        <p:nvSpPr>
          <p:cNvPr id="5" name="Text Placeholder 4">
            <a:extLst>
              <a:ext uri="{FF2B5EF4-FFF2-40B4-BE49-F238E27FC236}">
                <a16:creationId xmlns:a16="http://schemas.microsoft.com/office/drawing/2014/main" id="{FB3F7763-4331-4B7C-366C-F0149756DBF4}"/>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053356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B97C1-50BD-F58D-5D73-2E37931C56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EE07F7-E91F-D4E4-3589-3952F5B91C54}"/>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15</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D30AC2D-C445-DB7D-5B97-84451235DFB1}"/>
              </a:ext>
            </a:extLst>
          </p:cNvPr>
          <p:cNvSpPr>
            <a:spLocks noGrp="1"/>
          </p:cNvSpPr>
          <p:nvPr>
            <p:ph type="body" sz="quarter" idx="10"/>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Proposed Methodology</a:t>
            </a:r>
          </a:p>
        </p:txBody>
      </p:sp>
      <p:sp>
        <p:nvSpPr>
          <p:cNvPr id="4" name="Text Placeholder 3">
            <a:extLst>
              <a:ext uri="{FF2B5EF4-FFF2-40B4-BE49-F238E27FC236}">
                <a16:creationId xmlns:a16="http://schemas.microsoft.com/office/drawing/2014/main" id="{8F7CA85A-6D59-DF24-FBF5-EB49C7C9AC8A}"/>
              </a:ext>
            </a:extLst>
          </p:cNvPr>
          <p:cNvSpPr>
            <a:spLocks noGrp="1"/>
          </p:cNvSpPr>
          <p:nvPr>
            <p:ph type="body" sz="quarter" idx="11"/>
          </p:nvPr>
        </p:nvSpPr>
        <p:spPr>
          <a:xfrm>
            <a:off x="609601" y="1310947"/>
            <a:ext cx="9753600" cy="3794453"/>
          </a:xfrm>
        </p:spPr>
        <p:txBody>
          <a:bodyPr/>
          <a:lstStyle/>
          <a:p>
            <a:pPr>
              <a:lnSpc>
                <a:spcPct val="150000"/>
              </a:lnSpc>
            </a:pPr>
            <a:r>
              <a:rPr lang="en-IN" sz="1600" b="1" dirty="0">
                <a:solidFill>
                  <a:schemeClr val="tx1"/>
                </a:solidFill>
                <a:latin typeface="Times New Roman" panose="02020603050405020304" pitchFamily="18" charset="0"/>
                <a:cs typeface="Times New Roman" panose="02020603050405020304" pitchFamily="18" charset="0"/>
              </a:rPr>
              <a:t>Module 2 – RWA &amp; Capital Impact Engine</a:t>
            </a:r>
          </a:p>
          <a:p>
            <a:pPr marL="742950" lvl="1" indent="-285750">
              <a:lnSpc>
                <a:spcPct val="15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Use Generative AI to translate Basel 3.1 provisions into machine-readable rules.</a:t>
            </a:r>
          </a:p>
          <a:p>
            <a:pPr marL="742950" lvl="1" indent="-285750">
              <a:lnSpc>
                <a:spcPct val="15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Variables include exposure class indicators, LTV buckets, Basel default definitions, unrated obligor flags.</a:t>
            </a:r>
          </a:p>
          <a:p>
            <a:pPr marL="742950" lvl="1" indent="-285750">
              <a:lnSpc>
                <a:spcPct val="15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Integration with Module 1 outputs to compute RWAs and capital impact.</a:t>
            </a:r>
          </a:p>
          <a:p>
            <a:pPr marL="742950" lvl="1" indent="-285750">
              <a:lnSpc>
                <a:spcPct val="15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Evaluation: consistency with Basel worked examples, reconciliation across exposure classes, computational efficiency.</a:t>
            </a:r>
          </a:p>
        </p:txBody>
      </p:sp>
      <p:sp>
        <p:nvSpPr>
          <p:cNvPr id="5" name="Text Placeholder 4">
            <a:extLst>
              <a:ext uri="{FF2B5EF4-FFF2-40B4-BE49-F238E27FC236}">
                <a16:creationId xmlns:a16="http://schemas.microsoft.com/office/drawing/2014/main" id="{2B91F1E3-51D7-DAAD-4B28-6A37295D188E}"/>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181975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FDF9E-B064-4FCC-C4D3-1B20E17FD92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725BDF-E8ED-0A8A-2644-9335DD9D52D1}"/>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16</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1DF78DC-40A5-5A42-5AF9-7EAD1C1F602B}"/>
              </a:ext>
            </a:extLst>
          </p:cNvPr>
          <p:cNvSpPr>
            <a:spLocks noGrp="1"/>
          </p:cNvSpPr>
          <p:nvPr>
            <p:ph type="body" sz="quarter" idx="10"/>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Proposed Methodology</a:t>
            </a:r>
          </a:p>
        </p:txBody>
      </p:sp>
      <p:sp>
        <p:nvSpPr>
          <p:cNvPr id="4" name="Text Placeholder 3">
            <a:extLst>
              <a:ext uri="{FF2B5EF4-FFF2-40B4-BE49-F238E27FC236}">
                <a16:creationId xmlns:a16="http://schemas.microsoft.com/office/drawing/2014/main" id="{1C699C10-F849-B8CD-2F3F-5D4F7355156E}"/>
              </a:ext>
            </a:extLst>
          </p:cNvPr>
          <p:cNvSpPr>
            <a:spLocks noGrp="1"/>
          </p:cNvSpPr>
          <p:nvPr>
            <p:ph type="body" sz="quarter" idx="11"/>
          </p:nvPr>
        </p:nvSpPr>
        <p:spPr>
          <a:xfrm>
            <a:off x="609601" y="1310947"/>
            <a:ext cx="9753600" cy="3794453"/>
          </a:xfrm>
        </p:spPr>
        <p:txBody>
          <a:bodyPr/>
          <a:lstStyle/>
          <a:p>
            <a:pPr>
              <a:lnSpc>
                <a:spcPct val="150000"/>
              </a:lnSpc>
            </a:pPr>
            <a:r>
              <a:rPr lang="en-US" sz="1600" b="1" dirty="0">
                <a:solidFill>
                  <a:schemeClr val="tx1"/>
                </a:solidFill>
                <a:latin typeface="Times New Roman" panose="02020603050405020304" pitchFamily="18" charset="0"/>
                <a:cs typeface="Times New Roman" panose="02020603050405020304" pitchFamily="18" charset="0"/>
              </a:rPr>
              <a:t>Integration of Basel 3.1 Variables with Public Credit Risk Datasets</a:t>
            </a:r>
          </a:p>
          <a:p>
            <a:pPr marL="742950" lvl="1" indent="-285750">
              <a:lnSpc>
                <a:spcPct val="150000"/>
              </a:lnSpc>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Module 1 outputs feed Module 2, enabling end-to-end evaluation of risk prediction and Basel-aligned capital outcomes.</a:t>
            </a:r>
          </a:p>
          <a:p>
            <a:pPr marL="742950" lvl="1" indent="-285750">
              <a:lnSpc>
                <a:spcPct val="150000"/>
              </a:lnSpc>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This enables a two-level evaluation:</a:t>
            </a:r>
          </a:p>
          <a:p>
            <a:pPr marL="1257300" lvl="2" indent="-342900">
              <a:lnSpc>
                <a:spcPct val="150000"/>
              </a:lnSpc>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Predictive gain – </a:t>
            </a:r>
            <a:r>
              <a:rPr lang="en-US" sz="1600" dirty="0">
                <a:solidFill>
                  <a:schemeClr val="tx1"/>
                </a:solidFill>
                <a:latin typeface="Times New Roman" panose="02020603050405020304" pitchFamily="18" charset="0"/>
                <a:cs typeface="Times New Roman" panose="02020603050405020304" pitchFamily="18" charset="0"/>
              </a:rPr>
              <a:t>whether the inclusion of Basel-aligned variables improves accuracy in estimating borrower default risk.</a:t>
            </a:r>
          </a:p>
          <a:p>
            <a:pPr marL="1257300" lvl="2" indent="-342900">
              <a:lnSpc>
                <a:spcPct val="150000"/>
              </a:lnSpc>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Regulatory alignment – </a:t>
            </a:r>
            <a:r>
              <a:rPr lang="en-US" sz="1600" dirty="0">
                <a:solidFill>
                  <a:schemeClr val="tx1"/>
                </a:solidFill>
                <a:latin typeface="Times New Roman" panose="02020603050405020304" pitchFamily="18" charset="0"/>
                <a:cs typeface="Times New Roman" panose="02020603050405020304" pitchFamily="18" charset="0"/>
              </a:rPr>
              <a:t>whether the resulting outputs, when reconciled with Basel risk weights, provide more policy-relevant insights into capital adequacy.</a:t>
            </a:r>
          </a:p>
          <a:p>
            <a:pPr marL="742950" lvl="1" indent="-285750">
              <a:lnSpc>
                <a:spcPct val="150000"/>
              </a:lnSpc>
              <a:buFont typeface="Arial" panose="020B0604020202020204" pitchFamily="34" charset="0"/>
              <a:buChar char="•"/>
            </a:pPr>
            <a:endParaRPr lang="en-IN" sz="1600"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F695B953-18F3-222D-275C-49B9BF5134C6}"/>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851007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62F5A-7FCB-67F1-90D2-6C75BDAFA5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EFF3D4-F76D-BD53-40FF-DCCCF248C29D}"/>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17</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70F8B7A-6B43-9ED2-C428-57A9C7236EB8}"/>
              </a:ext>
            </a:extLst>
          </p:cNvPr>
          <p:cNvSpPr>
            <a:spLocks noGrp="1"/>
          </p:cNvSpPr>
          <p:nvPr>
            <p:ph type="body" sz="quarter" idx="10"/>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Methodology – System Architecture </a:t>
            </a:r>
          </a:p>
        </p:txBody>
      </p:sp>
      <p:sp>
        <p:nvSpPr>
          <p:cNvPr id="5" name="Text Placeholder 4">
            <a:extLst>
              <a:ext uri="{FF2B5EF4-FFF2-40B4-BE49-F238E27FC236}">
                <a16:creationId xmlns:a16="http://schemas.microsoft.com/office/drawing/2014/main" id="{2F676146-E0B3-863F-7A47-014750F98EBA}"/>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01B1086C-2DFF-7155-7977-CC664FD43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142999"/>
            <a:ext cx="9448800" cy="4685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850128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C1040-D667-D003-1EDC-F4B3EC41A2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6ADC5D-0D72-EE60-8F2F-D3E1A76FAD5A}"/>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18</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8500BAC-C017-1305-FA00-7434CE6780B8}"/>
              </a:ext>
            </a:extLst>
          </p:cNvPr>
          <p:cNvSpPr>
            <a:spLocks noGrp="1"/>
          </p:cNvSpPr>
          <p:nvPr>
            <p:ph type="body" sz="quarter" idx="10"/>
          </p:nvPr>
        </p:nvSpPr>
        <p:spPr/>
        <p:txBody>
          <a:bodyPr/>
          <a:lstStyle/>
          <a:p>
            <a:r>
              <a:rPr lang="en-US" sz="3200" dirty="0">
                <a:solidFill>
                  <a:schemeClr val="tx1"/>
                </a:solidFill>
                <a:latin typeface="Times New Roman" panose="02020603050405020304" pitchFamily="18" charset="0"/>
                <a:cs typeface="Times New Roman" panose="02020603050405020304" pitchFamily="18" charset="0"/>
              </a:rPr>
              <a:t>Table 7: Datasets in Credit Risk Modelling</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3E0B8297-5084-0B7B-D4DF-BBBCA3AB686A}"/>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D7735C0F-8AB2-295F-4772-9A839A503A52}"/>
              </a:ext>
            </a:extLst>
          </p:cNvPr>
          <p:cNvGraphicFramePr>
            <a:graphicFrameLocks noGrp="1"/>
          </p:cNvGraphicFramePr>
          <p:nvPr>
            <p:extLst>
              <p:ext uri="{D42A27DB-BD31-4B8C-83A1-F6EECF244321}">
                <p14:modId xmlns:p14="http://schemas.microsoft.com/office/powerpoint/2010/main" val="3210496811"/>
              </p:ext>
            </p:extLst>
          </p:nvPr>
        </p:nvGraphicFramePr>
        <p:xfrm>
          <a:off x="838201" y="1295400"/>
          <a:ext cx="9982200" cy="4495799"/>
        </p:xfrm>
        <a:graphic>
          <a:graphicData uri="http://schemas.openxmlformats.org/drawingml/2006/table">
            <a:tbl>
              <a:tblPr firstRow="1" bandRow="1">
                <a:tableStyleId>{5C22544A-7EE6-4342-B048-85BDC9FD1C3A}</a:tableStyleId>
              </a:tblPr>
              <a:tblGrid>
                <a:gridCol w="1723273">
                  <a:extLst>
                    <a:ext uri="{9D8B030D-6E8A-4147-A177-3AD203B41FA5}">
                      <a16:colId xmlns:a16="http://schemas.microsoft.com/office/drawing/2014/main" val="2587966293"/>
                    </a:ext>
                  </a:extLst>
                </a:gridCol>
                <a:gridCol w="1024379">
                  <a:extLst>
                    <a:ext uri="{9D8B030D-6E8A-4147-A177-3AD203B41FA5}">
                      <a16:colId xmlns:a16="http://schemas.microsoft.com/office/drawing/2014/main" val="599514356"/>
                    </a:ext>
                  </a:extLst>
                </a:gridCol>
                <a:gridCol w="4213331">
                  <a:extLst>
                    <a:ext uri="{9D8B030D-6E8A-4147-A177-3AD203B41FA5}">
                      <a16:colId xmlns:a16="http://schemas.microsoft.com/office/drawing/2014/main" val="350833366"/>
                    </a:ext>
                  </a:extLst>
                </a:gridCol>
                <a:gridCol w="2094684">
                  <a:extLst>
                    <a:ext uri="{9D8B030D-6E8A-4147-A177-3AD203B41FA5}">
                      <a16:colId xmlns:a16="http://schemas.microsoft.com/office/drawing/2014/main" val="3518660771"/>
                    </a:ext>
                  </a:extLst>
                </a:gridCol>
                <a:gridCol w="926533">
                  <a:extLst>
                    <a:ext uri="{9D8B030D-6E8A-4147-A177-3AD203B41FA5}">
                      <a16:colId xmlns:a16="http://schemas.microsoft.com/office/drawing/2014/main" val="3813965205"/>
                    </a:ext>
                  </a:extLst>
                </a:gridCol>
              </a:tblGrid>
              <a:tr h="436159">
                <a:tc>
                  <a:txBody>
                    <a:bodyPr/>
                    <a:lstStyle/>
                    <a:p>
                      <a:pPr>
                        <a:buNone/>
                      </a:pPr>
                      <a:r>
                        <a:rPr lang="en-IN" sz="1100" dirty="0">
                          <a:effectLst/>
                          <a:latin typeface="Times New Roman" panose="02020603050405020304" pitchFamily="18" charset="0"/>
                          <a:cs typeface="Times New Roman" panose="02020603050405020304" pitchFamily="18" charset="0"/>
                        </a:rPr>
                        <a:t>Dataset</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dirty="0">
                          <a:effectLst/>
                          <a:latin typeface="Times New Roman" panose="02020603050405020304" pitchFamily="18" charset="0"/>
                          <a:cs typeface="Times New Roman" panose="02020603050405020304" pitchFamily="18" charset="0"/>
                        </a:rPr>
                        <a:t>Country / Origin</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100">
                          <a:effectLst/>
                          <a:latin typeface="Times New Roman" panose="02020603050405020304" pitchFamily="18" charset="0"/>
                          <a:cs typeface="Times New Roman" panose="02020603050405020304" pitchFamily="18" charset="0"/>
                        </a:rPr>
                        <a:t>Size / Features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de-DE" sz="1100">
                          <a:effectLst/>
                          <a:latin typeface="Times New Roman" panose="02020603050405020304" pitchFamily="18" charset="0"/>
                          <a:cs typeface="Times New Roman" panose="02020603050405020304" pitchFamily="18" charset="0"/>
                        </a:rPr>
                        <a:t>Papers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a:effectLst/>
                          <a:latin typeface="Times New Roman" panose="02020603050405020304" pitchFamily="18" charset="0"/>
                          <a:cs typeface="Times New Roman" panose="02020603050405020304" pitchFamily="18" charset="0"/>
                        </a:rPr>
                        <a:t>Database links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18326227"/>
                  </a:ext>
                </a:extLst>
              </a:tr>
              <a:tr h="507455">
                <a:tc>
                  <a:txBody>
                    <a:bodyPr/>
                    <a:lstStyle/>
                    <a:p>
                      <a:pPr>
                        <a:buNone/>
                      </a:pPr>
                      <a:r>
                        <a:rPr lang="en-IN" sz="1100" dirty="0">
                          <a:effectLst/>
                          <a:latin typeface="Times New Roman" panose="02020603050405020304" pitchFamily="18" charset="0"/>
                          <a:cs typeface="Times New Roman" panose="02020603050405020304" pitchFamily="18" charset="0"/>
                        </a:rPr>
                        <a:t>German Credit Data</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dirty="0">
                          <a:effectLst/>
                          <a:latin typeface="Times New Roman" panose="02020603050405020304" pitchFamily="18" charset="0"/>
                          <a:cs typeface="Times New Roman" panose="02020603050405020304" pitchFamily="18" charset="0"/>
                        </a:rPr>
                        <a:t>Germany</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100" dirty="0">
                          <a:effectLst/>
                          <a:latin typeface="Times New Roman" panose="02020603050405020304" pitchFamily="18" charset="0"/>
                          <a:cs typeface="Times New Roman" panose="02020603050405020304" pitchFamily="18" charset="0"/>
                        </a:rPr>
                        <a:t>1,000 instances, 20 attributes (credit history, purpose, amount, etc.); binary risk label</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de-DE" sz="1100">
                          <a:effectLst/>
                          <a:latin typeface="Times New Roman" panose="02020603050405020304" pitchFamily="18" charset="0"/>
                          <a:cs typeface="Times New Roman" panose="02020603050405020304" pitchFamily="18" charset="0"/>
                        </a:rPr>
                        <a:t>Quan et al. (2024); Lessmann et al. (2015)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u="sng">
                          <a:effectLst/>
                          <a:latin typeface="Times New Roman" panose="02020603050405020304" pitchFamily="18" charset="0"/>
                          <a:cs typeface="Times New Roman" panose="02020603050405020304" pitchFamily="18" charset="0"/>
                          <a:hlinkClick r:id="rId2"/>
                        </a:rPr>
                        <a:t>Link</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87688186"/>
                  </a:ext>
                </a:extLst>
              </a:tr>
              <a:tr h="507455">
                <a:tc>
                  <a:txBody>
                    <a:bodyPr/>
                    <a:lstStyle/>
                    <a:p>
                      <a:pPr>
                        <a:buNone/>
                      </a:pPr>
                      <a:r>
                        <a:rPr lang="en-IN" sz="1100">
                          <a:effectLst/>
                          <a:latin typeface="Times New Roman" panose="02020603050405020304" pitchFamily="18" charset="0"/>
                          <a:cs typeface="Times New Roman" panose="02020603050405020304" pitchFamily="18" charset="0"/>
                        </a:rPr>
                        <a:t>Australian Credit Approval</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a:effectLst/>
                          <a:latin typeface="Times New Roman" panose="02020603050405020304" pitchFamily="18" charset="0"/>
                          <a:cs typeface="Times New Roman" panose="02020603050405020304" pitchFamily="18" charset="0"/>
                        </a:rPr>
                        <a:t>Australia</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100" dirty="0">
                          <a:effectLst/>
                          <a:latin typeface="Times New Roman" panose="02020603050405020304" pitchFamily="18" charset="0"/>
                          <a:cs typeface="Times New Roman" panose="02020603050405020304" pitchFamily="18" charset="0"/>
                        </a:rPr>
                        <a:t>~690 instances, mixed-type attributes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de-DE" sz="1100" dirty="0">
                          <a:effectLst/>
                          <a:latin typeface="Times New Roman" panose="02020603050405020304" pitchFamily="18" charset="0"/>
                          <a:cs typeface="Times New Roman" panose="02020603050405020304" pitchFamily="18" charset="0"/>
                        </a:rPr>
                        <a:t>Quan et al. (2024); Baesens et al. (2003); Lessmann et al. (2015)</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u="sng">
                          <a:effectLst/>
                          <a:latin typeface="Times New Roman" panose="02020603050405020304" pitchFamily="18" charset="0"/>
                          <a:cs typeface="Times New Roman" panose="02020603050405020304" pitchFamily="18" charset="0"/>
                          <a:hlinkClick r:id="rId3"/>
                        </a:rPr>
                        <a:t>Link</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19747230"/>
                  </a:ext>
                </a:extLst>
              </a:tr>
              <a:tr h="507455">
                <a:tc>
                  <a:txBody>
                    <a:bodyPr/>
                    <a:lstStyle/>
                    <a:p>
                      <a:pPr>
                        <a:buNone/>
                      </a:pPr>
                      <a:r>
                        <a:rPr lang="en-IN" sz="1100">
                          <a:effectLst/>
                          <a:latin typeface="Times New Roman" panose="02020603050405020304" pitchFamily="18" charset="0"/>
                          <a:cs typeface="Times New Roman" panose="02020603050405020304" pitchFamily="18" charset="0"/>
                        </a:rPr>
                        <a:t>AMEX Credit Default Dataset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a:effectLst/>
                          <a:latin typeface="Times New Roman" panose="02020603050405020304" pitchFamily="18" charset="0"/>
                          <a:cs typeface="Times New Roman" panose="02020603050405020304" pitchFamily="18" charset="0"/>
                        </a:rPr>
                        <a:t>USA</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100" dirty="0">
                          <a:effectLst/>
                          <a:latin typeface="Times New Roman" panose="02020603050405020304" pitchFamily="18" charset="0"/>
                          <a:cs typeface="Times New Roman" panose="02020603050405020304" pitchFamily="18" charset="0"/>
                        </a:rPr>
                        <a:t>458,913 training records, 924,621 test records; &gt;200 multi-temporal features across delinquency, spend, balance, etc.; default label over 18-month window</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de-DE" sz="1100" dirty="0">
                          <a:effectLst/>
                          <a:latin typeface="Times New Roman" panose="02020603050405020304" pitchFamily="18" charset="0"/>
                          <a:cs typeface="Times New Roman" panose="02020603050405020304" pitchFamily="18" charset="0"/>
                        </a:rPr>
                        <a:t>Hu &amp; Yeo (2025)</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u="sng">
                          <a:effectLst/>
                          <a:latin typeface="Times New Roman" panose="02020603050405020304" pitchFamily="18" charset="0"/>
                          <a:cs typeface="Times New Roman" panose="02020603050405020304" pitchFamily="18" charset="0"/>
                          <a:hlinkClick r:id="rId4"/>
                        </a:rPr>
                        <a:t>Link</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59438948"/>
                  </a:ext>
                </a:extLst>
              </a:tr>
              <a:tr h="507455">
                <a:tc>
                  <a:txBody>
                    <a:bodyPr/>
                    <a:lstStyle/>
                    <a:p>
                      <a:pPr>
                        <a:buNone/>
                      </a:pPr>
                      <a:r>
                        <a:rPr lang="en-IN" sz="1100">
                          <a:effectLst/>
                          <a:latin typeface="Times New Roman" panose="02020603050405020304" pitchFamily="18" charset="0"/>
                          <a:cs typeface="Times New Roman" panose="02020603050405020304" pitchFamily="18" charset="0"/>
                        </a:rPr>
                        <a:t>Default of Credit Card Clients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a:effectLst/>
                          <a:latin typeface="Times New Roman" panose="02020603050405020304" pitchFamily="18" charset="0"/>
                          <a:cs typeface="Times New Roman" panose="02020603050405020304" pitchFamily="18" charset="0"/>
                        </a:rPr>
                        <a:t>Taiwan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100">
                          <a:effectLst/>
                          <a:latin typeface="Times New Roman" panose="02020603050405020304" pitchFamily="18" charset="0"/>
                          <a:cs typeface="Times New Roman" panose="02020603050405020304" pitchFamily="18" charset="0"/>
                        </a:rPr>
                        <a:t>~30,000 instances; demographic + credit history + repayment records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de-DE" sz="1100" dirty="0">
                          <a:effectLst/>
                          <a:latin typeface="Times New Roman" panose="02020603050405020304" pitchFamily="18" charset="0"/>
                          <a:cs typeface="Times New Roman" panose="02020603050405020304" pitchFamily="18" charset="0"/>
                        </a:rPr>
                        <a:t>Yeh &amp; Lien (2009); Quan et al. (2024); Hu &amp; Yeo (2025)</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u="sng">
                          <a:effectLst/>
                          <a:latin typeface="Times New Roman" panose="02020603050405020304" pitchFamily="18" charset="0"/>
                          <a:cs typeface="Times New Roman" panose="02020603050405020304" pitchFamily="18" charset="0"/>
                          <a:hlinkClick r:id="rId5"/>
                        </a:rPr>
                        <a:t>Link</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01196318"/>
                  </a:ext>
                </a:extLst>
              </a:tr>
              <a:tr h="507455">
                <a:tc>
                  <a:txBody>
                    <a:bodyPr/>
                    <a:lstStyle/>
                    <a:p>
                      <a:pPr>
                        <a:buNone/>
                      </a:pPr>
                      <a:r>
                        <a:rPr lang="en-IN" sz="1100">
                          <a:effectLst/>
                          <a:latin typeface="Times New Roman" panose="02020603050405020304" pitchFamily="18" charset="0"/>
                          <a:cs typeface="Times New Roman" panose="02020603050405020304" pitchFamily="18" charset="0"/>
                        </a:rPr>
                        <a:t>Credit borrowers’ data</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a:effectLst/>
                          <a:latin typeface="Times New Roman" panose="02020603050405020304" pitchFamily="18" charset="0"/>
                          <a:cs typeface="Times New Roman" panose="02020603050405020304" pitchFamily="18" charset="0"/>
                        </a:rPr>
                        <a:t>USA</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100">
                          <a:effectLst/>
                          <a:latin typeface="Times New Roman" panose="02020603050405020304" pitchFamily="18" charset="0"/>
                          <a:cs typeface="Times New Roman" panose="02020603050405020304" pitchFamily="18" charset="0"/>
                        </a:rPr>
                        <a:t>150,000 borrowers; 10 numerical features (income, debt ratio, age, etc.); default label</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de-DE" sz="1100" dirty="0">
                          <a:effectLst/>
                          <a:latin typeface="Times New Roman" panose="02020603050405020304" pitchFamily="18" charset="0"/>
                          <a:cs typeface="Times New Roman" panose="02020603050405020304" pitchFamily="18" charset="0"/>
                        </a:rPr>
                        <a:t>Kozodoi et al. (2022)</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u="sng" dirty="0">
                          <a:effectLst/>
                          <a:latin typeface="Times New Roman" panose="02020603050405020304" pitchFamily="18" charset="0"/>
                          <a:cs typeface="Times New Roman" panose="02020603050405020304" pitchFamily="18" charset="0"/>
                          <a:hlinkClick r:id="rId6"/>
                        </a:rPr>
                        <a:t>Link</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8866503"/>
                  </a:ext>
                </a:extLst>
              </a:tr>
              <a:tr h="507455">
                <a:tc>
                  <a:txBody>
                    <a:bodyPr/>
                    <a:lstStyle/>
                    <a:p>
                      <a:pPr>
                        <a:buNone/>
                      </a:pPr>
                      <a:r>
                        <a:rPr lang="en-IN" sz="1100">
                          <a:effectLst/>
                          <a:latin typeface="Times New Roman" panose="02020603050405020304" pitchFamily="18" charset="0"/>
                          <a:cs typeface="Times New Roman" panose="02020603050405020304" pitchFamily="18" charset="0"/>
                        </a:rPr>
                        <a:t>Home Credit Default Risk</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a:effectLst/>
                          <a:latin typeface="Times New Roman" panose="02020603050405020304" pitchFamily="18" charset="0"/>
                          <a:cs typeface="Times New Roman" panose="02020603050405020304" pitchFamily="18" charset="0"/>
                        </a:rPr>
                        <a:t>Europe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100">
                          <a:effectLst/>
                          <a:latin typeface="Times New Roman" panose="02020603050405020304" pitchFamily="18" charset="0"/>
                          <a:cs typeface="Times New Roman" panose="02020603050405020304" pitchFamily="18" charset="0"/>
                        </a:rPr>
                        <a:t>307,511 loan applications; ~200 features (demographics, credit history, behavioral data)</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de-DE" sz="1100" dirty="0">
                          <a:effectLst/>
                          <a:latin typeface="Times New Roman" panose="02020603050405020304" pitchFamily="18" charset="0"/>
                          <a:cs typeface="Times New Roman" panose="02020603050405020304" pitchFamily="18" charset="0"/>
                        </a:rPr>
                        <a:t>Kozodoi et al. (2022)</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u="sng">
                          <a:effectLst/>
                          <a:latin typeface="Times New Roman" panose="02020603050405020304" pitchFamily="18" charset="0"/>
                          <a:cs typeface="Times New Roman" panose="02020603050405020304" pitchFamily="18" charset="0"/>
                          <a:hlinkClick r:id="rId7"/>
                        </a:rPr>
                        <a:t>Link</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29740217"/>
                  </a:ext>
                </a:extLst>
              </a:tr>
              <a:tr h="507455">
                <a:tc>
                  <a:txBody>
                    <a:bodyPr/>
                    <a:lstStyle/>
                    <a:p>
                      <a:pPr>
                        <a:buNone/>
                      </a:pPr>
                      <a:r>
                        <a:rPr lang="en-IN" sz="1100">
                          <a:effectLst/>
                          <a:latin typeface="Times New Roman" panose="02020603050405020304" pitchFamily="18" charset="0"/>
                          <a:cs typeface="Times New Roman" panose="02020603050405020304" pitchFamily="18" charset="0"/>
                        </a:rPr>
                        <a:t>PAKDD 2010 Credit Scoring</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a:effectLst/>
                          <a:latin typeface="Times New Roman" panose="02020603050405020304" pitchFamily="18" charset="0"/>
                          <a:cs typeface="Times New Roman" panose="02020603050405020304" pitchFamily="18" charset="0"/>
                        </a:rPr>
                        <a:t>Taiwan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100">
                          <a:effectLst/>
                          <a:latin typeface="Times New Roman" panose="02020603050405020304" pitchFamily="18" charset="0"/>
                          <a:cs typeface="Times New Roman" panose="02020603050405020304" pitchFamily="18" charset="0"/>
                        </a:rPr>
                        <a:t>~50,000 instances; 18 features; loan default prediction competition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de-DE" sz="1100" dirty="0">
                          <a:effectLst/>
                          <a:latin typeface="Times New Roman" panose="02020603050405020304" pitchFamily="18" charset="0"/>
                          <a:cs typeface="Times New Roman" panose="02020603050405020304" pitchFamily="18" charset="0"/>
                        </a:rPr>
                        <a:t>Kozodoi et al. (2022)</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u="sng" dirty="0">
                          <a:effectLst/>
                          <a:latin typeface="Times New Roman" panose="02020603050405020304" pitchFamily="18" charset="0"/>
                          <a:cs typeface="Times New Roman" panose="02020603050405020304" pitchFamily="18" charset="0"/>
                          <a:hlinkClick r:id="rId8"/>
                        </a:rPr>
                        <a:t>Link</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18216419"/>
                  </a:ext>
                </a:extLst>
              </a:tr>
              <a:tr h="507455">
                <a:tc>
                  <a:txBody>
                    <a:bodyPr/>
                    <a:lstStyle/>
                    <a:p>
                      <a:pPr>
                        <a:buNone/>
                      </a:pPr>
                      <a:r>
                        <a:rPr lang="en-US" sz="1100">
                          <a:effectLst/>
                          <a:latin typeface="Times New Roman" panose="02020603050405020304" pitchFamily="18" charset="0"/>
                          <a:cs typeface="Times New Roman" panose="02020603050405020304" pitchFamily="18" charset="0"/>
                        </a:rPr>
                        <a:t>Wilful Loan Defaulters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a:effectLst/>
                          <a:latin typeface="Times New Roman" panose="02020603050405020304" pitchFamily="18" charset="0"/>
                          <a:cs typeface="Times New Roman" panose="02020603050405020304" pitchFamily="18" charset="0"/>
                        </a:rPr>
                        <a:t>India</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100">
                          <a:effectLst/>
                          <a:latin typeface="Times New Roman" panose="02020603050405020304" pitchFamily="18" charset="0"/>
                          <a:cs typeface="Times New Roman" panose="02020603050405020304" pitchFamily="18" charset="0"/>
                        </a:rPr>
                        <a:t>Public lists (names, amounts, etc.) of loanees from Indian banks who are declared willful defaulters.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100">
                          <a:effectLst/>
                          <a:latin typeface="Times New Roman" panose="02020603050405020304" pitchFamily="18" charset="0"/>
                          <a:cs typeface="Times New Roman" panose="02020603050405020304" pitchFamily="18" charset="0"/>
                        </a:rPr>
                        <a:t>Jayadev &amp; Padma (2019)</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IN" sz="1100" u="sng" dirty="0">
                          <a:effectLst/>
                          <a:latin typeface="Times New Roman" panose="02020603050405020304" pitchFamily="18" charset="0"/>
                          <a:cs typeface="Times New Roman" panose="02020603050405020304" pitchFamily="18" charset="0"/>
                          <a:hlinkClick r:id="rId9"/>
                        </a:rPr>
                        <a:t>Link</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00225359"/>
                  </a:ext>
                </a:extLst>
              </a:tr>
            </a:tbl>
          </a:graphicData>
        </a:graphic>
      </p:graphicFrame>
    </p:spTree>
    <p:extLst>
      <p:ext uri="{BB962C8B-B14F-4D97-AF65-F5344CB8AC3E}">
        <p14:creationId xmlns:p14="http://schemas.microsoft.com/office/powerpoint/2010/main" val="266238694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3D419-A285-C6F4-C074-FBB86CC8075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1FBDF0-DE22-EB09-7E10-6302A9365858}"/>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19</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CCB6781-35F7-2FE4-C3F8-35481A9B5B4A}"/>
              </a:ext>
            </a:extLst>
          </p:cNvPr>
          <p:cNvSpPr>
            <a:spLocks noGrp="1"/>
          </p:cNvSpPr>
          <p:nvPr>
            <p:ph type="body" sz="quarter" idx="10"/>
          </p:nvPr>
        </p:nvSpPr>
        <p:spPr/>
        <p:txBody>
          <a:bodyPr/>
          <a:lstStyle/>
          <a:p>
            <a:r>
              <a:rPr lang="en-US" b="1" dirty="0"/>
              <a:t>High-Level Types of Variables in Credit Risk Research</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C8FA612B-7DBA-2497-081C-902C67DF00D0}"/>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3603B74-D18E-9889-E508-0FDA79147307}"/>
              </a:ext>
            </a:extLst>
          </p:cNvPr>
          <p:cNvSpPr txBox="1"/>
          <p:nvPr/>
        </p:nvSpPr>
        <p:spPr>
          <a:xfrm>
            <a:off x="838200" y="1143000"/>
            <a:ext cx="10767000" cy="792781"/>
          </a:xfrm>
          <a:prstGeom prst="rect">
            <a:avLst/>
          </a:prstGeom>
          <a:noFill/>
        </p:spPr>
        <p:txBody>
          <a:bodyPr wrap="square" rtlCol="0">
            <a:spAutoFit/>
          </a:bodyPr>
          <a:lstStyle/>
          <a:p>
            <a:pPr marL="342900" indent="-342900">
              <a:lnSpc>
                <a:spcPct val="150000"/>
              </a:lnSpc>
              <a:buFont typeface="+mj-lt"/>
              <a:buAutoNum type="arabicPeriod"/>
            </a:pPr>
            <a:r>
              <a:rPr lang="en-US" sz="1600" b="1" dirty="0"/>
              <a:t>Borrower- and transaction-level variables </a:t>
            </a:r>
            <a:r>
              <a:rPr lang="en-US" sz="1600" dirty="0"/>
              <a:t>(from open datasets like German, Taiwan Credit, AMEX  etc.).</a:t>
            </a:r>
          </a:p>
          <a:p>
            <a:pPr marL="342900" indent="-342900">
              <a:lnSpc>
                <a:spcPct val="150000"/>
              </a:lnSpc>
              <a:buFont typeface="+mj-lt"/>
              <a:buAutoNum type="arabicPeriod"/>
            </a:pPr>
            <a:r>
              <a:rPr lang="en-US" sz="1600" b="1" dirty="0"/>
              <a:t>Regulatory and Basel-defined variables </a:t>
            </a:r>
            <a:r>
              <a:rPr lang="en-US" sz="1600" dirty="0"/>
              <a:t>(exposure class, LTV, default flag, SME adjustment, etc.).</a:t>
            </a:r>
          </a:p>
        </p:txBody>
      </p:sp>
      <p:graphicFrame>
        <p:nvGraphicFramePr>
          <p:cNvPr id="8" name="Table 7">
            <a:extLst>
              <a:ext uri="{FF2B5EF4-FFF2-40B4-BE49-F238E27FC236}">
                <a16:creationId xmlns:a16="http://schemas.microsoft.com/office/drawing/2014/main" id="{E7E9099B-FEF1-03EF-5454-2617F29337C1}"/>
              </a:ext>
            </a:extLst>
          </p:cNvPr>
          <p:cNvGraphicFramePr>
            <a:graphicFrameLocks noGrp="1"/>
          </p:cNvGraphicFramePr>
          <p:nvPr>
            <p:extLst>
              <p:ext uri="{D42A27DB-BD31-4B8C-83A1-F6EECF244321}">
                <p14:modId xmlns:p14="http://schemas.microsoft.com/office/powerpoint/2010/main" val="1951767750"/>
              </p:ext>
            </p:extLst>
          </p:nvPr>
        </p:nvGraphicFramePr>
        <p:xfrm>
          <a:off x="914400" y="2295387"/>
          <a:ext cx="10210800" cy="3735139"/>
        </p:xfrm>
        <a:graphic>
          <a:graphicData uri="http://schemas.openxmlformats.org/drawingml/2006/table">
            <a:tbl>
              <a:tblPr>
                <a:tableStyleId>{616DA210-FB5B-4158-B5E0-FEB733F419BA}</a:tableStyleId>
              </a:tblPr>
              <a:tblGrid>
                <a:gridCol w="3124200">
                  <a:extLst>
                    <a:ext uri="{9D8B030D-6E8A-4147-A177-3AD203B41FA5}">
                      <a16:colId xmlns:a16="http://schemas.microsoft.com/office/drawing/2014/main" val="1897652100"/>
                    </a:ext>
                  </a:extLst>
                </a:gridCol>
                <a:gridCol w="7086600">
                  <a:extLst>
                    <a:ext uri="{9D8B030D-6E8A-4147-A177-3AD203B41FA5}">
                      <a16:colId xmlns:a16="http://schemas.microsoft.com/office/drawing/2014/main" val="4200664546"/>
                    </a:ext>
                  </a:extLst>
                </a:gridCol>
              </a:tblGrid>
              <a:tr h="237472">
                <a:tc>
                  <a:txBody>
                    <a:bodyPr/>
                    <a:lstStyle/>
                    <a:p>
                      <a:pPr>
                        <a:buNone/>
                      </a:pPr>
                      <a:r>
                        <a:rPr lang="en-IN" sz="1400" b="1"/>
                        <a:t>Category</a:t>
                      </a:r>
                      <a:endParaRPr lang="en-IN" sz="1400"/>
                    </a:p>
                  </a:txBody>
                  <a:tcPr marL="70183" marR="70183" marT="35091" marB="35091" anchor="ctr"/>
                </a:tc>
                <a:tc>
                  <a:txBody>
                    <a:bodyPr/>
                    <a:lstStyle/>
                    <a:p>
                      <a:pPr>
                        <a:buNone/>
                      </a:pPr>
                      <a:r>
                        <a:rPr lang="en-IN" sz="1400" b="1" dirty="0"/>
                        <a:t>Type of variables</a:t>
                      </a:r>
                      <a:endParaRPr lang="en-IN" sz="1400" dirty="0"/>
                    </a:p>
                  </a:txBody>
                  <a:tcPr marL="70183" marR="70183" marT="35091" marB="35091" anchor="ctr"/>
                </a:tc>
                <a:extLst>
                  <a:ext uri="{0D108BD9-81ED-4DB2-BD59-A6C34878D82A}">
                    <a16:rowId xmlns:a16="http://schemas.microsoft.com/office/drawing/2014/main" val="1088469643"/>
                  </a:ext>
                </a:extLst>
              </a:tr>
              <a:tr h="952246">
                <a:tc>
                  <a:txBody>
                    <a:bodyPr/>
                    <a:lstStyle/>
                    <a:p>
                      <a:pPr>
                        <a:buNone/>
                      </a:pPr>
                      <a:r>
                        <a:rPr lang="en-IN" sz="1400" b="1" dirty="0"/>
                        <a:t>Borrower / Application Characteristics</a:t>
                      </a:r>
                      <a:endParaRPr lang="en-IN" sz="1400" dirty="0"/>
                    </a:p>
                  </a:txBody>
                  <a:tcPr marL="70183" marR="70183" marT="35091" marB="35091" anchor="ctr"/>
                </a:tc>
                <a:tc>
                  <a:txBody>
                    <a:bodyPr/>
                    <a:lstStyle/>
                    <a:p>
                      <a:pPr marL="285750" indent="-285750">
                        <a:buFont typeface="Arial" panose="020B0604020202020204" pitchFamily="34" charset="0"/>
                        <a:buChar char="•"/>
                      </a:pPr>
                      <a:r>
                        <a:rPr lang="en-US" sz="1400" dirty="0"/>
                        <a:t>Demographics (age, gender, education, dependents, employment) </a:t>
                      </a:r>
                    </a:p>
                    <a:p>
                      <a:pPr marL="285750" indent="-285750">
                        <a:buFont typeface="Arial" panose="020B0604020202020204" pitchFamily="34" charset="0"/>
                        <a:buChar char="•"/>
                      </a:pPr>
                      <a:r>
                        <a:rPr lang="en-US" sz="1400" dirty="0"/>
                        <a:t>Financial attributes (income, debt ratio, savings, loan amounts) </a:t>
                      </a:r>
                    </a:p>
                    <a:p>
                      <a:pPr marL="285750" indent="-285750">
                        <a:buFont typeface="Arial" panose="020B0604020202020204" pitchFamily="34" charset="0"/>
                        <a:buChar char="•"/>
                      </a:pPr>
                      <a:r>
                        <a:rPr lang="en-US" sz="1400" dirty="0" err="1"/>
                        <a:t>Behavioural</a:t>
                      </a:r>
                      <a:r>
                        <a:rPr lang="en-US" sz="1400" dirty="0"/>
                        <a:t> data (credit history, repayment patterns, delinquencies, utilization of credit lines)</a:t>
                      </a:r>
                    </a:p>
                  </a:txBody>
                  <a:tcPr marL="70183" marR="70183" marT="35091" marB="35091" anchor="ctr"/>
                </a:tc>
                <a:extLst>
                  <a:ext uri="{0D108BD9-81ED-4DB2-BD59-A6C34878D82A}">
                    <a16:rowId xmlns:a16="http://schemas.microsoft.com/office/drawing/2014/main" val="2959563186"/>
                  </a:ext>
                </a:extLst>
              </a:tr>
              <a:tr h="952246">
                <a:tc>
                  <a:txBody>
                    <a:bodyPr/>
                    <a:lstStyle/>
                    <a:p>
                      <a:pPr>
                        <a:buNone/>
                      </a:pPr>
                      <a:r>
                        <a:rPr lang="en-IN" sz="1400" b="1" dirty="0"/>
                        <a:t>Transaction &amp; Account Features</a:t>
                      </a:r>
                      <a:endParaRPr lang="en-IN" sz="1400" dirty="0"/>
                    </a:p>
                  </a:txBody>
                  <a:tcPr marL="70183" marR="70183" marT="35091" marB="35091" anchor="ctr"/>
                </a:tc>
                <a:tc>
                  <a:txBody>
                    <a:bodyPr/>
                    <a:lstStyle/>
                    <a:p>
                      <a:pPr marL="285750" indent="-285750">
                        <a:buFont typeface="Arial" panose="020B0604020202020204" pitchFamily="34" charset="0"/>
                        <a:buChar char="•"/>
                      </a:pPr>
                      <a:r>
                        <a:rPr lang="en-US" sz="1400" dirty="0"/>
                        <a:t>Payment history (monthly bills, past dues, default indicators) </a:t>
                      </a:r>
                    </a:p>
                    <a:p>
                      <a:pPr marL="285750" indent="-285750">
                        <a:buFont typeface="Arial" panose="020B0604020202020204" pitchFamily="34" charset="0"/>
                        <a:buChar char="•"/>
                      </a:pPr>
                      <a:r>
                        <a:rPr lang="en-US" sz="1400" dirty="0"/>
                        <a:t>Credit product details (credit card limits, mortgage terms, installment plans) </a:t>
                      </a:r>
                    </a:p>
                    <a:p>
                      <a:pPr marL="285750" indent="-285750">
                        <a:buFont typeface="Arial" panose="020B0604020202020204" pitchFamily="34" charset="0"/>
                        <a:buChar char="•"/>
                      </a:pPr>
                      <a:r>
                        <a:rPr lang="en-US" sz="1400" dirty="0"/>
                        <a:t>Derived ratios (loan-to-value, revolving utilization, balance-to-risk measures)</a:t>
                      </a:r>
                    </a:p>
                  </a:txBody>
                  <a:tcPr marL="70183" marR="70183" marT="35091" marB="35091" anchor="ctr"/>
                </a:tc>
                <a:extLst>
                  <a:ext uri="{0D108BD9-81ED-4DB2-BD59-A6C34878D82A}">
                    <a16:rowId xmlns:a16="http://schemas.microsoft.com/office/drawing/2014/main" val="1656484918"/>
                  </a:ext>
                </a:extLst>
              </a:tr>
              <a:tr h="952246">
                <a:tc>
                  <a:txBody>
                    <a:bodyPr/>
                    <a:lstStyle/>
                    <a:p>
                      <a:pPr>
                        <a:buNone/>
                      </a:pPr>
                      <a:r>
                        <a:rPr lang="en-US" sz="1400" b="1" dirty="0"/>
                        <a:t>Regulatory Risk Drivers (Basel 3.1)</a:t>
                      </a:r>
                      <a:endParaRPr lang="en-US" sz="1400" dirty="0"/>
                    </a:p>
                  </a:txBody>
                  <a:tcPr marL="70183" marR="70183" marT="35091" marB="35091" anchor="ctr"/>
                </a:tc>
                <a:tc>
                  <a:txBody>
                    <a:bodyPr/>
                    <a:lstStyle/>
                    <a:p>
                      <a:pPr marL="285750" indent="-285750">
                        <a:buFont typeface="Arial" panose="020B0604020202020204" pitchFamily="34" charset="0"/>
                        <a:buChar char="•"/>
                      </a:pPr>
                      <a:r>
                        <a:rPr lang="en-IN" sz="1400" dirty="0"/>
                        <a:t>Exposure class (sovereign, bank, corporate, retail, real estate, equity) </a:t>
                      </a:r>
                    </a:p>
                    <a:p>
                      <a:pPr marL="285750" indent="-285750">
                        <a:buFont typeface="Arial" panose="020B0604020202020204" pitchFamily="34" charset="0"/>
                        <a:buChar char="•"/>
                      </a:pPr>
                      <a:r>
                        <a:rPr lang="en-IN" sz="1400" dirty="0"/>
                        <a:t>Collateral and guarantees SME adjustment Risk weight assignment (SA/IRB alignment) </a:t>
                      </a:r>
                    </a:p>
                    <a:p>
                      <a:pPr marL="285750" indent="-285750">
                        <a:buFont typeface="Arial" panose="020B0604020202020204" pitchFamily="34" charset="0"/>
                        <a:buChar char="•"/>
                      </a:pPr>
                      <a:r>
                        <a:rPr lang="en-IN" sz="1400" dirty="0"/>
                        <a:t>Default flag (90+ days overdue / unlikeliness to pay)</a:t>
                      </a:r>
                    </a:p>
                  </a:txBody>
                  <a:tcPr marL="70183" marR="70183" marT="35091" marB="35091" anchor="ctr"/>
                </a:tc>
                <a:extLst>
                  <a:ext uri="{0D108BD9-81ED-4DB2-BD59-A6C34878D82A}">
                    <a16:rowId xmlns:a16="http://schemas.microsoft.com/office/drawing/2014/main" val="2743457338"/>
                  </a:ext>
                </a:extLst>
              </a:tr>
              <a:tr h="594859">
                <a:tc>
                  <a:txBody>
                    <a:bodyPr/>
                    <a:lstStyle/>
                    <a:p>
                      <a:pPr>
                        <a:buNone/>
                      </a:pPr>
                      <a:r>
                        <a:rPr lang="en-IN" sz="1400" b="1" dirty="0"/>
                        <a:t>Supervisory Constraints &amp; Calibration</a:t>
                      </a:r>
                      <a:endParaRPr lang="en-IN" sz="1400" dirty="0"/>
                    </a:p>
                  </a:txBody>
                  <a:tcPr marL="70183" marR="70183" marT="35091" marB="35091" anchor="ctr"/>
                </a:tc>
                <a:tc>
                  <a:txBody>
                    <a:bodyPr/>
                    <a:lstStyle/>
                    <a:p>
                      <a:pPr marL="285750" indent="-285750">
                        <a:buFont typeface="Arial" panose="020B0604020202020204" pitchFamily="34" charset="0"/>
                        <a:buChar char="•"/>
                      </a:pPr>
                      <a:r>
                        <a:rPr lang="en-US" sz="1400" dirty="0"/>
                        <a:t>Unrated obligor indicators Output floor (72.5% on modelled RWAs) </a:t>
                      </a:r>
                    </a:p>
                    <a:p>
                      <a:pPr marL="285750" indent="-285750">
                        <a:buFont typeface="Arial" panose="020B0604020202020204" pitchFamily="34" charset="0"/>
                        <a:buChar char="•"/>
                      </a:pPr>
                      <a:r>
                        <a:rPr lang="en-US" sz="1400" dirty="0"/>
                        <a:t>Retail segmentation rules (residential mortgages, QRR, other retail)</a:t>
                      </a:r>
                    </a:p>
                  </a:txBody>
                  <a:tcPr marL="70183" marR="70183" marT="35091" marB="35091" anchor="ctr"/>
                </a:tc>
                <a:extLst>
                  <a:ext uri="{0D108BD9-81ED-4DB2-BD59-A6C34878D82A}">
                    <a16:rowId xmlns:a16="http://schemas.microsoft.com/office/drawing/2014/main" val="2292743370"/>
                  </a:ext>
                </a:extLst>
              </a:tr>
            </a:tbl>
          </a:graphicData>
        </a:graphic>
      </p:graphicFrame>
    </p:spTree>
    <p:extLst>
      <p:ext uri="{BB962C8B-B14F-4D97-AF65-F5344CB8AC3E}">
        <p14:creationId xmlns:p14="http://schemas.microsoft.com/office/powerpoint/2010/main" val="124216447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31764-08B9-1704-B3BF-568281FE85D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B1945E-ADBF-CD75-B4FE-A684E572613C}"/>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20</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26B41B5-444A-B234-AF56-A4827841F229}"/>
              </a:ext>
            </a:extLst>
          </p:cNvPr>
          <p:cNvSpPr>
            <a:spLocks noGrp="1"/>
          </p:cNvSpPr>
          <p:nvPr>
            <p:ph type="body" sz="quarter" idx="10"/>
          </p:nvPr>
        </p:nvSpPr>
        <p:spPr/>
        <p:txBody>
          <a:bodyPr/>
          <a:lstStyle/>
          <a:p>
            <a:r>
              <a:rPr lang="en-US" sz="3200" dirty="0">
                <a:solidFill>
                  <a:schemeClr val="tx1"/>
                </a:solidFill>
                <a:latin typeface="Times New Roman" panose="02020603050405020304" pitchFamily="18" charset="0"/>
                <a:cs typeface="Times New Roman" panose="02020603050405020304" pitchFamily="18" charset="0"/>
              </a:rPr>
              <a:t>Table 8: Variables Details: Datasets in Credit Risk Modelling</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664E0D24-3D36-B8B5-1447-68CE1F0E07A4}"/>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582114A1-6375-7249-7300-1D362317511B}"/>
              </a:ext>
            </a:extLst>
          </p:cNvPr>
          <p:cNvGraphicFramePr>
            <a:graphicFrameLocks noGrp="1"/>
          </p:cNvGraphicFramePr>
          <p:nvPr/>
        </p:nvGraphicFramePr>
        <p:xfrm>
          <a:off x="733816" y="1530562"/>
          <a:ext cx="10058401" cy="3796876"/>
        </p:xfrm>
        <a:graphic>
          <a:graphicData uri="http://schemas.openxmlformats.org/drawingml/2006/table">
            <a:tbl>
              <a:tblPr firstRow="1" bandRow="1">
                <a:tableStyleId>{5C22544A-7EE6-4342-B048-85BDC9FD1C3A}</a:tableStyleId>
              </a:tblPr>
              <a:tblGrid>
                <a:gridCol w="1454445">
                  <a:extLst>
                    <a:ext uri="{9D8B030D-6E8A-4147-A177-3AD203B41FA5}">
                      <a16:colId xmlns:a16="http://schemas.microsoft.com/office/drawing/2014/main" val="3189036634"/>
                    </a:ext>
                  </a:extLst>
                </a:gridCol>
                <a:gridCol w="679155">
                  <a:extLst>
                    <a:ext uri="{9D8B030D-6E8A-4147-A177-3AD203B41FA5}">
                      <a16:colId xmlns:a16="http://schemas.microsoft.com/office/drawing/2014/main" val="1578856624"/>
                    </a:ext>
                  </a:extLst>
                </a:gridCol>
                <a:gridCol w="5571135">
                  <a:extLst>
                    <a:ext uri="{9D8B030D-6E8A-4147-A177-3AD203B41FA5}">
                      <a16:colId xmlns:a16="http://schemas.microsoft.com/office/drawing/2014/main" val="959255518"/>
                    </a:ext>
                  </a:extLst>
                </a:gridCol>
                <a:gridCol w="2353666">
                  <a:extLst>
                    <a:ext uri="{9D8B030D-6E8A-4147-A177-3AD203B41FA5}">
                      <a16:colId xmlns:a16="http://schemas.microsoft.com/office/drawing/2014/main" val="3142884042"/>
                    </a:ext>
                  </a:extLst>
                </a:gridCol>
              </a:tblGrid>
              <a:tr h="402740">
                <a:tc>
                  <a:txBody>
                    <a:bodyPr/>
                    <a:lstStyle/>
                    <a:p>
                      <a:pPr>
                        <a:buNone/>
                      </a:pPr>
                      <a:r>
                        <a:rPr lang="en-US" sz="1050" dirty="0">
                          <a:effectLst/>
                          <a:latin typeface="Times New Roman" panose="02020603050405020304" pitchFamily="18" charset="0"/>
                          <a:cs typeface="Times New Roman" panose="02020603050405020304" pitchFamily="18" charset="0"/>
                        </a:rPr>
                        <a:t>Dataset</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buNone/>
                      </a:pPr>
                      <a:r>
                        <a:rPr lang="en-US" sz="1050">
                          <a:effectLst/>
                          <a:latin typeface="Times New Roman" panose="02020603050405020304" pitchFamily="18" charset="0"/>
                          <a:cs typeface="Times New Roman" panose="02020603050405020304" pitchFamily="18" charset="0"/>
                        </a:rPr>
                        <a:t>Country / Origin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buNone/>
                      </a:pPr>
                      <a:r>
                        <a:rPr lang="en-US" sz="1050">
                          <a:effectLst/>
                          <a:latin typeface="Times New Roman" panose="02020603050405020304" pitchFamily="18" charset="0"/>
                          <a:cs typeface="Times New Roman" panose="02020603050405020304" pitchFamily="18" charset="0"/>
                        </a:rPr>
                        <a:t>Input Variables (Columns)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buNone/>
                      </a:pPr>
                      <a:r>
                        <a:rPr lang="en-US" sz="1050">
                          <a:effectLst/>
                          <a:latin typeface="Times New Roman" panose="02020603050405020304" pitchFamily="18" charset="0"/>
                          <a:cs typeface="Times New Roman" panose="02020603050405020304" pitchFamily="18" charset="0"/>
                        </a:rPr>
                        <a:t>Output Variable</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594976933"/>
                  </a:ext>
                </a:extLst>
              </a:tr>
              <a:tr h="740356">
                <a:tc>
                  <a:txBody>
                    <a:bodyPr/>
                    <a:lstStyle/>
                    <a:p>
                      <a:pPr>
                        <a:buNone/>
                      </a:pPr>
                      <a:r>
                        <a:rPr lang="en-US" sz="1050">
                          <a:effectLst/>
                          <a:latin typeface="Times New Roman" panose="02020603050405020304" pitchFamily="18" charset="0"/>
                          <a:cs typeface="Times New Roman" panose="02020603050405020304" pitchFamily="18" charset="0"/>
                        </a:rPr>
                        <a:t>German Credit Data</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a:effectLst/>
                          <a:latin typeface="Times New Roman" panose="02020603050405020304" pitchFamily="18" charset="0"/>
                          <a:cs typeface="Times New Roman" panose="02020603050405020304" pitchFamily="18" charset="0"/>
                        </a:rPr>
                        <a:t>Germany</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dirty="0">
                          <a:effectLst/>
                          <a:latin typeface="Times New Roman" panose="02020603050405020304" pitchFamily="18" charset="0"/>
                          <a:cs typeface="Times New Roman" panose="02020603050405020304" pitchFamily="18" charset="0"/>
                        </a:rPr>
                        <a:t>20 inputs: Checking account status, Duration in months, Credit history, Purpose, Credit amount, Savings account/bonds, Employment since, Installment rate (% income), Personal status/sex, Other debtors/guarantors, Residence duration, Property, Age, Other installment plans, Housing, Existing credits, Job, Dependents, Telephone, Foreign worker</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a:effectLst/>
                          <a:latin typeface="Times New Roman" panose="02020603050405020304" pitchFamily="18" charset="0"/>
                          <a:cs typeface="Times New Roman" panose="02020603050405020304" pitchFamily="18" charset="0"/>
                        </a:rPr>
                        <a:t>Credit risk classification (good / bad)</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75247361"/>
                  </a:ext>
                </a:extLst>
              </a:tr>
              <a:tr h="402740">
                <a:tc>
                  <a:txBody>
                    <a:bodyPr/>
                    <a:lstStyle/>
                    <a:p>
                      <a:pPr>
                        <a:buNone/>
                      </a:pPr>
                      <a:r>
                        <a:rPr lang="en-US" sz="1050">
                          <a:effectLst/>
                          <a:latin typeface="Times New Roman" panose="02020603050405020304" pitchFamily="18" charset="0"/>
                          <a:cs typeface="Times New Roman" panose="02020603050405020304" pitchFamily="18" charset="0"/>
                        </a:rPr>
                        <a:t>Australian Credit Approval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a:effectLst/>
                          <a:latin typeface="Times New Roman" panose="02020603050405020304" pitchFamily="18" charset="0"/>
                          <a:cs typeface="Times New Roman" panose="02020603050405020304" pitchFamily="18" charset="0"/>
                        </a:rPr>
                        <a:t>Australia</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dirty="0">
                          <a:effectLst/>
                          <a:latin typeface="Times New Roman" panose="02020603050405020304" pitchFamily="18" charset="0"/>
                          <a:cs typeface="Times New Roman" panose="02020603050405020304" pitchFamily="18" charset="0"/>
                        </a:rPr>
                        <a:t>14 anonymised attributes (A1–A14); a mix of categorical and numeric variables.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a:effectLst/>
                          <a:latin typeface="Times New Roman" panose="02020603050405020304" pitchFamily="18" charset="0"/>
                          <a:cs typeface="Times New Roman" panose="02020603050405020304" pitchFamily="18" charset="0"/>
                        </a:rPr>
                        <a:t>Credit approval decision (approved / rejected)</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6032730"/>
                  </a:ext>
                </a:extLst>
              </a:tr>
              <a:tr h="402740">
                <a:tc>
                  <a:txBody>
                    <a:bodyPr/>
                    <a:lstStyle/>
                    <a:p>
                      <a:pPr>
                        <a:buNone/>
                      </a:pPr>
                      <a:r>
                        <a:rPr lang="en-US" sz="1050">
                          <a:effectLst/>
                          <a:latin typeface="Times New Roman" panose="02020603050405020304" pitchFamily="18" charset="0"/>
                          <a:cs typeface="Times New Roman" panose="02020603050405020304" pitchFamily="18" charset="0"/>
                        </a:rPr>
                        <a:t>AMEX Default Prediction </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a:effectLst/>
                          <a:latin typeface="Times New Roman" panose="02020603050405020304" pitchFamily="18" charset="0"/>
                          <a:cs typeface="Times New Roman" panose="02020603050405020304" pitchFamily="18" charset="0"/>
                        </a:rPr>
                        <a:t>USA</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dirty="0">
                          <a:effectLst/>
                          <a:latin typeface="Times New Roman" panose="02020603050405020304" pitchFamily="18" charset="0"/>
                          <a:cs typeface="Times New Roman" panose="02020603050405020304" pitchFamily="18" charset="0"/>
                        </a:rPr>
                        <a:t>~190 anonymised features grouped into categories: D_* (delinquency), S_* (spend), P_* (payment), B_* (balance), R_* (risk). Features are temporal (monthly profiles).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a:effectLst/>
                          <a:latin typeface="Times New Roman" panose="02020603050405020304" pitchFamily="18" charset="0"/>
                          <a:cs typeface="Times New Roman" panose="02020603050405020304" pitchFamily="18" charset="0"/>
                        </a:rPr>
                        <a:t>Binary default indicator (1 = default, 0 = non-default)</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88469284"/>
                  </a:ext>
                </a:extLst>
              </a:tr>
              <a:tr h="402740">
                <a:tc>
                  <a:txBody>
                    <a:bodyPr/>
                    <a:lstStyle/>
                    <a:p>
                      <a:pPr>
                        <a:buNone/>
                      </a:pPr>
                      <a:r>
                        <a:rPr lang="en-US" sz="1050">
                          <a:effectLst/>
                          <a:latin typeface="Times New Roman" panose="02020603050405020304" pitchFamily="18" charset="0"/>
                          <a:cs typeface="Times New Roman" panose="02020603050405020304" pitchFamily="18" charset="0"/>
                        </a:rPr>
                        <a:t>Default of Credit Card Clients </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a:effectLst/>
                          <a:latin typeface="Times New Roman" panose="02020603050405020304" pitchFamily="18" charset="0"/>
                          <a:cs typeface="Times New Roman" panose="02020603050405020304" pitchFamily="18" charset="0"/>
                        </a:rPr>
                        <a:t>Taiwan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dirty="0">
                          <a:effectLst/>
                          <a:latin typeface="Times New Roman" panose="02020603050405020304" pitchFamily="18" charset="0"/>
                          <a:cs typeface="Times New Roman" panose="02020603050405020304" pitchFamily="18" charset="0"/>
                        </a:rPr>
                        <a:t>23 inputs: </a:t>
                      </a:r>
                      <a:r>
                        <a:rPr lang="en-US" sz="1050" dirty="0" err="1">
                          <a:effectLst/>
                          <a:latin typeface="Times New Roman" panose="02020603050405020304" pitchFamily="18" charset="0"/>
                          <a:cs typeface="Times New Roman" panose="02020603050405020304" pitchFamily="18" charset="0"/>
                        </a:rPr>
                        <a:t>Limit_bal</a:t>
                      </a:r>
                      <a:r>
                        <a:rPr lang="en-US" sz="1050" dirty="0">
                          <a:effectLst/>
                          <a:latin typeface="Times New Roman" panose="02020603050405020304" pitchFamily="18" charset="0"/>
                          <a:cs typeface="Times New Roman" panose="02020603050405020304" pitchFamily="18" charset="0"/>
                        </a:rPr>
                        <a:t>, Gender, Education, Marriage status, Age, Pay_0–Pay_6 (repayment status for past 6 months), Bill_Amt1–Bill_Amt6 (bill amounts), Pay_Aamt1–Pay_Amt6 (payment amounts)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a:effectLst/>
                          <a:latin typeface="Times New Roman" panose="02020603050405020304" pitchFamily="18" charset="0"/>
                          <a:cs typeface="Times New Roman" panose="02020603050405020304" pitchFamily="18" charset="0"/>
                        </a:rPr>
                        <a:t>default.payment.next.month (1 = default, 0 = no default)</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00882732"/>
                  </a:ext>
                </a:extLst>
              </a:tr>
              <a:tr h="555266">
                <a:tc>
                  <a:txBody>
                    <a:bodyPr/>
                    <a:lstStyle/>
                    <a:p>
                      <a:pPr>
                        <a:buNone/>
                      </a:pPr>
                      <a:r>
                        <a:rPr lang="en-IN" sz="1050">
                          <a:effectLst/>
                          <a:latin typeface="Times New Roman" panose="02020603050405020304" pitchFamily="18" charset="0"/>
                          <a:cs typeface="Times New Roman" panose="02020603050405020304" pitchFamily="18" charset="0"/>
                        </a:rPr>
                        <a:t>Credit borrowers’ data</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a:effectLst/>
                          <a:latin typeface="Times New Roman" panose="02020603050405020304" pitchFamily="18" charset="0"/>
                          <a:cs typeface="Times New Roman" panose="02020603050405020304" pitchFamily="18" charset="0"/>
                        </a:rPr>
                        <a:t>USA</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dirty="0">
                          <a:effectLst/>
                          <a:latin typeface="Times New Roman" panose="02020603050405020304" pitchFamily="18" charset="0"/>
                          <a:cs typeface="Times New Roman" panose="02020603050405020304" pitchFamily="18" charset="0"/>
                        </a:rPr>
                        <a:t>10 inputs: </a:t>
                      </a:r>
                      <a:r>
                        <a:rPr lang="en-US" sz="1050" dirty="0" err="1">
                          <a:effectLst/>
                          <a:latin typeface="Times New Roman" panose="02020603050405020304" pitchFamily="18" charset="0"/>
                          <a:cs typeface="Times New Roman" panose="02020603050405020304" pitchFamily="18" charset="0"/>
                        </a:rPr>
                        <a:t>RevolvingUtilizationOfUnsecuredLines</a:t>
                      </a:r>
                      <a:r>
                        <a:rPr lang="en-US" sz="1050" dirty="0">
                          <a:effectLst/>
                          <a:latin typeface="Times New Roman" panose="02020603050405020304" pitchFamily="18" charset="0"/>
                          <a:cs typeface="Times New Roman" panose="02020603050405020304" pitchFamily="18" charset="0"/>
                        </a:rPr>
                        <a:t>, age, NumberOfTime30-59DaysPastDueNotWorse, </a:t>
                      </a:r>
                      <a:r>
                        <a:rPr lang="en-US" sz="1050" dirty="0" err="1">
                          <a:effectLst/>
                          <a:latin typeface="Times New Roman" panose="02020603050405020304" pitchFamily="18" charset="0"/>
                          <a:cs typeface="Times New Roman" panose="02020603050405020304" pitchFamily="18" charset="0"/>
                        </a:rPr>
                        <a:t>DebtRatio</a:t>
                      </a:r>
                      <a:r>
                        <a:rPr lang="en-US" sz="1050" dirty="0">
                          <a:effectLst/>
                          <a:latin typeface="Times New Roman" panose="02020603050405020304" pitchFamily="18" charset="0"/>
                          <a:cs typeface="Times New Roman" panose="02020603050405020304" pitchFamily="18" charset="0"/>
                        </a:rPr>
                        <a:t>, </a:t>
                      </a:r>
                      <a:r>
                        <a:rPr lang="en-US" sz="1050" dirty="0" err="1">
                          <a:effectLst/>
                          <a:latin typeface="Times New Roman" panose="02020603050405020304" pitchFamily="18" charset="0"/>
                          <a:cs typeface="Times New Roman" panose="02020603050405020304" pitchFamily="18" charset="0"/>
                        </a:rPr>
                        <a:t>MonthlyIncome</a:t>
                      </a:r>
                      <a:r>
                        <a:rPr lang="en-US" sz="1050" dirty="0">
                          <a:effectLst/>
                          <a:latin typeface="Times New Roman" panose="02020603050405020304" pitchFamily="18" charset="0"/>
                          <a:cs typeface="Times New Roman" panose="02020603050405020304" pitchFamily="18" charset="0"/>
                        </a:rPr>
                        <a:t>, </a:t>
                      </a:r>
                      <a:r>
                        <a:rPr lang="en-US" sz="1050" dirty="0" err="1">
                          <a:effectLst/>
                          <a:latin typeface="Times New Roman" panose="02020603050405020304" pitchFamily="18" charset="0"/>
                          <a:cs typeface="Times New Roman" panose="02020603050405020304" pitchFamily="18" charset="0"/>
                        </a:rPr>
                        <a:t>NumberOfOpenCreditLinesAndLoans</a:t>
                      </a:r>
                      <a:r>
                        <a:rPr lang="en-US" sz="1050" dirty="0">
                          <a:effectLst/>
                          <a:latin typeface="Times New Roman" panose="02020603050405020304" pitchFamily="18" charset="0"/>
                          <a:cs typeface="Times New Roman" panose="02020603050405020304" pitchFamily="18" charset="0"/>
                        </a:rPr>
                        <a:t>, NumberOfTimes90DaysLate, </a:t>
                      </a:r>
                      <a:r>
                        <a:rPr lang="en-US" sz="1050" dirty="0" err="1">
                          <a:effectLst/>
                          <a:latin typeface="Times New Roman" panose="02020603050405020304" pitchFamily="18" charset="0"/>
                          <a:cs typeface="Times New Roman" panose="02020603050405020304" pitchFamily="18" charset="0"/>
                        </a:rPr>
                        <a:t>NumberRealEstateLoansOrLines</a:t>
                      </a:r>
                      <a:r>
                        <a:rPr lang="en-US" sz="1050" dirty="0">
                          <a:effectLst/>
                          <a:latin typeface="Times New Roman" panose="02020603050405020304" pitchFamily="18" charset="0"/>
                          <a:cs typeface="Times New Roman" panose="02020603050405020304" pitchFamily="18" charset="0"/>
                        </a:rPr>
                        <a:t>, NumberOfTime60-89DaysPastDueNotWorse, </a:t>
                      </a:r>
                      <a:r>
                        <a:rPr lang="en-US" sz="1050" dirty="0" err="1">
                          <a:effectLst/>
                          <a:latin typeface="Times New Roman" panose="02020603050405020304" pitchFamily="18" charset="0"/>
                          <a:cs typeface="Times New Roman" panose="02020603050405020304" pitchFamily="18" charset="0"/>
                        </a:rPr>
                        <a:t>NumberOfDependents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dirty="0">
                          <a:effectLst/>
                          <a:latin typeface="Times New Roman" panose="02020603050405020304" pitchFamily="18" charset="0"/>
                          <a:cs typeface="Times New Roman" panose="02020603050405020304" pitchFamily="18" charset="0"/>
                        </a:rPr>
                        <a:t>Serious delinquency within 2 years (SeriousDlqin2yrs)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90465331"/>
                  </a:ext>
                </a:extLst>
              </a:tr>
              <a:tr h="402740">
                <a:tc>
                  <a:txBody>
                    <a:bodyPr/>
                    <a:lstStyle/>
                    <a:p>
                      <a:pPr>
                        <a:buNone/>
                      </a:pPr>
                      <a:r>
                        <a:rPr lang="en-US" sz="1050">
                          <a:effectLst/>
                          <a:latin typeface="Times New Roman" panose="02020603050405020304" pitchFamily="18" charset="0"/>
                          <a:cs typeface="Times New Roman" panose="02020603050405020304" pitchFamily="18" charset="0"/>
                        </a:rPr>
                        <a:t>Home Credit Default Risk </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a:effectLst/>
                          <a:latin typeface="Times New Roman" panose="02020603050405020304" pitchFamily="18" charset="0"/>
                          <a:cs typeface="Times New Roman" panose="02020603050405020304" pitchFamily="18" charset="0"/>
                        </a:rPr>
                        <a:t>Europe</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dirty="0">
                          <a:effectLst/>
                          <a:latin typeface="Times New Roman" panose="02020603050405020304" pitchFamily="18" charset="0"/>
                          <a:cs typeface="Times New Roman" panose="02020603050405020304" pitchFamily="18" charset="0"/>
                        </a:rPr>
                        <a:t>~122 static application features (e.g., demographics, income, loan terms, credit history, external risk scores) plus derived features from related tables (bureau history, previous applications, balances, etc.)</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dirty="0">
                          <a:effectLst/>
                          <a:latin typeface="Times New Roman" panose="02020603050405020304" pitchFamily="18" charset="0"/>
                          <a:cs typeface="Times New Roman" panose="02020603050405020304" pitchFamily="18" charset="0"/>
                        </a:rPr>
                        <a:t>TARGET — whether applicant will default or not (binary)</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98106018"/>
                  </a:ext>
                </a:extLst>
              </a:tr>
              <a:tr h="402740">
                <a:tc>
                  <a:txBody>
                    <a:bodyPr/>
                    <a:lstStyle/>
                    <a:p>
                      <a:pPr>
                        <a:buNone/>
                      </a:pPr>
                      <a:r>
                        <a:rPr lang="en-US" sz="1050">
                          <a:effectLst/>
                          <a:latin typeface="Times New Roman" panose="02020603050405020304" pitchFamily="18" charset="0"/>
                          <a:cs typeface="Times New Roman" panose="02020603050405020304" pitchFamily="18" charset="0"/>
                        </a:rPr>
                        <a:t>India Wilful Loan Defaulters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a:effectLst/>
                          <a:latin typeface="Times New Roman" panose="02020603050405020304" pitchFamily="18" charset="0"/>
                          <a:cs typeface="Times New Roman" panose="02020603050405020304" pitchFamily="18" charset="0"/>
                        </a:rPr>
                        <a:t>India</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dirty="0">
                          <a:effectLst/>
                          <a:latin typeface="Times New Roman" panose="02020603050405020304" pitchFamily="18" charset="0"/>
                          <a:cs typeface="Times New Roman" panose="02020603050405020304" pitchFamily="18" charset="0"/>
                        </a:rPr>
                        <a:t>Basic exposure info: Defaulter name, Bank name, Amount owed</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US" sz="1050" dirty="0" err="1">
                          <a:effectLst/>
                          <a:latin typeface="Times New Roman" panose="02020603050405020304" pitchFamily="18" charset="0"/>
                          <a:cs typeface="Times New Roman" panose="02020603050405020304" pitchFamily="18" charset="0"/>
                        </a:rPr>
                        <a:t>Wilful</a:t>
                      </a:r>
                      <a:r>
                        <a:rPr lang="en-US" sz="1050" dirty="0">
                          <a:effectLst/>
                          <a:latin typeface="Times New Roman" panose="02020603050405020304" pitchFamily="18" charset="0"/>
                          <a:cs typeface="Times New Roman" panose="02020603050405020304" pitchFamily="18" charset="0"/>
                        </a:rPr>
                        <a:t> default status (all records are defaults)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59055017"/>
                  </a:ext>
                </a:extLst>
              </a:tr>
            </a:tbl>
          </a:graphicData>
        </a:graphic>
      </p:graphicFrame>
    </p:spTree>
    <p:extLst>
      <p:ext uri="{BB962C8B-B14F-4D97-AF65-F5344CB8AC3E}">
        <p14:creationId xmlns:p14="http://schemas.microsoft.com/office/powerpoint/2010/main" val="321406829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279F3-F5C6-17CD-C96C-4092A6DBB47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27BD0D-334F-0C1A-E097-EA5CD499847B}"/>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21</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07896A0-E0C4-B1B0-01C2-2192F013FAB2}"/>
              </a:ext>
            </a:extLst>
          </p:cNvPr>
          <p:cNvSpPr>
            <a:spLocks noGrp="1"/>
          </p:cNvSpPr>
          <p:nvPr>
            <p:ph type="body" sz="quarter" idx="10"/>
          </p:nvPr>
        </p:nvSpPr>
        <p:spPr/>
        <p:txBody>
          <a:bodyPr/>
          <a:lstStyle/>
          <a:p>
            <a:r>
              <a:rPr lang="en-US" sz="3200" dirty="0">
                <a:solidFill>
                  <a:schemeClr val="tx1"/>
                </a:solidFill>
                <a:latin typeface="Times New Roman" panose="02020603050405020304" pitchFamily="18" charset="0"/>
                <a:cs typeface="Times New Roman" panose="02020603050405020304" pitchFamily="18" charset="0"/>
              </a:rPr>
              <a:t>Table 9: Variables Details: Regulatory variables</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9C0772C8-88D2-9710-C70C-2E65846CC977}"/>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F267EB3-D33D-7113-A439-BFFDB61D555A}"/>
              </a:ext>
            </a:extLst>
          </p:cNvPr>
          <p:cNvGraphicFramePr>
            <a:graphicFrameLocks noGrp="1"/>
          </p:cNvGraphicFramePr>
          <p:nvPr>
            <p:extLst>
              <p:ext uri="{D42A27DB-BD31-4B8C-83A1-F6EECF244321}">
                <p14:modId xmlns:p14="http://schemas.microsoft.com/office/powerpoint/2010/main" val="3418952416"/>
              </p:ext>
            </p:extLst>
          </p:nvPr>
        </p:nvGraphicFramePr>
        <p:xfrm>
          <a:off x="838200" y="1524000"/>
          <a:ext cx="9982201" cy="4046921"/>
        </p:xfrm>
        <a:graphic>
          <a:graphicData uri="http://schemas.openxmlformats.org/drawingml/2006/table">
            <a:tbl>
              <a:tblPr firstRow="1" bandRow="1">
                <a:tableStyleId>{5C22544A-7EE6-4342-B048-85BDC9FD1C3A}</a:tableStyleId>
              </a:tblPr>
              <a:tblGrid>
                <a:gridCol w="2595372">
                  <a:extLst>
                    <a:ext uri="{9D8B030D-6E8A-4147-A177-3AD203B41FA5}">
                      <a16:colId xmlns:a16="http://schemas.microsoft.com/office/drawing/2014/main" val="1557092267"/>
                    </a:ext>
                  </a:extLst>
                </a:gridCol>
                <a:gridCol w="4317302">
                  <a:extLst>
                    <a:ext uri="{9D8B030D-6E8A-4147-A177-3AD203B41FA5}">
                      <a16:colId xmlns:a16="http://schemas.microsoft.com/office/drawing/2014/main" val="4210030046"/>
                    </a:ext>
                  </a:extLst>
                </a:gridCol>
                <a:gridCol w="3069527">
                  <a:extLst>
                    <a:ext uri="{9D8B030D-6E8A-4147-A177-3AD203B41FA5}">
                      <a16:colId xmlns:a16="http://schemas.microsoft.com/office/drawing/2014/main" val="148760624"/>
                    </a:ext>
                  </a:extLst>
                </a:gridCol>
              </a:tblGrid>
              <a:tr h="201418">
                <a:tc>
                  <a:txBody>
                    <a:bodyPr/>
                    <a:lstStyle/>
                    <a:p>
                      <a:pPr indent="457200" algn="l">
                        <a:lnSpc>
                          <a:spcPct val="105000"/>
                        </a:lnSpc>
                        <a:spcAft>
                          <a:spcPts val="800"/>
                        </a:spcAft>
                        <a:buNone/>
                      </a:pPr>
                      <a:r>
                        <a:rPr lang="en-IN" sz="1400" kern="100">
                          <a:effectLst/>
                          <a:latin typeface="Times New Roman" panose="02020603050405020304" pitchFamily="18" charset="0"/>
                          <a:cs typeface="Times New Roman" panose="02020603050405020304" pitchFamily="18" charset="0"/>
                        </a:rPr>
                        <a:t>Variable</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indent="457200" algn="l">
                        <a:lnSpc>
                          <a:spcPct val="105000"/>
                        </a:lnSpc>
                        <a:spcAft>
                          <a:spcPts val="800"/>
                        </a:spcAft>
                        <a:buNone/>
                      </a:pPr>
                      <a:r>
                        <a:rPr lang="en-IN" sz="1400" kern="100" dirty="0">
                          <a:effectLst/>
                          <a:latin typeface="Times New Roman" panose="02020603050405020304" pitchFamily="18" charset="0"/>
                          <a:cs typeface="Times New Roman" panose="02020603050405020304" pitchFamily="18" charset="0"/>
                        </a:rPr>
                        <a:t>Description</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indent="457200" algn="l">
                        <a:lnSpc>
                          <a:spcPct val="105000"/>
                        </a:lnSpc>
                        <a:spcAft>
                          <a:spcPts val="800"/>
                        </a:spcAft>
                        <a:buNone/>
                      </a:pPr>
                      <a:r>
                        <a:rPr lang="en-IN" sz="1400" kern="100">
                          <a:effectLst/>
                          <a:latin typeface="Times New Roman" panose="02020603050405020304" pitchFamily="18" charset="0"/>
                          <a:cs typeface="Times New Roman" panose="02020603050405020304" pitchFamily="18" charset="0"/>
                        </a:rPr>
                        <a:t>Purpose in Study</a:t>
                      </a:r>
                      <a:endParaRPr lang="en-IN"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66612805"/>
                  </a:ext>
                </a:extLst>
              </a:tr>
              <a:tr h="411316">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Exposure Class</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Sovereign, Bank, Corporate, Retail, Real Estate, Equity</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Segments borrower-level exposures per Basel rules</a:t>
                      </a:r>
                    </a:p>
                  </a:txBody>
                  <a:tcPr marL="68580" marR="68580" marT="0" marB="0"/>
                </a:tc>
                <a:extLst>
                  <a:ext uri="{0D108BD9-81ED-4DB2-BD59-A6C34878D82A}">
                    <a16:rowId xmlns:a16="http://schemas.microsoft.com/office/drawing/2014/main" val="3723015649"/>
                  </a:ext>
                </a:extLst>
              </a:tr>
              <a:tr h="411316">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Loan-to-Value (LTV) Bucket</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Ratios: e.g., ≤50%, 50–60%, 60–80%, &gt;80%</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Determines RWA for real estate exposures</a:t>
                      </a:r>
                    </a:p>
                  </a:txBody>
                  <a:tcPr marL="68580" marR="68580" marT="0" marB="0"/>
                </a:tc>
                <a:extLst>
                  <a:ext uri="{0D108BD9-81ED-4DB2-BD59-A6C34878D82A}">
                    <a16:rowId xmlns:a16="http://schemas.microsoft.com/office/drawing/2014/main" val="1591397482"/>
                  </a:ext>
                </a:extLst>
              </a:tr>
              <a:tr h="411316">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Default Flag (Basel Definition)</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“90+ days past due” or “unlikeliness to pay”</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Aligns predictive defaults with regulatory definition</a:t>
                      </a:r>
                    </a:p>
                  </a:txBody>
                  <a:tcPr marL="68580" marR="68580" marT="0" marB="0"/>
                </a:tc>
                <a:extLst>
                  <a:ext uri="{0D108BD9-81ED-4DB2-BD59-A6C34878D82A}">
                    <a16:rowId xmlns:a16="http://schemas.microsoft.com/office/drawing/2014/main" val="622710746"/>
                  </a:ext>
                </a:extLst>
              </a:tr>
              <a:tr h="411316">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Unrated Obligor Indicator</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Flags exposures without external ratings</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dirty="0">
                          <a:solidFill>
                            <a:schemeClr val="dk1"/>
                          </a:solidFill>
                          <a:effectLst/>
                          <a:latin typeface="Times New Roman" panose="02020603050405020304" pitchFamily="18" charset="0"/>
                          <a:ea typeface="+mn-ea"/>
                          <a:cs typeface="Times New Roman" panose="02020603050405020304" pitchFamily="18" charset="0"/>
                        </a:rPr>
                        <a:t>Triggers prescribed risk weights</a:t>
                      </a:r>
                    </a:p>
                  </a:txBody>
                  <a:tcPr marL="68580" marR="68580" marT="0" marB="0"/>
                </a:tc>
                <a:extLst>
                  <a:ext uri="{0D108BD9-81ED-4DB2-BD59-A6C34878D82A}">
                    <a16:rowId xmlns:a16="http://schemas.microsoft.com/office/drawing/2014/main" val="2593771194"/>
                  </a:ext>
                </a:extLst>
              </a:tr>
              <a:tr h="411316">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SME Adjustment</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Applies lower risk weights for qualifying SME retail</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Tests fairness + Basel compliance</a:t>
                      </a:r>
                    </a:p>
                  </a:txBody>
                  <a:tcPr marL="68580" marR="68580" marT="0" marB="0"/>
                </a:tc>
                <a:extLst>
                  <a:ext uri="{0D108BD9-81ED-4DB2-BD59-A6C34878D82A}">
                    <a16:rowId xmlns:a16="http://schemas.microsoft.com/office/drawing/2014/main" val="1505452874"/>
                  </a:ext>
                </a:extLst>
              </a:tr>
              <a:tr h="411316">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Collateral / Guarantee Recognition</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Identifies secured vs unsecured exposures</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Adjusts RWAs based on credit risk mitigation</a:t>
                      </a:r>
                    </a:p>
                  </a:txBody>
                  <a:tcPr marL="68580" marR="68580" marT="0" marB="0"/>
                </a:tc>
                <a:extLst>
                  <a:ext uri="{0D108BD9-81ED-4DB2-BD59-A6C34878D82A}">
                    <a16:rowId xmlns:a16="http://schemas.microsoft.com/office/drawing/2014/main" val="104392530"/>
                  </a:ext>
                </a:extLst>
              </a:tr>
              <a:tr h="411316">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Risk Weight Assignment</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Numeric % based on exposure class + LTV</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Computes final RWA from borrower outputs</a:t>
                      </a:r>
                    </a:p>
                  </a:txBody>
                  <a:tcPr marL="68580" marR="68580" marT="0" marB="0"/>
                </a:tc>
                <a:extLst>
                  <a:ext uri="{0D108BD9-81ED-4DB2-BD59-A6C34878D82A}">
                    <a16:rowId xmlns:a16="http://schemas.microsoft.com/office/drawing/2014/main" val="3909044445"/>
                  </a:ext>
                </a:extLst>
              </a:tr>
              <a:tr h="201418">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Output Floor Variable</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72.5% floor on modelled RWAs</a:t>
                      </a:r>
                    </a:p>
                  </a:txBody>
                  <a:tcPr marL="68580" marR="68580" marT="0" marB="0"/>
                </a:tc>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Reconciles IRB vs SA comparability</a:t>
                      </a:r>
                    </a:p>
                  </a:txBody>
                  <a:tcPr marL="68580" marR="68580" marT="0" marB="0"/>
                </a:tc>
                <a:extLst>
                  <a:ext uri="{0D108BD9-81ED-4DB2-BD59-A6C34878D82A}">
                    <a16:rowId xmlns:a16="http://schemas.microsoft.com/office/drawing/2014/main" val="1108858848"/>
                  </a:ext>
                </a:extLst>
              </a:tr>
              <a:tr h="756550">
                <a:tc>
                  <a:txBody>
                    <a:bodyPr/>
                    <a:lstStyle/>
                    <a:p>
                      <a:pPr marL="0" indent="0" algn="l" defTabSz="914400" rtl="0" eaLnBrk="1" latinLnBrk="0" hangingPunct="1">
                        <a:lnSpc>
                          <a:spcPct val="105000"/>
                        </a:lnSpc>
                        <a:spcAft>
                          <a:spcPts val="800"/>
                        </a:spcAft>
                        <a:buNone/>
                      </a:pPr>
                      <a:r>
                        <a:rPr lang="en-IN" sz="1200" kern="1200">
                          <a:solidFill>
                            <a:schemeClr val="dk1"/>
                          </a:solidFill>
                          <a:effectLst/>
                          <a:latin typeface="Times New Roman" panose="02020603050405020304" pitchFamily="18" charset="0"/>
                          <a:ea typeface="+mn-ea"/>
                          <a:cs typeface="Times New Roman" panose="02020603050405020304" pitchFamily="18" charset="0"/>
                        </a:rPr>
                        <a:t>Retail Exposure Segmentation</a:t>
                      </a:r>
                    </a:p>
                  </a:txBody>
                  <a:tcPr marL="68580" marR="68580" marT="0" marB="0" anchor="ctr"/>
                </a:tc>
                <a:tc>
                  <a:txBody>
                    <a:bodyPr/>
                    <a:lstStyle/>
                    <a:p>
                      <a:pPr marL="0" indent="0" algn="l" defTabSz="914400" rtl="0" eaLnBrk="1" latinLnBrk="0" hangingPunct="1">
                        <a:lnSpc>
                          <a:spcPct val="105000"/>
                        </a:lnSpc>
                        <a:spcAft>
                          <a:spcPts val="800"/>
                        </a:spcAft>
                        <a:buNone/>
                      </a:pPr>
                      <a:r>
                        <a:rPr lang="en-IN" sz="1200" kern="1200" dirty="0">
                          <a:solidFill>
                            <a:schemeClr val="dk1"/>
                          </a:solidFill>
                          <a:effectLst/>
                          <a:latin typeface="Times New Roman" panose="02020603050405020304" pitchFamily="18" charset="0"/>
                          <a:ea typeface="+mn-ea"/>
                          <a:cs typeface="Times New Roman" panose="02020603050405020304" pitchFamily="18" charset="0"/>
                        </a:rPr>
                        <a:t>Classifies exposures into regulatory retail categories: Residential mortgages, Qualifying revolving retail (QRR, e.g. credit cards), and Other retail. Includes SME retail adjustment.</a:t>
                      </a:r>
                    </a:p>
                  </a:txBody>
                  <a:tcPr marL="68580" marR="68580" marT="0" marB="0" anchor="ctr"/>
                </a:tc>
                <a:tc>
                  <a:txBody>
                    <a:bodyPr/>
                    <a:lstStyle/>
                    <a:p>
                      <a:pPr marL="0" indent="0" algn="l" defTabSz="914400" rtl="0" eaLnBrk="1" latinLnBrk="0" hangingPunct="1">
                        <a:lnSpc>
                          <a:spcPct val="105000"/>
                        </a:lnSpc>
                        <a:spcAft>
                          <a:spcPts val="800"/>
                        </a:spcAft>
                        <a:buNone/>
                      </a:pPr>
                      <a:r>
                        <a:rPr lang="en-IN" sz="1200" kern="1200" dirty="0">
                          <a:solidFill>
                            <a:schemeClr val="dk1"/>
                          </a:solidFill>
                          <a:effectLst/>
                          <a:latin typeface="Times New Roman" panose="02020603050405020304" pitchFamily="18" charset="0"/>
                          <a:ea typeface="+mn-ea"/>
                          <a:cs typeface="Times New Roman" panose="02020603050405020304" pitchFamily="18" charset="0"/>
                        </a:rPr>
                        <a:t>Ensures predictive models can be tested not only for corporates/sovereigns but also for retail borrowers, aligning with Basel’s distinct risk weights.</a:t>
                      </a:r>
                    </a:p>
                  </a:txBody>
                  <a:tcPr marL="68580" marR="68580" marT="0" marB="0" anchor="ctr"/>
                </a:tc>
                <a:extLst>
                  <a:ext uri="{0D108BD9-81ED-4DB2-BD59-A6C34878D82A}">
                    <a16:rowId xmlns:a16="http://schemas.microsoft.com/office/drawing/2014/main" val="187902881"/>
                  </a:ext>
                </a:extLst>
              </a:tr>
            </a:tbl>
          </a:graphicData>
        </a:graphic>
      </p:graphicFrame>
    </p:spTree>
    <p:extLst>
      <p:ext uri="{BB962C8B-B14F-4D97-AF65-F5344CB8AC3E}">
        <p14:creationId xmlns:p14="http://schemas.microsoft.com/office/powerpoint/2010/main" val="104684748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8DCB1-F3A2-C9F2-619E-767F149242F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E18E37-A1B6-15E0-8BD9-AB142AA92D75}"/>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22</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A06F460-94A1-7FAD-8FB2-F06639D1444A}"/>
              </a:ext>
            </a:extLst>
          </p:cNvPr>
          <p:cNvSpPr>
            <a:spLocks noGrp="1"/>
          </p:cNvSpPr>
          <p:nvPr>
            <p:ph type="body" sz="quarter" idx="10"/>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Expected Outcomes</a:t>
            </a:r>
          </a:p>
        </p:txBody>
      </p:sp>
      <p:sp>
        <p:nvSpPr>
          <p:cNvPr id="4" name="Text Placeholder 3">
            <a:extLst>
              <a:ext uri="{FF2B5EF4-FFF2-40B4-BE49-F238E27FC236}">
                <a16:creationId xmlns:a16="http://schemas.microsoft.com/office/drawing/2014/main" id="{D9FEC2DE-5D90-3FF8-B065-0D8588A7A9F0}"/>
              </a:ext>
            </a:extLst>
          </p:cNvPr>
          <p:cNvSpPr>
            <a:spLocks noGrp="1"/>
          </p:cNvSpPr>
          <p:nvPr>
            <p:ph type="body" sz="quarter" idx="11"/>
          </p:nvPr>
        </p:nvSpPr>
        <p:spPr>
          <a:xfrm>
            <a:off x="609600" y="1310947"/>
            <a:ext cx="10363199" cy="4785053"/>
          </a:xfrm>
        </p:spPr>
        <p:txBody>
          <a:bodyPr/>
          <a:lstStyle/>
          <a:p>
            <a:pPr>
              <a:lnSpc>
                <a:spcPct val="150000"/>
              </a:lnSpc>
            </a:pPr>
            <a:r>
              <a:rPr lang="en-US" sz="1600" b="1" dirty="0">
                <a:solidFill>
                  <a:schemeClr val="tx1"/>
                </a:solidFill>
              </a:rPr>
              <a:t>Integrated Framework</a:t>
            </a:r>
            <a:endParaRPr lang="en-US" sz="1600" dirty="0">
              <a:solidFill>
                <a:schemeClr val="tx1"/>
              </a:solidFill>
            </a:endParaRPr>
          </a:p>
          <a:p>
            <a:pPr marL="742950" lvl="1" indent="-285750">
              <a:lnSpc>
                <a:spcPct val="150000"/>
              </a:lnSpc>
              <a:buFont typeface="Arial" panose="020B0604020202020204" pitchFamily="34" charset="0"/>
              <a:buChar char="•"/>
            </a:pPr>
            <a:r>
              <a:rPr lang="en-US" sz="1600" dirty="0">
                <a:solidFill>
                  <a:schemeClr val="tx1"/>
                </a:solidFill>
              </a:rPr>
              <a:t>Empirically validated framework: predictive modelling + Basel 3.1 RWA computation.</a:t>
            </a:r>
          </a:p>
          <a:p>
            <a:pPr marL="742950" lvl="1" indent="-285750">
              <a:lnSpc>
                <a:spcPct val="150000"/>
              </a:lnSpc>
              <a:buFont typeface="Arial" panose="020B0604020202020204" pitchFamily="34" charset="0"/>
              <a:buChar char="•"/>
            </a:pPr>
            <a:r>
              <a:rPr lang="en-US" sz="1600" dirty="0">
                <a:solidFill>
                  <a:schemeClr val="tx1"/>
                </a:solidFill>
              </a:rPr>
              <a:t>Goal: Improve </a:t>
            </a:r>
            <a:r>
              <a:rPr lang="en-US" sz="1600" b="1" dirty="0">
                <a:solidFill>
                  <a:schemeClr val="tx1"/>
                </a:solidFill>
              </a:rPr>
              <a:t>timeliness</a:t>
            </a:r>
            <a:r>
              <a:rPr lang="en-US" sz="1600" dirty="0">
                <a:solidFill>
                  <a:schemeClr val="tx1"/>
                </a:solidFill>
              </a:rPr>
              <a:t> and </a:t>
            </a:r>
            <a:r>
              <a:rPr lang="en-US" sz="1600" b="1" dirty="0">
                <a:solidFill>
                  <a:schemeClr val="tx1"/>
                </a:solidFill>
              </a:rPr>
              <a:t>regulatory alignment</a:t>
            </a:r>
            <a:r>
              <a:rPr lang="en-US" sz="1600" dirty="0">
                <a:solidFill>
                  <a:schemeClr val="tx1"/>
                </a:solidFill>
              </a:rPr>
              <a:t> of credit decisions.</a:t>
            </a:r>
          </a:p>
          <a:p>
            <a:pPr>
              <a:lnSpc>
                <a:spcPct val="150000"/>
              </a:lnSpc>
            </a:pPr>
            <a:r>
              <a:rPr lang="en-US" sz="1600" b="1" dirty="0">
                <a:solidFill>
                  <a:schemeClr val="tx1"/>
                </a:solidFill>
              </a:rPr>
              <a:t>Explainability &amp; Governance</a:t>
            </a:r>
            <a:endParaRPr lang="en-US" sz="1600" dirty="0">
              <a:solidFill>
                <a:schemeClr val="tx1"/>
              </a:solidFill>
            </a:endParaRPr>
          </a:p>
          <a:p>
            <a:pPr marL="742950" lvl="1" indent="-285750">
              <a:lnSpc>
                <a:spcPct val="150000"/>
              </a:lnSpc>
              <a:buFont typeface="Arial" panose="020B0604020202020204" pitchFamily="34" charset="0"/>
              <a:buChar char="•"/>
            </a:pPr>
            <a:r>
              <a:rPr lang="en-US" sz="1600" dirty="0">
                <a:solidFill>
                  <a:schemeClr val="tx1"/>
                </a:solidFill>
              </a:rPr>
              <a:t>Design of an explainability framework for AI-based credit risk.</a:t>
            </a:r>
          </a:p>
          <a:p>
            <a:pPr marL="742950" lvl="1" indent="-285750">
              <a:lnSpc>
                <a:spcPct val="150000"/>
              </a:lnSpc>
              <a:buFont typeface="Arial" panose="020B0604020202020204" pitchFamily="34" charset="0"/>
              <a:buChar char="•"/>
            </a:pPr>
            <a:r>
              <a:rPr lang="en-US" sz="1600" dirty="0">
                <a:solidFill>
                  <a:schemeClr val="tx1"/>
                </a:solidFill>
              </a:rPr>
              <a:t>Evaluate </a:t>
            </a:r>
            <a:r>
              <a:rPr lang="en-US" sz="1600" b="1" dirty="0">
                <a:solidFill>
                  <a:schemeClr val="tx1"/>
                </a:solidFill>
              </a:rPr>
              <a:t>feature attribution, fairness checks, counterfactuals</a:t>
            </a:r>
            <a:r>
              <a:rPr lang="en-US" sz="1600" dirty="0">
                <a:solidFill>
                  <a:schemeClr val="tx1"/>
                </a:solidFill>
              </a:rPr>
              <a:t> against regulatory standards.</a:t>
            </a:r>
          </a:p>
          <a:p>
            <a:pPr marL="742950" lvl="1" indent="-285750">
              <a:lnSpc>
                <a:spcPct val="150000"/>
              </a:lnSpc>
              <a:buFont typeface="Arial" panose="020B0604020202020204" pitchFamily="34" charset="0"/>
              <a:buChar char="•"/>
            </a:pPr>
            <a:r>
              <a:rPr lang="en-US" sz="1600" dirty="0">
                <a:solidFill>
                  <a:schemeClr val="tx1"/>
                </a:solidFill>
              </a:rPr>
              <a:t>Goal: Support supervisory transparency and auditability.</a:t>
            </a:r>
          </a:p>
          <a:p>
            <a:pPr>
              <a:lnSpc>
                <a:spcPct val="150000"/>
              </a:lnSpc>
            </a:pPr>
            <a:r>
              <a:rPr lang="en-US" sz="1600" b="1" dirty="0">
                <a:solidFill>
                  <a:schemeClr val="tx1"/>
                </a:solidFill>
              </a:rPr>
              <a:t>Generative AI for Basel Alignment</a:t>
            </a:r>
            <a:endParaRPr lang="en-US" sz="1600" dirty="0">
              <a:solidFill>
                <a:schemeClr val="tx1"/>
              </a:solidFill>
            </a:endParaRPr>
          </a:p>
          <a:p>
            <a:pPr marL="742950" lvl="1" indent="-285750">
              <a:lnSpc>
                <a:spcPct val="150000"/>
              </a:lnSpc>
              <a:buFont typeface="Arial" panose="020B0604020202020204" pitchFamily="34" charset="0"/>
              <a:buChar char="•"/>
            </a:pPr>
            <a:r>
              <a:rPr lang="en-US" sz="1600" dirty="0">
                <a:solidFill>
                  <a:schemeClr val="tx1"/>
                </a:solidFill>
              </a:rPr>
              <a:t>Explore Generative AI methods to structure Basel 3.1 clauses into compliance logic.</a:t>
            </a:r>
          </a:p>
          <a:p>
            <a:pPr marL="742950" lvl="1" indent="-285750">
              <a:lnSpc>
                <a:spcPct val="150000"/>
              </a:lnSpc>
              <a:buFont typeface="Arial" panose="020B0604020202020204" pitchFamily="34" charset="0"/>
              <a:buChar char="•"/>
            </a:pPr>
            <a:r>
              <a:rPr lang="en-US" sz="1600" dirty="0">
                <a:solidFill>
                  <a:schemeClr val="tx1"/>
                </a:solidFill>
              </a:rPr>
              <a:t>Measure outcomes in terms of accuracy, interpretability, and computational efficiency.</a:t>
            </a:r>
          </a:p>
        </p:txBody>
      </p:sp>
      <p:sp>
        <p:nvSpPr>
          <p:cNvPr id="5" name="Text Placeholder 4">
            <a:extLst>
              <a:ext uri="{FF2B5EF4-FFF2-40B4-BE49-F238E27FC236}">
                <a16:creationId xmlns:a16="http://schemas.microsoft.com/office/drawing/2014/main" id="{4EEB3D20-213A-F5C2-6C5B-5E8DDEE28085}"/>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303487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752B5-B974-1FE2-3002-8960C9E1FD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D9026CB-5A22-53A5-DBBF-98CC9710A940}"/>
              </a:ext>
            </a:extLst>
          </p:cNvPr>
          <p:cNvSpPr>
            <a:spLocks noGrp="1"/>
          </p:cNvSpPr>
          <p:nvPr>
            <p:ph type="body" sz="quarter" idx="10"/>
          </p:nvPr>
        </p:nvSpPr>
        <p:spPr>
          <a:xfrm>
            <a:off x="496888" y="2075688"/>
            <a:ext cx="7019925" cy="1886712"/>
          </a:xfrm>
        </p:spPr>
        <p:txBody>
          <a:bodyPr/>
          <a:lstStyle/>
          <a:p>
            <a:r>
              <a:rPr lang="en-US" dirty="0"/>
              <a:t>Appendix</a:t>
            </a:r>
          </a:p>
        </p:txBody>
      </p:sp>
    </p:spTree>
    <p:extLst>
      <p:ext uri="{BB962C8B-B14F-4D97-AF65-F5344CB8AC3E}">
        <p14:creationId xmlns:p14="http://schemas.microsoft.com/office/powerpoint/2010/main" val="215708674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CF5FB-BFC1-BFC7-2A95-4D17E6BAC3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FC5B9B-7BCE-DD6D-C48B-E0BEC0199290}"/>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24</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747A79B-2809-BF86-DF26-8212E73D2371}"/>
              </a:ext>
            </a:extLst>
          </p:cNvPr>
          <p:cNvSpPr>
            <a:spLocks noGrp="1"/>
          </p:cNvSpPr>
          <p:nvPr>
            <p:ph type="body" sz="quarter" idx="10"/>
          </p:nvPr>
        </p:nvSpPr>
        <p:spPr/>
        <p:txBody>
          <a:bodyPr/>
          <a:lstStyle/>
          <a:p>
            <a:r>
              <a:rPr lang="en-IN" sz="2800" dirty="0">
                <a:solidFill>
                  <a:schemeClr val="tx1"/>
                </a:solidFill>
                <a:latin typeface="Times New Roman" panose="02020603050405020304" pitchFamily="18" charset="0"/>
                <a:cs typeface="Times New Roman" panose="02020603050405020304" pitchFamily="18" charset="0"/>
              </a:rPr>
              <a:t>Predictive AI for Credit Risk</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E40B37FE-2222-93A4-834C-77C45741A17F}"/>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graphicFrame>
        <p:nvGraphicFramePr>
          <p:cNvPr id="6" name="Diagram 5">
            <a:extLst>
              <a:ext uri="{FF2B5EF4-FFF2-40B4-BE49-F238E27FC236}">
                <a16:creationId xmlns:a16="http://schemas.microsoft.com/office/drawing/2014/main" id="{FC73E0C0-B898-444E-744D-EE0719EE5721}"/>
              </a:ext>
            </a:extLst>
          </p:cNvPr>
          <p:cNvGraphicFramePr/>
          <p:nvPr>
            <p:extLst>
              <p:ext uri="{D42A27DB-BD31-4B8C-83A1-F6EECF244321}">
                <p14:modId xmlns:p14="http://schemas.microsoft.com/office/powerpoint/2010/main" val="2372268343"/>
              </p:ext>
            </p:extLst>
          </p:nvPr>
        </p:nvGraphicFramePr>
        <p:xfrm>
          <a:off x="1397000" y="826649"/>
          <a:ext cx="9398000" cy="22860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986076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96063-712D-D875-9147-B8FF73AF7D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933E7A-25D5-C35F-CD03-25F826093FC0}"/>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25</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8164D00-AADC-C3B0-EC29-CDACB9B2D806}"/>
              </a:ext>
            </a:extLst>
          </p:cNvPr>
          <p:cNvSpPr>
            <a:spLocks noGrp="1"/>
          </p:cNvSpPr>
          <p:nvPr>
            <p:ph type="body" sz="quarter" idx="10"/>
          </p:nvPr>
        </p:nvSpPr>
        <p:spPr/>
        <p:txBody>
          <a:bodyPr/>
          <a:lstStyle/>
          <a:p>
            <a:r>
              <a:rPr lang="en-US" b="1" dirty="0"/>
              <a:t>Table 2: </a:t>
            </a:r>
            <a:r>
              <a:rPr lang="en-IN" sz="2800" dirty="0">
                <a:solidFill>
                  <a:schemeClr val="tx1"/>
                </a:solidFill>
                <a:latin typeface="Times New Roman" panose="02020603050405020304" pitchFamily="18" charset="0"/>
                <a:cs typeface="Times New Roman" panose="02020603050405020304" pitchFamily="18" charset="0"/>
              </a:rPr>
              <a:t>Generative AI for Basel 3.1</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C13F8E93-E469-044A-7714-F1F3DFD6C348}"/>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graphicFrame>
        <p:nvGraphicFramePr>
          <p:cNvPr id="7" name="Diagram 6">
            <a:extLst>
              <a:ext uri="{FF2B5EF4-FFF2-40B4-BE49-F238E27FC236}">
                <a16:creationId xmlns:a16="http://schemas.microsoft.com/office/drawing/2014/main" id="{52C9D68C-261C-4D02-16A9-374519A81FAD}"/>
              </a:ext>
            </a:extLst>
          </p:cNvPr>
          <p:cNvGraphicFramePr/>
          <p:nvPr/>
        </p:nvGraphicFramePr>
        <p:xfrm>
          <a:off x="1295400" y="1066800"/>
          <a:ext cx="8255000" cy="4766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702944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FD161-17E2-5B9B-4B6D-18C0A9DC5A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7EF58E-0EAD-4A10-B0A2-D881F9A72A51}"/>
              </a:ext>
            </a:extLst>
          </p:cNvPr>
          <p:cNvSpPr>
            <a:spLocks noGrp="1"/>
          </p:cNvSpPr>
          <p:nvPr>
            <p:ph type="sldNum" sz="quarter" idx="4"/>
          </p:nvPr>
        </p:nvSpPr>
        <p:spPr/>
        <p:txBody>
          <a:bodyPr/>
          <a:lstStyle/>
          <a:p>
            <a:fld id="{93AE1883-0942-4AA3-9DB2-9C7C3A0314B1}" type="slidenum">
              <a:rPr lang="en-US" sz="1800" smtClean="0">
                <a:latin typeface="Times New Roman" panose="02020603050405020304" pitchFamily="18" charset="0"/>
                <a:cs typeface="Times New Roman" panose="02020603050405020304" pitchFamily="18" charset="0"/>
              </a:rPr>
              <a:pPr/>
              <a:t>26</a:t>
            </a:fld>
            <a:endParaRPr lang="en-US"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223CE23-627F-7F98-D81A-894231C46EA7}"/>
              </a:ext>
            </a:extLst>
          </p:cNvPr>
          <p:cNvSpPr>
            <a:spLocks noGrp="1"/>
          </p:cNvSpPr>
          <p:nvPr>
            <p:ph type="body" sz="quarter" idx="10"/>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Final Local </a:t>
            </a:r>
            <a:r>
              <a:rPr lang="en-IN" sz="3200">
                <a:solidFill>
                  <a:schemeClr val="tx1"/>
                </a:solidFill>
                <a:latin typeface="Times New Roman" panose="02020603050405020304" pitchFamily="18" charset="0"/>
                <a:cs typeface="Times New Roman" panose="02020603050405020304" pitchFamily="18" charset="0"/>
              </a:rPr>
              <a:t>Comaprison</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1A4CFF10-9E84-69CB-0A37-32A4404F99F8}"/>
              </a:ext>
            </a:extLst>
          </p:cNvPr>
          <p:cNvSpPr>
            <a:spLocks noGrp="1"/>
          </p:cNvSpPr>
          <p:nvPr>
            <p:ph type="body" sz="quarter" idx="11"/>
          </p:nvPr>
        </p:nvSpPr>
        <p:spPr>
          <a:xfrm>
            <a:off x="609600" y="1310947"/>
            <a:ext cx="10363199" cy="4785053"/>
          </a:xfrm>
        </p:spPr>
        <p:txBody>
          <a:bodyPr/>
          <a:lstStyle/>
          <a:p>
            <a:pPr>
              <a:lnSpc>
                <a:spcPct val="150000"/>
              </a:lnSpc>
            </a:pPr>
            <a:r>
              <a:rPr lang="en-US" sz="1600" b="1" dirty="0">
                <a:solidFill>
                  <a:schemeClr val="tx1"/>
                </a:solidFill>
              </a:rPr>
              <a:t>Integrated Framework</a:t>
            </a:r>
            <a:endParaRPr lang="en-US" sz="1600" dirty="0">
              <a:solidFill>
                <a:schemeClr val="tx1"/>
              </a:solidFill>
            </a:endParaRPr>
          </a:p>
          <a:p>
            <a:pPr marL="742950" lvl="1" indent="-285750">
              <a:lnSpc>
                <a:spcPct val="150000"/>
              </a:lnSpc>
              <a:buFont typeface="Arial" panose="020B0604020202020204" pitchFamily="34" charset="0"/>
              <a:buChar char="•"/>
            </a:pPr>
            <a:r>
              <a:rPr lang="en-US" sz="1600" dirty="0">
                <a:solidFill>
                  <a:schemeClr val="tx1"/>
                </a:solidFill>
              </a:rPr>
              <a:t>Empirically validated framework: predictive modelling + Basel 3.1 RWA computation.</a:t>
            </a:r>
          </a:p>
          <a:p>
            <a:pPr marL="742950" lvl="1" indent="-285750">
              <a:lnSpc>
                <a:spcPct val="150000"/>
              </a:lnSpc>
              <a:buFont typeface="Arial" panose="020B0604020202020204" pitchFamily="34" charset="0"/>
              <a:buChar char="•"/>
            </a:pPr>
            <a:r>
              <a:rPr lang="en-US" sz="1600" dirty="0">
                <a:solidFill>
                  <a:schemeClr val="tx1"/>
                </a:solidFill>
              </a:rPr>
              <a:t>Goal: Improve </a:t>
            </a:r>
            <a:r>
              <a:rPr lang="en-US" sz="1600" b="1" dirty="0">
                <a:solidFill>
                  <a:schemeClr val="tx1"/>
                </a:solidFill>
              </a:rPr>
              <a:t>timeliness</a:t>
            </a:r>
            <a:r>
              <a:rPr lang="en-US" sz="1600" dirty="0">
                <a:solidFill>
                  <a:schemeClr val="tx1"/>
                </a:solidFill>
              </a:rPr>
              <a:t> and </a:t>
            </a:r>
            <a:r>
              <a:rPr lang="en-US" sz="1600" b="1" dirty="0">
                <a:solidFill>
                  <a:schemeClr val="tx1"/>
                </a:solidFill>
              </a:rPr>
              <a:t>regulatory alignment</a:t>
            </a:r>
            <a:r>
              <a:rPr lang="en-US" sz="1600" dirty="0">
                <a:solidFill>
                  <a:schemeClr val="tx1"/>
                </a:solidFill>
              </a:rPr>
              <a:t> of credit decisions.</a:t>
            </a:r>
          </a:p>
          <a:p>
            <a:pPr>
              <a:lnSpc>
                <a:spcPct val="150000"/>
              </a:lnSpc>
            </a:pPr>
            <a:r>
              <a:rPr lang="en-US" sz="1600" b="1" dirty="0">
                <a:solidFill>
                  <a:schemeClr val="tx1"/>
                </a:solidFill>
              </a:rPr>
              <a:t>Explainability &amp; Governance</a:t>
            </a:r>
            <a:endParaRPr lang="en-US" sz="1600" dirty="0">
              <a:solidFill>
                <a:schemeClr val="tx1"/>
              </a:solidFill>
            </a:endParaRPr>
          </a:p>
          <a:p>
            <a:pPr marL="742950" lvl="1" indent="-285750">
              <a:lnSpc>
                <a:spcPct val="150000"/>
              </a:lnSpc>
              <a:buFont typeface="Arial" panose="020B0604020202020204" pitchFamily="34" charset="0"/>
              <a:buChar char="•"/>
            </a:pPr>
            <a:r>
              <a:rPr lang="en-US" sz="1600" dirty="0">
                <a:solidFill>
                  <a:schemeClr val="tx1"/>
                </a:solidFill>
              </a:rPr>
              <a:t>Design of an explainability framework for AI-based credit risk.</a:t>
            </a:r>
          </a:p>
          <a:p>
            <a:pPr marL="742950" lvl="1" indent="-285750">
              <a:lnSpc>
                <a:spcPct val="150000"/>
              </a:lnSpc>
              <a:buFont typeface="Arial" panose="020B0604020202020204" pitchFamily="34" charset="0"/>
              <a:buChar char="•"/>
            </a:pPr>
            <a:r>
              <a:rPr lang="en-US" sz="1600" dirty="0">
                <a:solidFill>
                  <a:schemeClr val="tx1"/>
                </a:solidFill>
              </a:rPr>
              <a:t>Evaluate </a:t>
            </a:r>
            <a:r>
              <a:rPr lang="en-US" sz="1600" b="1" dirty="0">
                <a:solidFill>
                  <a:schemeClr val="tx1"/>
                </a:solidFill>
              </a:rPr>
              <a:t>feature attribution, fairness checks, counterfactuals</a:t>
            </a:r>
            <a:r>
              <a:rPr lang="en-US" sz="1600" dirty="0">
                <a:solidFill>
                  <a:schemeClr val="tx1"/>
                </a:solidFill>
              </a:rPr>
              <a:t> against regulatory standards.</a:t>
            </a:r>
          </a:p>
          <a:p>
            <a:pPr marL="742950" lvl="1" indent="-285750">
              <a:lnSpc>
                <a:spcPct val="150000"/>
              </a:lnSpc>
              <a:buFont typeface="Arial" panose="020B0604020202020204" pitchFamily="34" charset="0"/>
              <a:buChar char="•"/>
            </a:pPr>
            <a:r>
              <a:rPr lang="en-US" sz="1600" dirty="0">
                <a:solidFill>
                  <a:schemeClr val="tx1"/>
                </a:solidFill>
              </a:rPr>
              <a:t>Goal: Support supervisory transparency and auditability.</a:t>
            </a:r>
          </a:p>
          <a:p>
            <a:pPr>
              <a:lnSpc>
                <a:spcPct val="150000"/>
              </a:lnSpc>
            </a:pPr>
            <a:r>
              <a:rPr lang="en-US" sz="1600" b="1" dirty="0">
                <a:solidFill>
                  <a:schemeClr val="tx1"/>
                </a:solidFill>
              </a:rPr>
              <a:t>Generative AI for Basel Alignment</a:t>
            </a:r>
            <a:endParaRPr lang="en-US" sz="1600" dirty="0">
              <a:solidFill>
                <a:schemeClr val="tx1"/>
              </a:solidFill>
            </a:endParaRPr>
          </a:p>
          <a:p>
            <a:pPr marL="742950" lvl="1" indent="-285750">
              <a:lnSpc>
                <a:spcPct val="150000"/>
              </a:lnSpc>
              <a:buFont typeface="Arial" panose="020B0604020202020204" pitchFamily="34" charset="0"/>
              <a:buChar char="•"/>
            </a:pPr>
            <a:r>
              <a:rPr lang="en-US" sz="1600" dirty="0">
                <a:solidFill>
                  <a:schemeClr val="tx1"/>
                </a:solidFill>
              </a:rPr>
              <a:t>Explore Generative AI methods to structure Basel 3.1 clauses into compliance logic.</a:t>
            </a:r>
          </a:p>
          <a:p>
            <a:pPr marL="742950" lvl="1" indent="-285750">
              <a:lnSpc>
                <a:spcPct val="150000"/>
              </a:lnSpc>
              <a:buFont typeface="Arial" panose="020B0604020202020204" pitchFamily="34" charset="0"/>
              <a:buChar char="•"/>
            </a:pPr>
            <a:r>
              <a:rPr lang="en-US" sz="1600" dirty="0">
                <a:solidFill>
                  <a:schemeClr val="tx1"/>
                </a:solidFill>
              </a:rPr>
              <a:t>Measure outcomes in terms of accuracy, interpretability, and computational efficiency.</a:t>
            </a:r>
          </a:p>
        </p:txBody>
      </p:sp>
      <p:sp>
        <p:nvSpPr>
          <p:cNvPr id="5" name="Text Placeholder 4">
            <a:extLst>
              <a:ext uri="{FF2B5EF4-FFF2-40B4-BE49-F238E27FC236}">
                <a16:creationId xmlns:a16="http://schemas.microsoft.com/office/drawing/2014/main" id="{5BF096CD-5129-1F3A-572C-1029A50685DD}"/>
              </a:ext>
            </a:extLst>
          </p:cNvPr>
          <p:cNvSpPr>
            <a:spLocks noGrp="1"/>
          </p:cNvSpPr>
          <p:nvPr>
            <p:ph type="body" sz="quarter" idx="12"/>
          </p:nvPr>
        </p:nvSpPr>
        <p:spPr/>
        <p:txBody>
          <a:bodyPr/>
          <a:lstStyle/>
          <a:p>
            <a:endParaRPr lang="en-IN" sz="1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619481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5B24A-06E1-E78F-EECD-9AC784983C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3D11DE-2A74-6A08-9A1A-464D2782246A}"/>
              </a:ext>
            </a:extLst>
          </p:cNvPr>
          <p:cNvSpPr>
            <a:spLocks noGrp="1"/>
          </p:cNvSpPr>
          <p:nvPr>
            <p:ph type="sldNum" sz="quarter" idx="4"/>
          </p:nvPr>
        </p:nvSpPr>
        <p:spPr/>
        <p:txBody>
          <a:bodyPr/>
          <a:lstStyle/>
          <a:p>
            <a:fld id="{93AE1883-0942-4AA3-9DB2-9C7C3A0314B1}" type="slidenum">
              <a:rPr lang="en-US" smtClean="0"/>
              <a:pPr/>
              <a:t>27</a:t>
            </a:fld>
            <a:endParaRPr lang="en-US" dirty="0"/>
          </a:p>
        </p:txBody>
      </p:sp>
      <p:sp>
        <p:nvSpPr>
          <p:cNvPr id="3" name="Text Placeholder 2">
            <a:extLst>
              <a:ext uri="{FF2B5EF4-FFF2-40B4-BE49-F238E27FC236}">
                <a16:creationId xmlns:a16="http://schemas.microsoft.com/office/drawing/2014/main" id="{AE1BBB74-9661-5A51-64B6-40A13646036D}"/>
              </a:ext>
            </a:extLst>
          </p:cNvPr>
          <p:cNvSpPr>
            <a:spLocks noGrp="1"/>
          </p:cNvSpPr>
          <p:nvPr>
            <p:ph type="body" sz="quarter" idx="10"/>
          </p:nvPr>
        </p:nvSpPr>
        <p:spPr/>
        <p:txBody>
          <a:bodyPr/>
          <a:lstStyle/>
          <a:p>
            <a:r>
              <a:rPr lang="en-US" b="1" dirty="0"/>
              <a:t>References</a:t>
            </a:r>
            <a:endParaRPr lang="en-IN" dirty="0"/>
          </a:p>
        </p:txBody>
      </p:sp>
      <p:sp>
        <p:nvSpPr>
          <p:cNvPr id="4" name="Text Placeholder 3">
            <a:extLst>
              <a:ext uri="{FF2B5EF4-FFF2-40B4-BE49-F238E27FC236}">
                <a16:creationId xmlns:a16="http://schemas.microsoft.com/office/drawing/2014/main" id="{04269116-C66C-CDFC-ABA9-5C0B5C417D56}"/>
              </a:ext>
            </a:extLst>
          </p:cNvPr>
          <p:cNvSpPr>
            <a:spLocks noGrp="1"/>
          </p:cNvSpPr>
          <p:nvPr>
            <p:ph type="body" sz="quarter" idx="11"/>
          </p:nvPr>
        </p:nvSpPr>
        <p:spPr>
          <a:xfrm>
            <a:off x="609601" y="1310947"/>
            <a:ext cx="9753600" cy="5205053"/>
          </a:xfrm>
        </p:spPr>
        <p:txBody>
          <a:bodyPr/>
          <a:lstStyle/>
          <a:p>
            <a:pPr>
              <a:lnSpc>
                <a:spcPct val="150000"/>
              </a:lnSpc>
            </a:pPr>
            <a:r>
              <a:rPr lang="en-US" sz="1600" b="1" dirty="0"/>
              <a:t>Stabilization (Feature Screening, Structural Signal, Pre-Model Discipline)</a:t>
            </a:r>
            <a:br>
              <a:rPr lang="en-US" dirty="0"/>
            </a:br>
            <a:r>
              <a:rPr lang="en-US" dirty="0"/>
              <a:t>This layer concerns feature relevance, model structure, statistical grounding, and robustness before </a:t>
            </a:r>
            <a:r>
              <a:rPr lang="en-US" dirty="0" err="1"/>
              <a:t>optimisation</a:t>
            </a:r>
            <a:r>
              <a:rPr lang="en-US" dirty="0"/>
              <a:t>.</a:t>
            </a:r>
          </a:p>
          <a:p>
            <a:pPr marL="171450" indent="-171450">
              <a:lnSpc>
                <a:spcPct val="150000"/>
              </a:lnSpc>
              <a:buFont typeface="Arial" panose="020B0604020202020204" pitchFamily="34" charset="0"/>
              <a:buChar char="•"/>
            </a:pPr>
            <a:r>
              <a:rPr lang="en-US" dirty="0" err="1"/>
              <a:t>Baesens</a:t>
            </a:r>
            <a:r>
              <a:rPr lang="en-US" dirty="0"/>
              <a:t>, B., Van </a:t>
            </a:r>
            <a:r>
              <a:rPr lang="en-US" dirty="0" err="1"/>
              <a:t>Gestel</a:t>
            </a:r>
            <a:r>
              <a:rPr lang="en-US" dirty="0"/>
              <a:t>, T., Viaene, S., Stepanova, M., </a:t>
            </a:r>
            <a:r>
              <a:rPr lang="en-US" dirty="0" err="1"/>
              <a:t>Suykens</a:t>
            </a:r>
            <a:r>
              <a:rPr lang="en-US" dirty="0"/>
              <a:t>, J., &amp; </a:t>
            </a:r>
            <a:r>
              <a:rPr lang="en-US" dirty="0" err="1"/>
              <a:t>Vanthienen</a:t>
            </a:r>
            <a:r>
              <a:rPr lang="en-US" dirty="0"/>
              <a:t>, J. (2003). Benchmarking state-of-the-art classification algorithms for credit scoring. </a:t>
            </a:r>
            <a:r>
              <a:rPr lang="en-US" i="1" dirty="0"/>
              <a:t>Journal of the Operational Research Society</a:t>
            </a:r>
            <a:r>
              <a:rPr lang="en-US" dirty="0"/>
              <a:t>, 54(6), 627–635. </a:t>
            </a:r>
            <a:r>
              <a:rPr lang="en-US" dirty="0">
                <a:hlinkClick r:id="rId2"/>
              </a:rPr>
              <a:t>https://doi.org/10.1057/palgrave.jors.2601553</a:t>
            </a:r>
            <a:endParaRPr lang="en-US" dirty="0"/>
          </a:p>
          <a:p>
            <a:pPr marL="171450" indent="-171450">
              <a:lnSpc>
                <a:spcPct val="150000"/>
              </a:lnSpc>
              <a:buFont typeface="Arial" panose="020B0604020202020204" pitchFamily="34" charset="0"/>
              <a:buChar char="•"/>
            </a:pPr>
            <a:r>
              <a:rPr lang="en-US" dirty="0"/>
              <a:t>Desai, V. S., Conway, M., Crook, J., &amp; Overstreet, G. (1996). Credit-scoring models in the credit union environment using genetic algorithms and neural networks. </a:t>
            </a:r>
            <a:r>
              <a:rPr lang="en-US" i="1" dirty="0"/>
              <a:t>IMA Journal of Mathematics Applied in Business and Industry</a:t>
            </a:r>
            <a:r>
              <a:rPr lang="en-US" dirty="0"/>
              <a:t>, 7(2), 151–164.</a:t>
            </a:r>
          </a:p>
          <a:p>
            <a:pPr marL="171450" indent="-171450">
              <a:lnSpc>
                <a:spcPct val="150000"/>
              </a:lnSpc>
              <a:buFont typeface="Arial" panose="020B0604020202020204" pitchFamily="34" charset="0"/>
              <a:buChar char="•"/>
            </a:pPr>
            <a:r>
              <a:rPr lang="en-US" dirty="0"/>
              <a:t>Hand, D. J. (2009). Measuring classifier performance: A coherent alternative to the area under the ROC curve. </a:t>
            </a:r>
            <a:r>
              <a:rPr lang="en-US" i="1" dirty="0"/>
              <a:t>Machine Learning</a:t>
            </a:r>
            <a:r>
              <a:rPr lang="en-US" dirty="0"/>
              <a:t>, 77(1), 103–123. </a:t>
            </a:r>
            <a:r>
              <a:rPr lang="en-US" dirty="0">
                <a:hlinkClick r:id="rId3"/>
              </a:rPr>
              <a:t>https://doi.org/10.1007/s10994-009-5119-5</a:t>
            </a:r>
            <a:endParaRPr lang="en-US" dirty="0"/>
          </a:p>
          <a:p>
            <a:pPr marL="171450" indent="-171450">
              <a:lnSpc>
                <a:spcPct val="150000"/>
              </a:lnSpc>
              <a:buFont typeface="Arial" panose="020B0604020202020204" pitchFamily="34" charset="0"/>
              <a:buChar char="•"/>
            </a:pPr>
            <a:r>
              <a:rPr lang="en-US" dirty="0"/>
              <a:t>Louzada, F., Ara, A., &amp; Fernandes, G. B. (2016). Binary classification methods for credit scoring: A systematic review and empirical analysis. </a:t>
            </a:r>
            <a:r>
              <a:rPr lang="en-US" i="1" dirty="0"/>
              <a:t>Expert Systems with Applications</a:t>
            </a:r>
            <a:r>
              <a:rPr lang="en-US" dirty="0"/>
              <a:t>, 59, 117–136. </a:t>
            </a:r>
            <a:r>
              <a:rPr lang="en-US" dirty="0">
                <a:hlinkClick r:id="rId4"/>
              </a:rPr>
              <a:t>https://doi.org/10.1016/j.eswa.2016.02.039</a:t>
            </a:r>
            <a:endParaRPr lang="en-US" dirty="0"/>
          </a:p>
          <a:p>
            <a:pPr marL="171450" indent="-171450">
              <a:lnSpc>
                <a:spcPct val="150000"/>
              </a:lnSpc>
              <a:buFont typeface="Arial" panose="020B0604020202020204" pitchFamily="34" charset="0"/>
              <a:buChar char="•"/>
            </a:pPr>
            <a:r>
              <a:rPr lang="en-US" dirty="0"/>
              <a:t>Louzada, F., Ara, A., &amp; Fernandes, G. B. (2016). Classification methods applied to credit scoring: Systematic review and new perspectives. </a:t>
            </a:r>
            <a:r>
              <a:rPr lang="en-US" i="1" dirty="0"/>
              <a:t>Computational Economics</a:t>
            </a:r>
            <a:r>
              <a:rPr lang="en-US" dirty="0"/>
              <a:t>, 48(4), 729–750. </a:t>
            </a:r>
            <a:r>
              <a:rPr lang="en-US" dirty="0">
                <a:hlinkClick r:id="rId5"/>
              </a:rPr>
              <a:t>https://doi.org/10.1007/s10614-015-9517-9</a:t>
            </a:r>
            <a:endParaRPr lang="en-US" dirty="0"/>
          </a:p>
          <a:p>
            <a:pPr marL="171450" indent="-171450">
              <a:lnSpc>
                <a:spcPct val="150000"/>
              </a:lnSpc>
              <a:buFont typeface="Arial" panose="020B0604020202020204" pitchFamily="34" charset="0"/>
              <a:buChar char="•"/>
            </a:pPr>
            <a:r>
              <a:rPr lang="en-US" dirty="0"/>
              <a:t>Yeh, I.-C., &amp; Lien, C.-H. (2009). The comparisons of data mining techniques for the predictive accuracy of probability of default of credit card clients. </a:t>
            </a:r>
            <a:r>
              <a:rPr lang="en-US" i="1" dirty="0"/>
              <a:t>Expert Systems with Applications</a:t>
            </a:r>
            <a:r>
              <a:rPr lang="en-US" dirty="0"/>
              <a:t>, 36(2), 2473–2480. </a:t>
            </a:r>
            <a:r>
              <a:rPr lang="en-US" dirty="0">
                <a:hlinkClick r:id="rId6"/>
              </a:rPr>
              <a:t>https://doi.org/10.1016/j.eswa.2007.12.020</a:t>
            </a:r>
            <a:endParaRPr lang="en-US" dirty="0"/>
          </a:p>
          <a:p>
            <a:pPr marL="171450" indent="-171450">
              <a:lnSpc>
                <a:spcPct val="150000"/>
              </a:lnSpc>
              <a:buFont typeface="Arial" panose="020B0604020202020204" pitchFamily="34" charset="0"/>
              <a:buChar char="•"/>
            </a:pPr>
            <a:r>
              <a:rPr lang="en-US" dirty="0"/>
              <a:t>Zeng, G., Su, W., &amp; Hong, C. (2024). Ensemble learning with feature optimization for credit risk assessment. </a:t>
            </a:r>
            <a:r>
              <a:rPr lang="en-US" i="1" dirty="0"/>
              <a:t>Research Square</a:t>
            </a:r>
            <a:r>
              <a:rPr lang="en-US" dirty="0"/>
              <a:t> (Preprint). </a:t>
            </a:r>
            <a:r>
              <a:rPr lang="en-US" dirty="0">
                <a:hlinkClick r:id="rId7"/>
              </a:rPr>
              <a:t>https://doi.org/10.21203/rs.3.rs-4665987/v1</a:t>
            </a:r>
            <a:endParaRPr lang="en-US" dirty="0"/>
          </a:p>
        </p:txBody>
      </p:sp>
    </p:spTree>
    <p:extLst>
      <p:ext uri="{BB962C8B-B14F-4D97-AF65-F5344CB8AC3E}">
        <p14:creationId xmlns:p14="http://schemas.microsoft.com/office/powerpoint/2010/main" val="62942617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DF692-152D-A7A5-83E5-06876524F3C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34329B-4BE7-41C1-BACE-865DE208B2BA}"/>
              </a:ext>
            </a:extLst>
          </p:cNvPr>
          <p:cNvSpPr>
            <a:spLocks noGrp="1"/>
          </p:cNvSpPr>
          <p:nvPr>
            <p:ph type="sldNum" sz="quarter" idx="4"/>
          </p:nvPr>
        </p:nvSpPr>
        <p:spPr/>
        <p:txBody>
          <a:bodyPr/>
          <a:lstStyle/>
          <a:p>
            <a:fld id="{93AE1883-0942-4AA3-9DB2-9C7C3A0314B1}" type="slidenum">
              <a:rPr lang="en-US" smtClean="0"/>
              <a:pPr/>
              <a:t>28</a:t>
            </a:fld>
            <a:endParaRPr lang="en-US" dirty="0"/>
          </a:p>
        </p:txBody>
      </p:sp>
      <p:sp>
        <p:nvSpPr>
          <p:cNvPr id="3" name="Text Placeholder 2">
            <a:extLst>
              <a:ext uri="{FF2B5EF4-FFF2-40B4-BE49-F238E27FC236}">
                <a16:creationId xmlns:a16="http://schemas.microsoft.com/office/drawing/2014/main" id="{B93408DE-1E60-9E35-16B0-9C3C54D3C32D}"/>
              </a:ext>
            </a:extLst>
          </p:cNvPr>
          <p:cNvSpPr>
            <a:spLocks noGrp="1"/>
          </p:cNvSpPr>
          <p:nvPr>
            <p:ph type="body" sz="quarter" idx="10"/>
          </p:nvPr>
        </p:nvSpPr>
        <p:spPr/>
        <p:txBody>
          <a:bodyPr/>
          <a:lstStyle/>
          <a:p>
            <a:r>
              <a:rPr lang="en-US" b="1" dirty="0"/>
              <a:t>References</a:t>
            </a:r>
            <a:endParaRPr lang="en-IN" dirty="0"/>
          </a:p>
        </p:txBody>
      </p:sp>
      <p:sp>
        <p:nvSpPr>
          <p:cNvPr id="4" name="Text Placeholder 3">
            <a:extLst>
              <a:ext uri="{FF2B5EF4-FFF2-40B4-BE49-F238E27FC236}">
                <a16:creationId xmlns:a16="http://schemas.microsoft.com/office/drawing/2014/main" id="{51A08231-2EE9-AC52-5BC4-126DC4BD822C}"/>
              </a:ext>
            </a:extLst>
          </p:cNvPr>
          <p:cNvSpPr>
            <a:spLocks noGrp="1"/>
          </p:cNvSpPr>
          <p:nvPr>
            <p:ph type="body" sz="quarter" idx="11"/>
          </p:nvPr>
        </p:nvSpPr>
        <p:spPr>
          <a:xfrm>
            <a:off x="609601" y="1310947"/>
            <a:ext cx="9753600" cy="5205053"/>
          </a:xfrm>
        </p:spPr>
        <p:txBody>
          <a:bodyPr/>
          <a:lstStyle/>
          <a:p>
            <a:pPr>
              <a:lnSpc>
                <a:spcPct val="150000"/>
              </a:lnSpc>
            </a:pPr>
            <a:r>
              <a:rPr lang="en-IN" sz="1600" b="1" dirty="0"/>
              <a:t>Evolution (Training, Calibration, Model Selection)</a:t>
            </a:r>
            <a:br>
              <a:rPr lang="en-IN" dirty="0"/>
            </a:br>
            <a:r>
              <a:rPr lang="en-IN" dirty="0"/>
              <a:t>This layer corresponds to stratified learning, imbalance handling, optimisation, and comparative benchmarking.</a:t>
            </a:r>
          </a:p>
          <a:p>
            <a:pPr marL="171450" indent="-171450">
              <a:lnSpc>
                <a:spcPct val="150000"/>
              </a:lnSpc>
              <a:buFont typeface="Arial" panose="020B0604020202020204" pitchFamily="34" charset="0"/>
              <a:buChar char="•"/>
            </a:pPr>
            <a:r>
              <a:rPr lang="en-IN" dirty="0"/>
              <a:t>Chawla, N. V., Bowyer, K. W., Hall, L. O., &amp; </a:t>
            </a:r>
            <a:r>
              <a:rPr lang="en-IN" dirty="0" err="1"/>
              <a:t>Kegelmeyer</a:t>
            </a:r>
            <a:r>
              <a:rPr lang="en-IN" dirty="0"/>
              <a:t>, W. P. (2002). SMOTE: Synthetic minority over-sampling technique. </a:t>
            </a:r>
            <a:r>
              <a:rPr lang="en-IN" i="1" dirty="0"/>
              <a:t>Journal of Artificial Intelligence Research</a:t>
            </a:r>
            <a:r>
              <a:rPr lang="en-IN" dirty="0"/>
              <a:t>, 16, 321–357. </a:t>
            </a:r>
            <a:r>
              <a:rPr lang="en-IN" dirty="0">
                <a:hlinkClick r:id="rId2"/>
              </a:rPr>
              <a:t>https://doi.org/10.1613/jair.953</a:t>
            </a:r>
            <a:endParaRPr lang="en-IN" dirty="0"/>
          </a:p>
          <a:p>
            <a:pPr marL="171450" indent="-171450">
              <a:lnSpc>
                <a:spcPct val="150000"/>
              </a:lnSpc>
              <a:buFont typeface="Arial" panose="020B0604020202020204" pitchFamily="34" charset="0"/>
              <a:buChar char="•"/>
            </a:pPr>
            <a:r>
              <a:rPr lang="en-IN" dirty="0"/>
              <a:t>Lessmann, S., </a:t>
            </a:r>
            <a:r>
              <a:rPr lang="en-IN" dirty="0" err="1"/>
              <a:t>Baesens</a:t>
            </a:r>
            <a:r>
              <a:rPr lang="en-IN" dirty="0"/>
              <a:t>, B., Seow, H.-V., &amp; Thomas, L. C. (2015). Benchmarking state-of-the-art classification algorithms for credit scoring: An update of research. </a:t>
            </a:r>
            <a:r>
              <a:rPr lang="en-IN" i="1" dirty="0"/>
              <a:t>European Journal of Operational Research</a:t>
            </a:r>
            <a:r>
              <a:rPr lang="en-IN" dirty="0"/>
              <a:t>, 247(1), 124–136. </a:t>
            </a:r>
            <a:r>
              <a:rPr lang="en-IN" dirty="0">
                <a:hlinkClick r:id="rId3"/>
              </a:rPr>
              <a:t>https://doi.org/10.1016/j.ejor.2015.05.030</a:t>
            </a:r>
            <a:endParaRPr lang="en-IN" dirty="0"/>
          </a:p>
          <a:p>
            <a:pPr marL="171450" indent="-171450">
              <a:lnSpc>
                <a:spcPct val="150000"/>
              </a:lnSpc>
              <a:buFont typeface="Arial" panose="020B0604020202020204" pitchFamily="34" charset="0"/>
              <a:buChar char="•"/>
            </a:pPr>
            <a:r>
              <a:rPr lang="en-IN" dirty="0" err="1"/>
              <a:t>Verbraken</a:t>
            </a:r>
            <a:r>
              <a:rPr lang="en-IN" dirty="0"/>
              <a:t>, T., Verbeke, W., </a:t>
            </a:r>
            <a:r>
              <a:rPr lang="en-IN" dirty="0" err="1"/>
              <a:t>Baesens</a:t>
            </a:r>
            <a:r>
              <a:rPr lang="en-IN" dirty="0"/>
              <a:t>, B., &amp; Bravo, J. (2014). Profit-driven classification using Bayesian networks. </a:t>
            </a:r>
            <a:r>
              <a:rPr lang="en-IN" i="1" dirty="0"/>
              <a:t>Expert Systems with Applications</a:t>
            </a:r>
            <a:r>
              <a:rPr lang="en-IN" dirty="0"/>
              <a:t>, 42(3), 1354–1362.</a:t>
            </a:r>
          </a:p>
          <a:p>
            <a:pPr marL="171450" indent="-171450">
              <a:lnSpc>
                <a:spcPct val="150000"/>
              </a:lnSpc>
              <a:buFont typeface="Arial" panose="020B0604020202020204" pitchFamily="34" charset="0"/>
              <a:buChar char="•"/>
            </a:pPr>
            <a:r>
              <a:rPr lang="en-IN" dirty="0"/>
              <a:t>Dua, D., &amp; Graff, C. (1994). German credit data. </a:t>
            </a:r>
            <a:r>
              <a:rPr lang="en-IN" i="1" dirty="0"/>
              <a:t>UCI Machine Learning Repository</a:t>
            </a:r>
            <a:r>
              <a:rPr lang="en-IN" dirty="0"/>
              <a:t>. </a:t>
            </a:r>
            <a:r>
              <a:rPr lang="en-IN" dirty="0">
                <a:hlinkClick r:id="rId4"/>
              </a:rPr>
              <a:t>https://archive.ics.uci.edu/ml/datasets/statlog+(german+credit+data)</a:t>
            </a:r>
            <a:endParaRPr lang="en-IN" dirty="0"/>
          </a:p>
        </p:txBody>
      </p:sp>
    </p:spTree>
    <p:extLst>
      <p:ext uri="{BB962C8B-B14F-4D97-AF65-F5344CB8AC3E}">
        <p14:creationId xmlns:p14="http://schemas.microsoft.com/office/powerpoint/2010/main" val="150795010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5AB71-DF17-6DB2-EF44-326D8070EEE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2E329F-5E9F-1223-7890-EB5C00DF74BC}"/>
              </a:ext>
            </a:extLst>
          </p:cNvPr>
          <p:cNvSpPr>
            <a:spLocks noGrp="1"/>
          </p:cNvSpPr>
          <p:nvPr>
            <p:ph type="sldNum" sz="quarter" idx="4"/>
          </p:nvPr>
        </p:nvSpPr>
        <p:spPr/>
        <p:txBody>
          <a:bodyPr/>
          <a:lstStyle/>
          <a:p>
            <a:fld id="{93AE1883-0942-4AA3-9DB2-9C7C3A0314B1}" type="slidenum">
              <a:rPr lang="en-US" smtClean="0"/>
              <a:pPr/>
              <a:t>29</a:t>
            </a:fld>
            <a:endParaRPr lang="en-US" dirty="0"/>
          </a:p>
        </p:txBody>
      </p:sp>
      <p:sp>
        <p:nvSpPr>
          <p:cNvPr id="3" name="Text Placeholder 2">
            <a:extLst>
              <a:ext uri="{FF2B5EF4-FFF2-40B4-BE49-F238E27FC236}">
                <a16:creationId xmlns:a16="http://schemas.microsoft.com/office/drawing/2014/main" id="{A26981E8-978E-87FC-E7F9-021AE9322D0A}"/>
              </a:ext>
            </a:extLst>
          </p:cNvPr>
          <p:cNvSpPr>
            <a:spLocks noGrp="1"/>
          </p:cNvSpPr>
          <p:nvPr>
            <p:ph type="body" sz="quarter" idx="10"/>
          </p:nvPr>
        </p:nvSpPr>
        <p:spPr/>
        <p:txBody>
          <a:bodyPr/>
          <a:lstStyle/>
          <a:p>
            <a:r>
              <a:rPr lang="en-US" b="1" dirty="0"/>
              <a:t>References</a:t>
            </a:r>
            <a:endParaRPr lang="en-IN" dirty="0"/>
          </a:p>
        </p:txBody>
      </p:sp>
      <p:sp>
        <p:nvSpPr>
          <p:cNvPr id="4" name="Text Placeholder 3">
            <a:extLst>
              <a:ext uri="{FF2B5EF4-FFF2-40B4-BE49-F238E27FC236}">
                <a16:creationId xmlns:a16="http://schemas.microsoft.com/office/drawing/2014/main" id="{53068FA2-5F2B-32FD-3273-C46BDF5F0808}"/>
              </a:ext>
            </a:extLst>
          </p:cNvPr>
          <p:cNvSpPr>
            <a:spLocks noGrp="1"/>
          </p:cNvSpPr>
          <p:nvPr>
            <p:ph type="body" sz="quarter" idx="11"/>
          </p:nvPr>
        </p:nvSpPr>
        <p:spPr>
          <a:xfrm>
            <a:off x="609601" y="1310947"/>
            <a:ext cx="9753600" cy="5205053"/>
          </a:xfrm>
        </p:spPr>
        <p:txBody>
          <a:bodyPr/>
          <a:lstStyle/>
          <a:p>
            <a:pPr>
              <a:lnSpc>
                <a:spcPct val="150000"/>
              </a:lnSpc>
            </a:pPr>
            <a:r>
              <a:rPr lang="en-US" sz="1600" b="1" dirty="0"/>
              <a:t>Layer 3: Validation (Explainability, Reliability, Adversarial Stress, Governance)</a:t>
            </a:r>
            <a:br>
              <a:rPr lang="en-US" dirty="0"/>
            </a:br>
            <a:r>
              <a:rPr lang="en-US" dirty="0"/>
              <a:t>This layer aligns with SHAP attribution, sanity checks, explanation fragility, and constrained interpretation.</a:t>
            </a:r>
          </a:p>
          <a:p>
            <a:pPr marL="171450" indent="-171450">
              <a:lnSpc>
                <a:spcPct val="150000"/>
              </a:lnSpc>
              <a:buFont typeface="Arial" panose="020B0604020202020204" pitchFamily="34" charset="0"/>
              <a:buChar char="•"/>
            </a:pPr>
            <a:r>
              <a:rPr lang="en-US" dirty="0"/>
              <a:t>Lundberg, S. M., &amp; Lee, S.-I. (2017). A unified approach to interpreting model predictions. </a:t>
            </a:r>
            <a:r>
              <a:rPr lang="en-US" i="1" dirty="0"/>
              <a:t>Advances in Neural Information Processing Systems</a:t>
            </a:r>
            <a:r>
              <a:rPr lang="en-US" dirty="0"/>
              <a:t>, 30, 4765–4774. </a:t>
            </a:r>
            <a:r>
              <a:rPr lang="en-US" dirty="0">
                <a:hlinkClick r:id="rId2"/>
              </a:rPr>
              <a:t>https://papers.nips.cc/paper/7062-a-unified-approach-to-interpreting-model-predictions</a:t>
            </a:r>
            <a:endParaRPr lang="en-US" dirty="0"/>
          </a:p>
          <a:p>
            <a:pPr marL="171450" indent="-171450">
              <a:lnSpc>
                <a:spcPct val="150000"/>
              </a:lnSpc>
              <a:buFont typeface="Arial" panose="020B0604020202020204" pitchFamily="34" charset="0"/>
              <a:buChar char="•"/>
            </a:pPr>
            <a:r>
              <a:rPr lang="en-US" dirty="0"/>
              <a:t>Ribeiro, M. T., Singh, S., &amp; </a:t>
            </a:r>
            <a:r>
              <a:rPr lang="en-US" dirty="0" err="1"/>
              <a:t>Guestrin</a:t>
            </a:r>
            <a:r>
              <a:rPr lang="en-US" dirty="0"/>
              <a:t>, C. (2016). “Why should I trust you?”: Explaining the predictions of any classifier. </a:t>
            </a:r>
            <a:r>
              <a:rPr lang="en-US" i="1" dirty="0"/>
              <a:t>Proceedings of the 22nd ACM SIGKDD International Conference on Knowledge Discovery and Data Mining</a:t>
            </a:r>
            <a:r>
              <a:rPr lang="en-US" dirty="0"/>
              <a:t>, 1135–1144. </a:t>
            </a:r>
            <a:r>
              <a:rPr lang="en-US" dirty="0">
                <a:hlinkClick r:id="rId3"/>
              </a:rPr>
              <a:t>https://doi.org/10.1145/2939672.2939778</a:t>
            </a:r>
            <a:endParaRPr lang="en-US" dirty="0"/>
          </a:p>
          <a:p>
            <a:pPr marL="171450" indent="-171450">
              <a:lnSpc>
                <a:spcPct val="150000"/>
              </a:lnSpc>
              <a:buFont typeface="Arial" panose="020B0604020202020204" pitchFamily="34" charset="0"/>
              <a:buChar char="•"/>
            </a:pPr>
            <a:r>
              <a:rPr lang="en-US" dirty="0"/>
              <a:t>Slack, D., Hilgard, S., Jia, E., Singh, S., &amp; </a:t>
            </a:r>
            <a:r>
              <a:rPr lang="en-US" dirty="0" err="1"/>
              <a:t>Lakkaraju</a:t>
            </a:r>
            <a:r>
              <a:rPr lang="en-US" dirty="0"/>
              <a:t>, H. (2020). Fooling LIME and SHAP: Adversarial attacks on post-hoc explanation methods. </a:t>
            </a:r>
            <a:r>
              <a:rPr lang="en-US" i="1" dirty="0"/>
              <a:t>Proceedings of the AAAI/ACM Conference on AI, Ethics, and Society</a:t>
            </a:r>
            <a:r>
              <a:rPr lang="en-US" dirty="0"/>
              <a:t>, 180–186. </a:t>
            </a:r>
            <a:r>
              <a:rPr lang="en-US" dirty="0">
                <a:hlinkClick r:id="rId4"/>
              </a:rPr>
              <a:t>https://doi.org/10.1145/3375627.3375830</a:t>
            </a:r>
            <a:endParaRPr lang="en-US" dirty="0"/>
          </a:p>
          <a:p>
            <a:pPr marL="171450" indent="-171450">
              <a:lnSpc>
                <a:spcPct val="150000"/>
              </a:lnSpc>
              <a:buFont typeface="Arial" panose="020B0604020202020204" pitchFamily="34" charset="0"/>
              <a:buChar char="•"/>
            </a:pPr>
            <a:r>
              <a:rPr lang="en-US" dirty="0" err="1"/>
              <a:t>Hassija</a:t>
            </a:r>
            <a:r>
              <a:rPr lang="en-US" dirty="0"/>
              <a:t>, V., </a:t>
            </a:r>
            <a:r>
              <a:rPr lang="en-US" dirty="0" err="1"/>
              <a:t>Chamola</a:t>
            </a:r>
            <a:r>
              <a:rPr lang="en-US" dirty="0"/>
              <a:t>, V., Mahapatra, A., et al. (2024). Interpreting black-box models: A review on explainable artificial intelligence. </a:t>
            </a:r>
            <a:r>
              <a:rPr lang="en-US" i="1" dirty="0"/>
              <a:t>Cognitive Computation</a:t>
            </a:r>
            <a:r>
              <a:rPr lang="en-US" dirty="0"/>
              <a:t>, 16(1), 45–74. https://doi.org/10.1007/s12559-023-10187-8</a:t>
            </a:r>
          </a:p>
          <a:p>
            <a:pPr marL="171450" indent="-171450">
              <a:lnSpc>
                <a:spcPct val="150000"/>
              </a:lnSpc>
              <a:buFont typeface="Arial" panose="020B0604020202020204" pitchFamily="34" charset="0"/>
              <a:buChar char="•"/>
            </a:pPr>
            <a:r>
              <a:rPr lang="en-US" dirty="0"/>
              <a:t>Wang, L., Yu, Z., Ma, J., Chen, X., &amp; Wu, C. (2025). A two-stage interpretable model to explain classifier in credit risk prediction. </a:t>
            </a:r>
            <a:r>
              <a:rPr lang="en-US" i="1" dirty="0"/>
              <a:t>Journal of Forecasting</a:t>
            </a:r>
            <a:r>
              <a:rPr lang="en-US" dirty="0"/>
              <a:t>. </a:t>
            </a:r>
            <a:r>
              <a:rPr lang="en-US" dirty="0">
                <a:hlinkClick r:id="rId5"/>
              </a:rPr>
              <a:t>https://onlinelibrary.wiley.com/journal/1099131x</a:t>
            </a:r>
            <a:endParaRPr lang="en-US" dirty="0"/>
          </a:p>
        </p:txBody>
      </p:sp>
    </p:spTree>
    <p:extLst>
      <p:ext uri="{BB962C8B-B14F-4D97-AF65-F5344CB8AC3E}">
        <p14:creationId xmlns:p14="http://schemas.microsoft.com/office/powerpoint/2010/main" val="54934522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7.14"/>
  <p:tag name="AS_TITLE" val="Aspose.Slides for .NET 4.0 Client Profile"/>
  <p:tag name="AS_VERSION" val="2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tatista_template.potx" id="{62E2AE18-9991-49D6-AD18-683775F4DFFA}" vid="{C56B35F6-12C8-4CDD-A53E-705EE1328B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Statista_template</Template>
  <TotalTime>1672</TotalTime>
  <Words>3662</Words>
  <Application>Microsoft Office PowerPoint</Application>
  <PresentationFormat>Widescreen</PresentationFormat>
  <Paragraphs>339</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Calibri</vt:lpstr>
      <vt:lpstr>Open Sans</vt:lpstr>
      <vt:lpstr>Open Sans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Ravi Jain_7A</dc:creator>
  <cp:lastModifiedBy>Ravi Jain_7A</cp:lastModifiedBy>
  <cp:revision>23</cp:revision>
  <cp:lastPrinted>2025-02-12T17:48:11Z</cp:lastPrinted>
  <dcterms:created xsi:type="dcterms:W3CDTF">2025-02-18T12:04:51Z</dcterms:created>
  <dcterms:modified xsi:type="dcterms:W3CDTF">2026-01-20T03:23:00Z</dcterms:modified>
</cp:coreProperties>
</file>