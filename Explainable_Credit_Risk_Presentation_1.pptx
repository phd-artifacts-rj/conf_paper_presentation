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365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LR</c:v>
                </c:pt>
                <c:pt idx="1">
                  <c:v>LR-Reg</c:v>
                </c:pt>
                <c:pt idx="2">
                  <c:v>AdaBoost</c:v>
                </c:pt>
                <c:pt idx="3">
                  <c:v>Bag-CART</c:v>
                </c:pt>
                <c:pt idx="4">
                  <c:v>BagNN</c:v>
                </c:pt>
                <c:pt idx="5">
                  <c:v>Boost-DT</c:v>
                </c:pt>
                <c:pt idx="6">
                  <c:v>KNN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0.79100000000000004</c:v>
                </c:pt>
                <c:pt idx="1">
                  <c:v>0.80300000000000005</c:v>
                </c:pt>
                <c:pt idx="2">
                  <c:v>0.77600000000000002</c:v>
                </c:pt>
                <c:pt idx="3">
                  <c:v>0.76700000000000002</c:v>
                </c:pt>
                <c:pt idx="4">
                  <c:v>0.80900000000000005</c:v>
                </c:pt>
                <c:pt idx="5">
                  <c:v>0.80300000000000005</c:v>
                </c:pt>
                <c:pt idx="6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2-4D60-8A91-CFD4A089E1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AUC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62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0216" y="1695450"/>
            <a:ext cx="5683568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1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Integrating Predictive and Generative AI for Explainable Credit Risk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00500" y="2815530"/>
            <a:ext cx="1143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30216" y="3158430"/>
            <a:ext cx="56835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Framework for Reliable Model Explanations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7180" y="46025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Modelling • Explainability • AI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90600"/>
            <a:ext cx="4038600" cy="83820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90600"/>
            <a:ext cx="0" cy="8382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600" y="1181100"/>
            <a:ext cx="3691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predictive performance ≠ Reliable explanations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981200"/>
            <a:ext cx="4119372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ensemble models achieve high discriminatory accuracy (AUC &gt; 0.80), but their feature attributions often reflect artefacts rather than genuine model structure.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773412"/>
            <a:ext cx="4119372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tools like SHAP and LIME are sensitive to background distributions and sampling noise, making explanations unreliable for regulatory decisions.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4400" y="1891903"/>
            <a:ext cx="4038600" cy="756047"/>
          </a:xfrm>
          <a:prstGeom prst="roundRect">
            <a:avLst>
              <a:gd name="adj" fmla="val 1007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9462" y="2044303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39462" y="2255639"/>
            <a:ext cx="38084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 as Descriptive Summaries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3295650"/>
            <a:ext cx="4038600" cy="756047"/>
          </a:xfrm>
          <a:prstGeom prst="roundRect">
            <a:avLst>
              <a:gd name="adj" fmla="val 1007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9462" y="3448050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SHIFT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39462" y="3659386"/>
            <a:ext cx="38084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 as Testable Hypotheses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Hassija et al. (2024); Slack et al. (2020)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287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028700"/>
            <a:ext cx="80055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Predictive Performance from Explanation Reliability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281113"/>
            <a:ext cx="80055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that high AUC does not guarantee trustworthy feature attributions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1619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1619250"/>
            <a:ext cx="80055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Reliability Diagnostics for Explanations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14400" y="1871663"/>
            <a:ext cx="80055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Sanity Ratios and randomization tests to distinguish signal from noise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22098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2209800"/>
            <a:ext cx="80055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Feature Selection with Dual-Selector Mechanism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14400" y="2462213"/>
            <a:ext cx="80055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Random Forest importance with L1-regularised logistic regression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28003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2800350"/>
            <a:ext cx="80055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Constrained Generative Explanations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14400" y="3052763"/>
            <a:ext cx="80055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human-readable explanations with explicit reliability warnings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90600"/>
            <a:ext cx="2654350" cy="3962400"/>
          </a:xfrm>
          <a:prstGeom prst="roundRect">
            <a:avLst>
              <a:gd name="adj" fmla="val 28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82676"/>
            <a:ext cx="1056382" cy="312390"/>
          </a:xfrm>
          <a:prstGeom prst="roundRect">
            <a:avLst>
              <a:gd name="adj" fmla="val 1219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958876"/>
            <a:ext cx="844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2290316"/>
            <a:ext cx="239654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from logistic regression to ensemble methods (RF, XGBoost, LightGBM)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2942779"/>
            <a:ext cx="23965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ensembles outperform deep learning on modest tabular datasets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33400" y="3409504"/>
            <a:ext cx="23965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stability critical but under-emphasised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33400" y="3914329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Baesens et al. (2003); Lessmann et al. (2015)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225850" y="990600"/>
            <a:ext cx="2654350" cy="3962400"/>
          </a:xfrm>
          <a:prstGeom prst="roundRect">
            <a:avLst>
              <a:gd name="adj" fmla="val 28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78250" y="2161282"/>
            <a:ext cx="1312366" cy="312390"/>
          </a:xfrm>
          <a:prstGeom prst="roundRect">
            <a:avLst>
              <a:gd name="adj" fmla="val 12196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2550" y="2237482"/>
            <a:ext cx="1105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78250" y="2568922"/>
            <a:ext cx="23965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and SHAP are standard post-hoc attribution tools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78250" y="3035647"/>
            <a:ext cx="239654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Attributions often conflate signal and noise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378250" y="3316635"/>
            <a:ext cx="239654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to adversarial manipulation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378250" y="3635722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Lundberg &amp; Lee (2017); Slack et al. (2020)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70699" y="990600"/>
            <a:ext cx="2692450" cy="3962400"/>
          </a:xfrm>
          <a:prstGeom prst="roundRect">
            <a:avLst>
              <a:gd name="adj" fmla="val 2830"/>
            </a:avLst>
          </a:prstGeom>
          <a:solidFill>
            <a:srgbClr val="FEF3C7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42149" y="1865412"/>
            <a:ext cx="736699" cy="312390"/>
          </a:xfrm>
          <a:prstGeom prst="roundRect">
            <a:avLst>
              <a:gd name="adj" fmla="val 1219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6449" y="1941612"/>
            <a:ext cx="5182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2149" y="2273052"/>
            <a:ext cx="239654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framework integrates: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242149" y="2630239"/>
            <a:ext cx="2349550" cy="1447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robustness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diagnostics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generative reasoning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5662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Unified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38707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63377"/>
            <a:ext cx="952500" cy="702618"/>
          </a:xfrm>
          <a:prstGeom prst="roundRect">
            <a:avLst>
              <a:gd name="adj" fmla="val 813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" y="1158627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68630" y="1324273"/>
            <a:ext cx="77724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Screening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447800" y="12812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2600" y="1127075"/>
            <a:ext cx="7010400" cy="575072"/>
          </a:xfrm>
          <a:prstGeom prst="roundRect">
            <a:avLst>
              <a:gd name="adj" fmla="val 993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766888" y="1127075"/>
            <a:ext cx="0" cy="575072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33575" y="1241375"/>
            <a:ext cx="68105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Dual-Selector Mechanism: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 Forest importance + L1-regularised logistic regression coefficients → Composite importance score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97180" y="191839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2337495"/>
            <a:ext cx="952500" cy="702618"/>
          </a:xfrm>
          <a:prstGeom prst="roundRect">
            <a:avLst>
              <a:gd name="adj" fmla="val 813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630" y="2432745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8630" y="2598390"/>
            <a:ext cx="77724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47800" y="25553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52600" y="2401193"/>
            <a:ext cx="7010400" cy="575072"/>
          </a:xfrm>
          <a:prstGeom prst="roundRect">
            <a:avLst>
              <a:gd name="adj" fmla="val 993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766888" y="2401193"/>
            <a:ext cx="0" cy="57507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33575" y="2515493"/>
            <a:ext cx="68105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Calibrated Models: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Linear, Boosting, Bagging, Instance-based → Stratified CV + SMOTE within folds → Select benchmark B* by AUC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97180" y="3192512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1000" y="3634383"/>
            <a:ext cx="952500" cy="529382"/>
          </a:xfrm>
          <a:prstGeom prst="roundRect">
            <a:avLst>
              <a:gd name="adj" fmla="val 1079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8630" y="3729633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" y="3895279"/>
            <a:ext cx="7772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447800" y="376579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52600" y="3611612"/>
            <a:ext cx="7010400" cy="575072"/>
          </a:xfrm>
          <a:prstGeom prst="roundRect">
            <a:avLst>
              <a:gd name="adj" fmla="val 993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766888" y="3611612"/>
            <a:ext cx="0" cy="575072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933575" y="3725912"/>
            <a:ext cx="68105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Assessment: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 values → Sanity checks + Reliability diagnostics → Constrained generative explanation with warnings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81000" y="4453384"/>
            <a:ext cx="8382000" cy="388590"/>
          </a:xfrm>
          <a:prstGeom prst="roundRect">
            <a:avLst>
              <a:gd name="adj" fmla="val 1470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3400" y="4567684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German Credit Dataset (UCI) — 1,000 observations, 20 attributes, 70/30 class split → SMOTE balanced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Families &amp;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4536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Model Configurations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272480"/>
            <a:ext cx="2185541" cy="738932"/>
          </a:xfrm>
          <a:prstGeom prst="roundRect">
            <a:avLst>
              <a:gd name="adj" fmla="val 773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386780"/>
            <a:ext cx="1996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(6)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1584871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5300" y="1750516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L1/L2/ElasticNet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642741" y="1272480"/>
            <a:ext cx="2185541" cy="738932"/>
          </a:xfrm>
          <a:prstGeom prst="roundRect">
            <a:avLst>
              <a:gd name="adj" fmla="val 773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57041" y="1386780"/>
            <a:ext cx="1996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 (40)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57041" y="1584871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AdaBoost, GradientBoost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757041" y="1750516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LightGBM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087612"/>
            <a:ext cx="2185541" cy="738932"/>
          </a:xfrm>
          <a:prstGeom prst="roundRect">
            <a:avLst>
              <a:gd name="adj" fmla="val 773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" y="2201912"/>
            <a:ext cx="1996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BAGGING (36)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5300" y="2400002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5300" y="2565648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Bagged Trees, BagNN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42741" y="2087612"/>
            <a:ext cx="2185541" cy="738932"/>
          </a:xfrm>
          <a:prstGeom prst="roundRect">
            <a:avLst>
              <a:gd name="adj" fmla="val 773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57041" y="2201912"/>
            <a:ext cx="1996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(24)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57041" y="2400002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Neighbours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757041" y="2565648"/>
            <a:ext cx="1996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k=3–21, uniform/distance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056882" y="952500"/>
            <a:ext cx="37802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56882" y="1272480"/>
            <a:ext cx="3706118" cy="624632"/>
          </a:xfrm>
          <a:prstGeom prst="roundRect">
            <a:avLst>
              <a:gd name="adj" fmla="val 914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5932" y="1272480"/>
            <a:ext cx="0" cy="624632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28332" y="1405830"/>
            <a:ext cx="34693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(Primary)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228332" y="1617166"/>
            <a:ext cx="34693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Discriminatory power for model selection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056882" y="1992362"/>
            <a:ext cx="3706118" cy="586532"/>
          </a:xfrm>
          <a:prstGeom prst="roundRect">
            <a:avLst>
              <a:gd name="adj" fmla="val 974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1182" y="2106662"/>
            <a:ext cx="35470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171182" y="2317998"/>
            <a:ext cx="35470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calibration accuracy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056882" y="2674144"/>
            <a:ext cx="3706118" cy="586532"/>
          </a:xfrm>
          <a:prstGeom prst="roundRect">
            <a:avLst>
              <a:gd name="adj" fmla="val 974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1182" y="2788444"/>
            <a:ext cx="35470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Statistic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171182" y="2999780"/>
            <a:ext cx="35470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quality between classes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056882" y="3355925"/>
            <a:ext cx="3706118" cy="586532"/>
          </a:xfrm>
          <a:prstGeom prst="roundRect">
            <a:avLst>
              <a:gd name="adj" fmla="val 974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1182" y="3470225"/>
            <a:ext cx="35470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H-measure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171182" y="3681561"/>
            <a:ext cx="35470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 classification metric (Hand, 2009)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Model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89547" y="2859435"/>
            <a:ext cx="1428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Comparison Chart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27464" y="1402259"/>
            <a:ext cx="34022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27464" y="1703189"/>
            <a:ext cx="3335536" cy="731490"/>
          </a:xfrm>
          <a:prstGeom prst="roundRect">
            <a:avLst>
              <a:gd name="adj" fmla="val 781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46514" y="1703189"/>
            <a:ext cx="0" cy="73149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98914" y="1836539"/>
            <a:ext cx="30913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BagNN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98914" y="2034629"/>
            <a:ext cx="3091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0.809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27464" y="2548979"/>
            <a:ext cx="3335536" cy="620911"/>
          </a:xfrm>
          <a:prstGeom prst="roundRect">
            <a:avLst>
              <a:gd name="adj" fmla="val 920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41764" y="2663279"/>
            <a:ext cx="31690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Boost-DT (1000×0.5)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41764" y="2842320"/>
            <a:ext cx="316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0.803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7464" y="3284190"/>
            <a:ext cx="3335536" cy="620911"/>
          </a:xfrm>
          <a:prstGeom prst="roundRect">
            <a:avLst>
              <a:gd name="adj" fmla="val 920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41764" y="3398490"/>
            <a:ext cx="31690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LR-Regularised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1764" y="3577530"/>
            <a:ext cx="316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0.803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7464" y="4019401"/>
            <a:ext cx="3335536" cy="483691"/>
          </a:xfrm>
          <a:prstGeom prst="roundRect">
            <a:avLst>
              <a:gd name="adj" fmla="val 1181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22714" y="4114651"/>
            <a:ext cx="32079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Regularised LR achieves comparable performance to complex ensembles</a:t>
            </a:r>
            <a:endParaRPr lang="en-US" sz="825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81000" y="1619250"/>
          <a:ext cx="4817864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Feature Importance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22239"/>
            <a:ext cx="4574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(Dual-Selector)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023170"/>
            <a:ext cx="4484340" cy="1899047"/>
          </a:xfrm>
          <a:prstGeom prst="roundRect">
            <a:avLst>
              <a:gd name="adj" fmla="val 30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023170"/>
            <a:ext cx="4484340" cy="298996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099370"/>
            <a:ext cx="7112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344960" y="2099370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02868" y="2099370"/>
            <a:ext cx="9481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Score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81000" y="2639318"/>
            <a:ext cx="4484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5300" y="2398365"/>
            <a:ext cx="7112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44960" y="2398365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months_duration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02868" y="2398365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644080"/>
            <a:ext cx="4484340" cy="321915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1000" y="2961233"/>
            <a:ext cx="4484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300" y="2720280"/>
            <a:ext cx="7112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44960" y="2720280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credit_amount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02868" y="2720280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1000" y="3283148"/>
            <a:ext cx="4484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5300" y="3042196"/>
            <a:ext cx="7112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44960" y="3042196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checking_status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02868" y="3042196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3287911"/>
            <a:ext cx="4484340" cy="321915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81000" y="3605064"/>
            <a:ext cx="4484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5300" y="3364111"/>
            <a:ext cx="7112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44960" y="3364111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02868" y="3364111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300" y="3686026"/>
            <a:ext cx="7112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44960" y="3686026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credit_history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02868" y="3686026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4036516"/>
            <a:ext cx="4574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0.5 × norm(RF_imp) + 0.5 × norm(|LR_coef|)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093940" y="952500"/>
            <a:ext cx="37424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Global Findings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93940" y="1253430"/>
            <a:ext cx="3669060" cy="452438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27290" y="1386780"/>
            <a:ext cx="347040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duration: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Longer terms → Higher default risk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093940" y="1820168"/>
            <a:ext cx="3669060" cy="452438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27290" y="1953518"/>
            <a:ext cx="347040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amount: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Larger amounts → Higher risk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093940" y="2386905"/>
            <a:ext cx="3669060" cy="452438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27290" y="2520255"/>
            <a:ext cx="347040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age: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Older borrowers → Lower risk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5093940" y="2991743"/>
            <a:ext cx="3669060" cy="388590"/>
          </a:xfrm>
          <a:prstGeom prst="roundRect">
            <a:avLst>
              <a:gd name="adj" fmla="val 1470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08240" y="3106043"/>
            <a:ext cx="35092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Consistent with domain knowledge in credit-risk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2852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Finding: The Explanatory Paradox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188988"/>
            <a:ext cx="4038600" cy="1386632"/>
          </a:xfrm>
          <a:prstGeom prst="roundRect">
            <a:avLst>
              <a:gd name="adj" fmla="val 549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79488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PERFORMANCE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642318"/>
            <a:ext cx="37307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&gt; 0.80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1500" y="2198489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discriminatory power 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0614" y="2766120"/>
            <a:ext cx="41193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1000" y="3329880"/>
            <a:ext cx="4038600" cy="1424732"/>
          </a:xfrm>
          <a:prstGeom prst="roundRect">
            <a:avLst>
              <a:gd name="adj" fmla="val 5348"/>
            </a:avLst>
          </a:prstGeom>
          <a:solidFill>
            <a:srgbClr val="F97316">
              <a:alpha val="20000"/>
            </a:srgbClr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3539430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RELIABILITY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0550" y="3802261"/>
            <a:ext cx="36918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Ratio ≈ 1.015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90550" y="4358432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distinguishable from noise ✗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1863328"/>
            <a:ext cx="4038600" cy="2216795"/>
          </a:xfrm>
          <a:prstGeom prst="roundRect">
            <a:avLst>
              <a:gd name="adj" fmla="val 343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2053828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4900" y="2381399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attributions are </a:t>
            </a: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marginally stronger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what would be expected from a model trained on random labels.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4900" y="2922240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on predictive metrics alone </a:t>
            </a: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 the fragility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post-hoc explanations.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4900" y="3463082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</a:t>
            </a: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overconfidence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models whose internal reasoning is weakly supported by data.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477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90600"/>
            <a:ext cx="8316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quality varies independently of predictive accuracy</a:t>
            </a: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high AUC does not guarantee trustworthy explanations.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14287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371600"/>
            <a:ext cx="8316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diagnostics (Sanity Ratios)</a:t>
            </a: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essential to distinguish structural signal from spurious correlation in feature attributions.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20383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1981200"/>
            <a:ext cx="8316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dual-selector mechanism</a:t>
            </a: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stabilises feature selection by combining RF importance with L1-regularised coefficients.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81000" y="24193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2362200"/>
            <a:ext cx="8316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generative explanations</a:t>
            </a: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explicit reliability warnings prevent over-interpretation of weak attributions.</a:t>
            </a:r>
            <a:endParaRPr lang="en-US" sz="1125" dirty="0"/>
          </a:p>
        </p:txBody>
      </p:sp>
      <p:pic>
        <p:nvPicPr>
          <p:cNvPr id="12" name="Image 0" descr="/tmp/rasterized-gradient-f71dfd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19400"/>
            <a:ext cx="8382000" cy="6247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1490" y="3009900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Shift: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Explainability should be treated as a </a:t>
            </a:r>
            <a:r>
              <a:rPr lang="en-US" sz="1050" i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falsifiable scientific test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descriptive storytelling.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Practice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90600"/>
            <a:ext cx="2628900" cy="3962400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004268"/>
            <a:ext cx="1013966" cy="312390"/>
          </a:xfrm>
          <a:prstGeom prst="roundRect">
            <a:avLst>
              <a:gd name="adj" fmla="val 1219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080468"/>
            <a:ext cx="8010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430959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model-risk management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971800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pathway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ML system 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3512641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explanation quality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38500" y="990600"/>
            <a:ext cx="2628900" cy="3962400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9000" y="2004268"/>
            <a:ext cx="1047899" cy="312390"/>
          </a:xfrm>
          <a:prstGeom prst="roundRect">
            <a:avLst>
              <a:gd name="adj" fmla="val 12196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3300" y="2080468"/>
            <a:ext cx="8356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430959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Explicit reliability warnings on explanations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Challengeability: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Explanations become testable hypotheses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3512641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Unified workflow documents all decisions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0" y="990600"/>
            <a:ext cx="2667000" cy="396240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05550" y="2004268"/>
            <a:ext cx="1085850" cy="312390"/>
          </a:xfrm>
          <a:prstGeom prst="roundRect">
            <a:avLst>
              <a:gd name="adj" fmla="val 1219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19850" y="2080468"/>
            <a:ext cx="8743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5550" y="2430959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larger, real-world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credit portfolios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5550" y="2971800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stability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explanations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5550" y="3512641"/>
            <a:ext cx="22928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attribution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Baesens, B., et al. (2003). Benchmarking State-of-the-Art Classification Algorithms for Credit Scoring.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Operational Research Society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54(6), 627–635.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166813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Chawla, N. V., et al. (2002). SMOTE: Synthetic Minority Over-sampling Technique.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Artificial Intelligence Research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16, 321–357.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381125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Hand, D. J. (2009). Measuring Classifier Performance: A Coherent Alternative to the Area under the ROC Curve.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77(1), 103–123.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1595438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Hassija, V., et al. (2024). Interpreting Black-Box Models: A Review on Explainable Artificial Intelligence.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Computation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16(1), 45–74.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809750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Lessmann, S., et al. (2015). Benchmarking State-of-the-Art Classification Algorithms for Credit Scoring: An Update.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J. Operational Research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247(1), 124–136.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024062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Lundberg, S. M., &amp; Lee, S.-I. (2017). A Unified Approach to Interpreting Model Predictions.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30, 4765–4774.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238375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Ribeiro, M. T., et al. (2016). "Why Should I Trust You?": Explaining the Predictions of Any Classifier.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SIGKDD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1135–1144.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452688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D., et al. (2020). Fooling LIME and SHAP: Adversarial Attacks on Post-hoc Explanation Methods.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AAAI/ACM AIES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180–186.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667000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L., et al. (2025). A Two-Stage Interpretable Model to Explain Classifier in Credit Risk Prediction.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Forecasting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881313"/>
            <a:ext cx="8549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Zeng, G., et al. (2024). Ensemble Learning with Feature Optimization for Credit Risk Assessment. </a:t>
            </a: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Square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[Preprint].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97180" y="3286125"/>
            <a:ext cx="8549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7180" y="356413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Office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Predictive and Generative AI for Explainable Credit Risk</dc:title>
  <dc:subject>PptxGenJS Presentation</dc:subject>
  <dc:creator>Research Presentation</dc:creator>
  <cp:lastModifiedBy>Ravi Jain_7A</cp:lastModifiedBy>
  <cp:revision>2</cp:revision>
  <dcterms:created xsi:type="dcterms:W3CDTF">2026-01-19T16:20:13Z</dcterms:created>
  <dcterms:modified xsi:type="dcterms:W3CDTF">2026-01-19T16:27:06Z</dcterms:modified>
</cp:coreProperties>
</file>